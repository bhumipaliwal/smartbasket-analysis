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5911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panel. Introduce the project title SmartBasket Analysis, a Data Analysis and Visualization project comparing four major Indian e-grocery platforms. State your name, department and guide, and mention the scale of the dataset: over 39,000 product listings.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blends purpose, business need and expected outcome: we want to give shoppers a clear, evidence-based picture of how BigBasket, Blinkit, JioMart and Zepto really compare on price and value.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pricing and discount data across grocery apps is fragmented and noisy, so shoppers and analysts alike lack a trustworthy, unified way to compare real value across platforms.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anchor the work: clean and unify a messy multi-platform dataset, analyze pricing patterns, benchmark the four platforms against each other, and turn the findings into clear business insights.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combined dataset spans 39,426 rows and nine columns. BigBasket dominates the catalogue with nearly 70% of listings, while Blinkit contributes the smallest but often higher-value share.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columns describe each listing: five text fields for identity and classification, and four numeric fields — MRP, sale price, rating and discount percentage — that drive the entire pricing analysis.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analysis was built in Python using Pandas and NumPy for data wrangling, Matplotlib and Seaborn for visualization, inside a Jupyter notebook, working directly off CSV exports.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moves left to right: collect the raw data, clean it thoroughly, explore it through EDA, visualize the patterns, extract insights, and close with actionable conclusions.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tackled seven issues: missing names, sub-categories, MRP and sale price were logically reconstructed rather than dropped, 214 duplicates were removed, and text encoding artifacts and a corrupted category label were fixed — resulting in a fully null-free dataset.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the IQR method, we found roughly three thousand outliers each in MRP and sale price. Rather than deleting them, we retained them since they reflect real premium products like appliances, not data-entry errors — the boxplot shows this spread clearly by platform.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first five questions establish the baseline: how price and rating vary by platform. BigBasket carries the broadest catalogue and price range, while Zepto is both the cheapest on average and the most consistently well-rated.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Correlation analysis reveals MRP and sale price move almost in lockstep, while discount percentage and customer rating are largely disconnected from price — deeper discounts don't necessarily mean cheaper products, and higher prices don't buy better ratings.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EDA block shows category-platform dominance patterns, identifies which categories have the widest pricing spread, and confirms that customer ratings across the dataset skew strongly positive.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Zooming into relationships: the pairwise grid on the left confirms MRP and sale price move together tightly, while discount and rating scatter loosely against every other variable — reinforcing that pricing, discounting and satisfaction are driven by largely independent forces.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 by side: BigBasket wins on scale and mid-range pricing, Blinkit sits at a premium with the deepest average discounts, JioMart is budget-friendly but lowest-rated, and Zepto combines the lowest average price with the highest customer satisfaction.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insights matter most for the business: Zepto delivers the best overall value, discount percentage is a poor proxy for cheapness, ratings don't move with price, and Beauty &amp; Hygiene is the single biggest revenue driver.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findings summarize the analysis — from BigBasket's catalogue dominance and the tight MRP-to-sale-price relationship, to Zepto's rating advantage and Blinkit's aggressive discounting.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recommendations follow directly from the data: invest in the highest-value categories, be more transparent about discount messaging, benchmark against Zepto's efficiency, and adopt platform-specific pricing strategies.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this analysis could evolve into an AI-driven recommendation engine, price prediction models, personalization layers, a live dashboard, and demand forecasting — moving from descriptive to predictive intelligence.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cleaning and exploring this multi-platform dataset shows that sales concentrate in a handful of categories, pricing is internally consistent, and customer satisfaction holds up regardless of price point. Thank the panel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4.png"/><Relationship Id="rId7"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44.png"/><Relationship Id="rId7"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7.png"/><Relationship Id="rId4" Type="http://schemas.openxmlformats.org/officeDocument/2006/relationships/image" Target="../media/image21.png"/><Relationship Id="rId9"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56.png"/><Relationship Id="rId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A45"/>
        </a:solidFill>
        <a:effectLst/>
      </p:bgPr>
    </p:bg>
    <p:spTree>
      <p:nvGrpSpPr>
        <p:cNvPr id="1" name=""/>
        <p:cNvGrpSpPr/>
        <p:nvPr/>
      </p:nvGrpSpPr>
      <p:grpSpPr>
        <a:xfrm>
          <a:off x="0" y="0"/>
          <a:ext cx="0" cy="0"/>
          <a:chOff x="0" y="0"/>
          <a:chExt cx="0" cy="0"/>
        </a:xfrm>
      </p:grpSpPr>
      <p:sp>
        <p:nvSpPr>
          <p:cNvPr id="2" name="Shape 0"/>
          <p:cNvSpPr/>
          <p:nvPr/>
        </p:nvSpPr>
        <p:spPr>
          <a:xfrm>
            <a:off x="9418320" y="-1463040"/>
            <a:ext cx="4754880" cy="4754880"/>
          </a:xfrm>
          <a:prstGeom prst="ellipse">
            <a:avLst/>
          </a:prstGeom>
          <a:solidFill>
            <a:srgbClr val="1E2761"/>
          </a:solidFill>
          <a:ln/>
        </p:spPr>
      </p:sp>
      <p:sp>
        <p:nvSpPr>
          <p:cNvPr id="3" name="Shape 1"/>
          <p:cNvSpPr/>
          <p:nvPr/>
        </p:nvSpPr>
        <p:spPr>
          <a:xfrm>
            <a:off x="-1463040" y="4754880"/>
            <a:ext cx="4023360" cy="4023360"/>
          </a:xfrm>
          <a:prstGeom prst="ellipse">
            <a:avLst/>
          </a:prstGeom>
          <a:solidFill>
            <a:srgbClr val="1E2761"/>
          </a:solidFill>
          <a:ln/>
        </p:spPr>
      </p:sp>
      <p:sp>
        <p:nvSpPr>
          <p:cNvPr id="4" name="Shape 2"/>
          <p:cNvSpPr/>
          <p:nvPr/>
        </p:nvSpPr>
        <p:spPr>
          <a:xfrm>
            <a:off x="10607040" y="4480560"/>
            <a:ext cx="2377440" cy="2377440"/>
          </a:xfrm>
          <a:prstGeom prst="ellipse">
            <a:avLst/>
          </a:prstGeom>
          <a:solidFill>
            <a:srgbClr val="7B2FF7">
              <a:alpha val="60000"/>
            </a:srgbClr>
          </a:solidFill>
          <a:ln/>
        </p:spPr>
      </p:sp>
      <p:sp>
        <p:nvSpPr>
          <p:cNvPr id="5" name="Shape 3"/>
          <p:cNvSpPr/>
          <p:nvPr/>
        </p:nvSpPr>
        <p:spPr>
          <a:xfrm>
            <a:off x="822960" y="685800"/>
            <a:ext cx="777240" cy="777240"/>
          </a:xfrm>
          <a:prstGeom prst="ellipse">
            <a:avLst/>
          </a:prstGeom>
          <a:solidFill>
            <a:srgbClr val="7B2FF7"/>
          </a:solidFill>
          <a:ln/>
        </p:spPr>
      </p:sp>
      <p:pic>
        <p:nvPicPr>
          <p:cNvPr id="6" name="Image 0" descr="/home/claude/proj/icons/cart.png"/>
          <p:cNvPicPr>
            <a:picLocks noChangeAspect="1"/>
          </p:cNvPicPr>
          <p:nvPr/>
        </p:nvPicPr>
        <p:blipFill>
          <a:blip r:embed="rId3"/>
          <a:stretch>
            <a:fillRect/>
          </a:stretch>
        </p:blipFill>
        <p:spPr>
          <a:xfrm>
            <a:off x="939546" y="802386"/>
            <a:ext cx="544068" cy="544068"/>
          </a:xfrm>
          <a:prstGeom prst="rect">
            <a:avLst/>
          </a:prstGeom>
        </p:spPr>
      </p:pic>
      <p:sp>
        <p:nvSpPr>
          <p:cNvPr id="7" name="Text 4"/>
          <p:cNvSpPr/>
          <p:nvPr/>
        </p:nvSpPr>
        <p:spPr>
          <a:xfrm>
            <a:off x="822960" y="1737360"/>
            <a:ext cx="9144000" cy="365760"/>
          </a:xfrm>
          <a:prstGeom prst="rect">
            <a:avLst/>
          </a:prstGeom>
          <a:noFill/>
          <a:ln/>
        </p:spPr>
        <p:txBody>
          <a:bodyPr wrap="square" rtlCol="0" anchor="ctr"/>
          <a:lstStyle/>
          <a:p>
            <a:pPr marL="0" indent="0">
              <a:buNone/>
            </a:pPr>
            <a:r>
              <a:rPr lang="en-US" sz="1400" b="1" kern="0" spc="300" dirty="0">
                <a:solidFill>
                  <a:srgbClr val="17C3E6"/>
                </a:solidFill>
                <a:latin typeface="Calibri" pitchFamily="34" charset="0"/>
                <a:ea typeface="Calibri" pitchFamily="34" charset="-122"/>
                <a:cs typeface="Calibri" pitchFamily="34" charset="-120"/>
              </a:rPr>
              <a:t>DATA ANALYSIS  &amp;  VISUALIZATION  PROJECT</a:t>
            </a:r>
            <a:endParaRPr lang="en-US" sz="1400" dirty="0"/>
          </a:p>
        </p:txBody>
      </p:sp>
      <p:sp>
        <p:nvSpPr>
          <p:cNvPr id="8" name="Text 5"/>
          <p:cNvSpPr/>
          <p:nvPr/>
        </p:nvSpPr>
        <p:spPr>
          <a:xfrm>
            <a:off x="777240" y="2148840"/>
            <a:ext cx="10515600" cy="137160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SMART BASKET ANALYSIS</a:t>
            </a:r>
            <a:endParaRPr lang="en-US" sz="4800" dirty="0"/>
          </a:p>
        </p:txBody>
      </p:sp>
      <p:sp>
        <p:nvSpPr>
          <p:cNvPr id="9" name="Text 6"/>
          <p:cNvSpPr/>
          <p:nvPr/>
        </p:nvSpPr>
        <p:spPr>
          <a:xfrm>
            <a:off x="822960" y="3246120"/>
            <a:ext cx="9601200" cy="548640"/>
          </a:xfrm>
          <a:prstGeom prst="rect">
            <a:avLst/>
          </a:prstGeom>
          <a:noFill/>
          <a:ln/>
        </p:spPr>
        <p:txBody>
          <a:bodyPr wrap="square" rtlCol="0" anchor="ctr"/>
          <a:lstStyle/>
          <a:p>
            <a:pPr marL="0" indent="0">
              <a:buNone/>
            </a:pPr>
            <a:r>
              <a:rPr lang="en-US" sz="1700" i="1" dirty="0">
                <a:solidFill>
                  <a:srgbClr val="CADCFC"/>
                </a:solidFill>
                <a:latin typeface="Calibri" pitchFamily="34" charset="0"/>
                <a:ea typeface="Calibri" pitchFamily="34" charset="-122"/>
                <a:cs typeface="Calibri" pitchFamily="34" charset="-120"/>
              </a:rPr>
              <a:t>Decoding Pricing, Discounts &amp; Value Across India's E-Grocery Platforms</a:t>
            </a:r>
            <a:endParaRPr lang="en-US" sz="1700" dirty="0"/>
          </a:p>
        </p:txBody>
      </p:sp>
      <p:sp>
        <p:nvSpPr>
          <p:cNvPr id="10" name="Shape 7"/>
          <p:cNvSpPr/>
          <p:nvPr/>
        </p:nvSpPr>
        <p:spPr>
          <a:xfrm>
            <a:off x="822960" y="3977640"/>
            <a:ext cx="3108960" cy="0"/>
          </a:xfrm>
          <a:prstGeom prst="line">
            <a:avLst/>
          </a:prstGeom>
          <a:noFill/>
          <a:ln w="31750">
            <a:solidFill>
              <a:srgbClr val="12B5A6"/>
            </a:solidFill>
            <a:prstDash val="solid"/>
          </a:ln>
        </p:spPr>
      </p:sp>
      <p:sp>
        <p:nvSpPr>
          <p:cNvPr id="11" name="Text 8"/>
          <p:cNvSpPr/>
          <p:nvPr/>
        </p:nvSpPr>
        <p:spPr>
          <a:xfrm>
            <a:off x="822960" y="4434840"/>
            <a:ext cx="2743200" cy="274320"/>
          </a:xfrm>
          <a:prstGeom prst="rect">
            <a:avLst/>
          </a:prstGeom>
          <a:noFill/>
          <a:ln/>
        </p:spPr>
        <p:txBody>
          <a:bodyPr wrap="square" rtlCol="0" anchor="ctr"/>
          <a:lstStyle/>
          <a:p>
            <a:pPr marL="0" indent="0">
              <a:buNone/>
            </a:pPr>
            <a:r>
              <a:rPr lang="en-US" sz="1050" b="1" kern="0" spc="150" dirty="0">
                <a:solidFill>
                  <a:srgbClr val="8892B0"/>
                </a:solidFill>
                <a:latin typeface="Calibri" pitchFamily="34" charset="0"/>
                <a:ea typeface="Calibri" pitchFamily="34" charset="-122"/>
                <a:cs typeface="Calibri" pitchFamily="34" charset="-120"/>
              </a:rPr>
              <a:t>STUDENT</a:t>
            </a:r>
            <a:endParaRPr lang="en-US" sz="1050" dirty="0"/>
          </a:p>
        </p:txBody>
      </p:sp>
      <p:sp>
        <p:nvSpPr>
          <p:cNvPr id="12" name="Text 9"/>
          <p:cNvSpPr/>
          <p:nvPr/>
        </p:nvSpPr>
        <p:spPr>
          <a:xfrm>
            <a:off x="822960" y="4672584"/>
            <a:ext cx="4572000" cy="365760"/>
          </a:xfrm>
          <a:prstGeom prst="rect">
            <a:avLst/>
          </a:prstGeom>
          <a:noFill/>
          <a:ln/>
        </p:spPr>
        <p:txBody>
          <a:bodyPr wrap="square" rtlCol="0" anchor="ctr"/>
          <a:lstStyle/>
          <a:p>
            <a:pPr marL="0" indent="0">
              <a:buNone/>
            </a:pPr>
            <a:r>
              <a:rPr lang="en-US" sz="1500" dirty="0">
                <a:solidFill>
                  <a:schemeClr val="bg1"/>
                </a:solidFill>
              </a:rPr>
              <a:t>Bhumi Paliwal</a:t>
            </a:r>
          </a:p>
        </p:txBody>
      </p:sp>
      <p:sp>
        <p:nvSpPr>
          <p:cNvPr id="13" name="Text 10"/>
          <p:cNvSpPr/>
          <p:nvPr/>
        </p:nvSpPr>
        <p:spPr>
          <a:xfrm>
            <a:off x="5943600" y="4434840"/>
            <a:ext cx="2743200" cy="274320"/>
          </a:xfrm>
          <a:prstGeom prst="rect">
            <a:avLst/>
          </a:prstGeom>
          <a:noFill/>
          <a:ln/>
        </p:spPr>
        <p:txBody>
          <a:bodyPr wrap="square" rtlCol="0" anchor="ctr"/>
          <a:lstStyle/>
          <a:p>
            <a:pPr marL="0" indent="0">
              <a:buNone/>
            </a:pPr>
            <a:r>
              <a:rPr lang="en-US" sz="1050" b="1" kern="0" spc="150">
                <a:solidFill>
                  <a:srgbClr val="8892B0"/>
                </a:solidFill>
                <a:latin typeface="Calibri" pitchFamily="34" charset="0"/>
                <a:ea typeface="Calibri" pitchFamily="34" charset="-122"/>
                <a:cs typeface="Calibri" pitchFamily="34" charset="-120"/>
              </a:rPr>
              <a:t>BATCH NAME</a:t>
            </a:r>
          </a:p>
        </p:txBody>
      </p:sp>
      <p:sp>
        <p:nvSpPr>
          <p:cNvPr id="14" name="Text 11"/>
          <p:cNvSpPr/>
          <p:nvPr/>
        </p:nvSpPr>
        <p:spPr>
          <a:xfrm>
            <a:off x="5943600" y="4672584"/>
            <a:ext cx="4572000" cy="36576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TEC DS-01</a:t>
            </a:r>
            <a:endParaRPr lang="en-US" sz="1500" dirty="0"/>
          </a:p>
        </p:txBody>
      </p:sp>
      <p:sp>
        <p:nvSpPr>
          <p:cNvPr id="15" name="Text 12"/>
          <p:cNvSpPr/>
          <p:nvPr/>
        </p:nvSpPr>
        <p:spPr>
          <a:xfrm>
            <a:off x="822960" y="5212080"/>
            <a:ext cx="2743200" cy="274320"/>
          </a:xfrm>
          <a:prstGeom prst="rect">
            <a:avLst/>
          </a:prstGeom>
          <a:noFill/>
          <a:ln/>
        </p:spPr>
        <p:txBody>
          <a:bodyPr wrap="square" rtlCol="0" anchor="ctr"/>
          <a:lstStyle/>
          <a:p>
            <a:pPr marL="0" indent="0">
              <a:buNone/>
            </a:pPr>
            <a:r>
              <a:rPr lang="en-US" sz="1050" b="1" kern="0" spc="150" dirty="0">
                <a:solidFill>
                  <a:srgbClr val="8892B0"/>
                </a:solidFill>
                <a:latin typeface="Calibri" pitchFamily="34" charset="0"/>
                <a:ea typeface="Calibri" pitchFamily="34" charset="-122"/>
                <a:cs typeface="Calibri" pitchFamily="34" charset="-120"/>
              </a:rPr>
              <a:t>REGISTRATION NUMBER</a:t>
            </a:r>
            <a:endParaRPr lang="en-US" sz="1050" dirty="0"/>
          </a:p>
        </p:txBody>
      </p:sp>
      <p:sp>
        <p:nvSpPr>
          <p:cNvPr id="16" name="Text 13"/>
          <p:cNvSpPr/>
          <p:nvPr/>
        </p:nvSpPr>
        <p:spPr>
          <a:xfrm>
            <a:off x="822960" y="5449824"/>
            <a:ext cx="4572000" cy="365760"/>
          </a:xfrm>
          <a:prstGeom prst="rect">
            <a:avLst/>
          </a:prstGeom>
          <a:noFill/>
          <a:ln/>
        </p:spPr>
        <p:txBody>
          <a:bodyPr wrap="square" rtlCol="0" anchor="ctr"/>
          <a:lstStyle/>
          <a:p>
            <a:r>
              <a:rPr lang="en-US" sz="1500" dirty="0">
                <a:solidFill>
                  <a:schemeClr val="bg1"/>
                </a:solidFill>
              </a:rPr>
              <a:t>CL20260703011712020</a:t>
            </a:r>
          </a:p>
        </p:txBody>
      </p:sp>
      <p:sp>
        <p:nvSpPr>
          <p:cNvPr id="17" name="Text 14"/>
          <p:cNvSpPr/>
          <p:nvPr/>
        </p:nvSpPr>
        <p:spPr>
          <a:xfrm>
            <a:off x="5943600" y="5212080"/>
            <a:ext cx="2743200" cy="274320"/>
          </a:xfrm>
          <a:prstGeom prst="rect">
            <a:avLst/>
          </a:prstGeom>
          <a:noFill/>
          <a:ln/>
        </p:spPr>
        <p:txBody>
          <a:bodyPr wrap="square" rtlCol="0" anchor="ctr"/>
          <a:lstStyle/>
          <a:p>
            <a:pPr marL="0" indent="0">
              <a:buNone/>
            </a:pPr>
            <a:r>
              <a:rPr lang="en-US" sz="1050" b="1" kern="0" spc="150" dirty="0">
                <a:solidFill>
                  <a:srgbClr val="8892B0"/>
                </a:solidFill>
                <a:latin typeface="Calibri" pitchFamily="34" charset="0"/>
                <a:ea typeface="Calibri" pitchFamily="34" charset="-122"/>
                <a:cs typeface="Calibri" pitchFamily="34" charset="-120"/>
              </a:rPr>
              <a:t>DATE</a:t>
            </a:r>
            <a:endParaRPr lang="en-US" sz="1050" dirty="0"/>
          </a:p>
        </p:txBody>
      </p:sp>
      <p:sp>
        <p:nvSpPr>
          <p:cNvPr id="18" name="Text 15"/>
          <p:cNvSpPr/>
          <p:nvPr/>
        </p:nvSpPr>
        <p:spPr>
          <a:xfrm>
            <a:off x="5943600" y="5449824"/>
            <a:ext cx="4572000" cy="36576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30 Aug 2026</a:t>
            </a:r>
            <a:endParaRPr lang="en-US" sz="1500" dirty="0"/>
          </a:p>
        </p:txBody>
      </p:sp>
      <p:sp>
        <p:nvSpPr>
          <p:cNvPr id="19" name="Text 16"/>
          <p:cNvSpPr/>
          <p:nvPr/>
        </p:nvSpPr>
        <p:spPr>
          <a:xfrm>
            <a:off x="822960" y="6263640"/>
            <a:ext cx="7315200" cy="320040"/>
          </a:xfrm>
          <a:prstGeom prst="rect">
            <a:avLst/>
          </a:prstGeom>
          <a:noFill/>
          <a:ln/>
        </p:spPr>
        <p:txBody>
          <a:bodyPr wrap="square" rtlCol="0" anchor="ctr"/>
          <a:lstStyle/>
          <a:p>
            <a:pPr marL="0" indent="0">
              <a:buNone/>
            </a:pPr>
            <a:r>
              <a:rPr lang="en-US" sz="1200" b="1" dirty="0">
                <a:solidFill>
                  <a:srgbClr val="17C3E6"/>
                </a:solidFill>
                <a:latin typeface="Calibri" pitchFamily="34" charset="0"/>
                <a:ea typeface="Calibri" pitchFamily="34" charset="-122"/>
                <a:cs typeface="Calibri" pitchFamily="34" charset="-120"/>
              </a:rPr>
              <a:t>39,426 Listings   •   4 Platforms   •   28 Categories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50" b="1" kern="0" spc="200" dirty="0">
                <a:solidFill>
                  <a:srgbClr val="12B5A6"/>
                </a:solidFill>
                <a:latin typeface="Calibri" pitchFamily="34" charset="0"/>
                <a:ea typeface="Calibri" pitchFamily="34" charset="-122"/>
                <a:cs typeface="Calibri" pitchFamily="34" charset="-120"/>
              </a:rPr>
              <a:t>SLIDE 02</a:t>
            </a:r>
            <a:endParaRPr lang="en-US" sz="125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51A45"/>
                </a:solidFill>
                <a:latin typeface="Cambria" pitchFamily="34" charset="0"/>
                <a:ea typeface="Cambria" pitchFamily="34" charset="-122"/>
                <a:cs typeface="Cambria" pitchFamily="34" charset="-120"/>
              </a:rPr>
              <a:t>Project Overview</a:t>
            </a:r>
            <a:endParaRPr lang="en-US" sz="3000" dirty="0"/>
          </a:p>
        </p:txBody>
      </p:sp>
      <p:sp>
        <p:nvSpPr>
          <p:cNvPr id="4" name="Shape 2"/>
          <p:cNvSpPr/>
          <p:nvPr/>
        </p:nvSpPr>
        <p:spPr>
          <a:xfrm>
            <a:off x="548640" y="1691640"/>
            <a:ext cx="3520440" cy="4206240"/>
          </a:xfrm>
          <a:prstGeom prst="roundRect">
            <a:avLst>
              <a:gd name="adj" fmla="val 3117"/>
            </a:avLst>
          </a:prstGeom>
          <a:solidFill>
            <a:srgbClr val="F4F6FB"/>
          </a:solidFill>
          <a:ln/>
          <a:effectLst>
            <a:outerShdw blurRad="101600" dist="38100" dir="5400000" algn="bl" rotWithShape="0">
              <a:srgbClr val="9AA5C0">
                <a:alpha val="25000"/>
              </a:srgbClr>
            </a:outerShdw>
          </a:effectLst>
        </p:spPr>
      </p:sp>
      <p:sp>
        <p:nvSpPr>
          <p:cNvPr id="5" name="Shape 3"/>
          <p:cNvSpPr/>
          <p:nvPr/>
        </p:nvSpPr>
        <p:spPr>
          <a:xfrm>
            <a:off x="1897380" y="2103120"/>
            <a:ext cx="822960" cy="822960"/>
          </a:xfrm>
          <a:prstGeom prst="ellipse">
            <a:avLst/>
          </a:prstGeom>
          <a:solidFill>
            <a:srgbClr val="12B5A6"/>
          </a:solidFill>
          <a:ln/>
        </p:spPr>
      </p:sp>
      <p:pic>
        <p:nvPicPr>
          <p:cNvPr id="6" name="Image 0" descr="/home/claude/proj/icons/bulb.png"/>
          <p:cNvPicPr>
            <a:picLocks noChangeAspect="1"/>
          </p:cNvPicPr>
          <p:nvPr/>
        </p:nvPicPr>
        <p:blipFill>
          <a:blip r:embed="rId3"/>
          <a:stretch>
            <a:fillRect/>
          </a:stretch>
        </p:blipFill>
        <p:spPr>
          <a:xfrm>
            <a:off x="2012594" y="2218334"/>
            <a:ext cx="592531" cy="592531"/>
          </a:xfrm>
          <a:prstGeom prst="rect">
            <a:avLst/>
          </a:prstGeom>
        </p:spPr>
      </p:pic>
      <p:sp>
        <p:nvSpPr>
          <p:cNvPr id="7" name="Text 4"/>
          <p:cNvSpPr/>
          <p:nvPr/>
        </p:nvSpPr>
        <p:spPr>
          <a:xfrm>
            <a:off x="777240" y="3154680"/>
            <a:ext cx="3063240" cy="411480"/>
          </a:xfrm>
          <a:prstGeom prst="rect">
            <a:avLst/>
          </a:prstGeom>
          <a:noFill/>
          <a:ln/>
        </p:spPr>
        <p:txBody>
          <a:bodyPr wrap="square" rtlCol="0" anchor="ctr"/>
          <a:lstStyle/>
          <a:p>
            <a:pPr marL="0" indent="0" algn="ctr">
              <a:buNone/>
            </a:pPr>
            <a:r>
              <a:rPr lang="en-US" sz="1800" b="1" dirty="0">
                <a:solidFill>
                  <a:srgbClr val="151A45"/>
                </a:solidFill>
                <a:latin typeface="Cambria" pitchFamily="34" charset="0"/>
                <a:ea typeface="Cambria" pitchFamily="34" charset="-122"/>
                <a:cs typeface="Cambria" pitchFamily="34" charset="-120"/>
              </a:rPr>
              <a:t>Purpose</a:t>
            </a:r>
            <a:endParaRPr lang="en-US" sz="1800" dirty="0"/>
          </a:p>
        </p:txBody>
      </p:sp>
      <p:sp>
        <p:nvSpPr>
          <p:cNvPr id="8" name="Text 5"/>
          <p:cNvSpPr/>
          <p:nvPr/>
        </p:nvSpPr>
        <p:spPr>
          <a:xfrm>
            <a:off x="868680" y="3657600"/>
            <a:ext cx="2880360" cy="2011680"/>
          </a:xfrm>
          <a:prstGeom prst="rect">
            <a:avLst/>
          </a:prstGeom>
          <a:noFill/>
          <a:ln/>
        </p:spPr>
        <p:txBody>
          <a:bodyPr wrap="square" rtlCol="0" anchor="ctr"/>
          <a:lstStyle/>
          <a:p>
            <a:pPr marL="0" indent="0" algn="ctr">
              <a:lnSpc>
                <a:spcPct val="125000"/>
              </a:lnSpc>
              <a:buNone/>
            </a:pPr>
            <a:r>
              <a:rPr lang="en-US" sz="1250" dirty="0">
                <a:solidFill>
                  <a:srgbClr val="3A4266"/>
                </a:solidFill>
                <a:latin typeface="Calibri" pitchFamily="34" charset="0"/>
                <a:ea typeface="Calibri" pitchFamily="34" charset="-122"/>
                <a:cs typeface="Calibri" pitchFamily="34" charset="-120"/>
              </a:rPr>
              <a:t>Combine and clean multi-platform grocery data to uncover pricing, discount and rating patterns that matter to everyday shoppers.</a:t>
            </a:r>
            <a:endParaRPr lang="en-US" sz="1250" dirty="0"/>
          </a:p>
        </p:txBody>
      </p:sp>
      <p:sp>
        <p:nvSpPr>
          <p:cNvPr id="9" name="Shape 6"/>
          <p:cNvSpPr/>
          <p:nvPr/>
        </p:nvSpPr>
        <p:spPr>
          <a:xfrm>
            <a:off x="4389120" y="1691640"/>
            <a:ext cx="3520440" cy="4206240"/>
          </a:xfrm>
          <a:prstGeom prst="roundRect">
            <a:avLst>
              <a:gd name="adj" fmla="val 3117"/>
            </a:avLst>
          </a:prstGeom>
          <a:solidFill>
            <a:srgbClr val="F4F6FB"/>
          </a:solidFill>
          <a:ln/>
          <a:effectLst>
            <a:outerShdw blurRad="101600" dist="38100" dir="5400000" algn="bl" rotWithShape="0">
              <a:srgbClr val="9AA5C0">
                <a:alpha val="25000"/>
              </a:srgbClr>
            </a:outerShdw>
          </a:effectLst>
        </p:spPr>
      </p:sp>
      <p:sp>
        <p:nvSpPr>
          <p:cNvPr id="10" name="Shape 7"/>
          <p:cNvSpPr/>
          <p:nvPr/>
        </p:nvSpPr>
        <p:spPr>
          <a:xfrm>
            <a:off x="5737860" y="2103120"/>
            <a:ext cx="822960" cy="822960"/>
          </a:xfrm>
          <a:prstGeom prst="ellipse">
            <a:avLst/>
          </a:prstGeom>
          <a:solidFill>
            <a:srgbClr val="FF7A33"/>
          </a:solidFill>
          <a:ln/>
        </p:spPr>
      </p:sp>
      <p:pic>
        <p:nvPicPr>
          <p:cNvPr id="11" name="Image 1" descr="/home/claude/proj/icons/target.png"/>
          <p:cNvPicPr>
            <a:picLocks noChangeAspect="1"/>
          </p:cNvPicPr>
          <p:nvPr/>
        </p:nvPicPr>
        <p:blipFill>
          <a:blip r:embed="rId4"/>
          <a:stretch>
            <a:fillRect/>
          </a:stretch>
        </p:blipFill>
        <p:spPr>
          <a:xfrm>
            <a:off x="5853074" y="2218334"/>
            <a:ext cx="592531" cy="592531"/>
          </a:xfrm>
          <a:prstGeom prst="rect">
            <a:avLst/>
          </a:prstGeom>
        </p:spPr>
      </p:pic>
      <p:sp>
        <p:nvSpPr>
          <p:cNvPr id="12" name="Text 8"/>
          <p:cNvSpPr/>
          <p:nvPr/>
        </p:nvSpPr>
        <p:spPr>
          <a:xfrm>
            <a:off x="4617720" y="3154680"/>
            <a:ext cx="3063240" cy="411480"/>
          </a:xfrm>
          <a:prstGeom prst="rect">
            <a:avLst/>
          </a:prstGeom>
          <a:noFill/>
          <a:ln/>
        </p:spPr>
        <p:txBody>
          <a:bodyPr wrap="square" rtlCol="0" anchor="ctr"/>
          <a:lstStyle/>
          <a:p>
            <a:pPr marL="0" indent="0" algn="ctr">
              <a:buNone/>
            </a:pPr>
            <a:r>
              <a:rPr lang="en-US" sz="1800" b="1" dirty="0">
                <a:solidFill>
                  <a:srgbClr val="151A45"/>
                </a:solidFill>
                <a:latin typeface="Cambria" pitchFamily="34" charset="0"/>
                <a:ea typeface="Cambria" pitchFamily="34" charset="-122"/>
                <a:cs typeface="Cambria" pitchFamily="34" charset="-120"/>
              </a:rPr>
              <a:t>Business Need</a:t>
            </a:r>
            <a:endParaRPr lang="en-US" sz="1800" dirty="0"/>
          </a:p>
        </p:txBody>
      </p:sp>
      <p:sp>
        <p:nvSpPr>
          <p:cNvPr id="13" name="Text 9"/>
          <p:cNvSpPr/>
          <p:nvPr/>
        </p:nvSpPr>
        <p:spPr>
          <a:xfrm>
            <a:off x="4709160" y="3657600"/>
            <a:ext cx="2880360" cy="2011680"/>
          </a:xfrm>
          <a:prstGeom prst="rect">
            <a:avLst/>
          </a:prstGeom>
          <a:noFill/>
          <a:ln/>
        </p:spPr>
        <p:txBody>
          <a:bodyPr wrap="square" rtlCol="0" anchor="ctr"/>
          <a:lstStyle/>
          <a:p>
            <a:pPr marL="0" indent="0" algn="ctr">
              <a:lnSpc>
                <a:spcPct val="125000"/>
              </a:lnSpc>
              <a:buNone/>
            </a:pPr>
            <a:r>
              <a:rPr lang="en-US" sz="1250" dirty="0">
                <a:solidFill>
                  <a:srgbClr val="3A4266"/>
                </a:solidFill>
                <a:latin typeface="Calibri" pitchFamily="34" charset="0"/>
                <a:ea typeface="Calibri" pitchFamily="34" charset="-122"/>
                <a:cs typeface="Calibri" pitchFamily="34" charset="-120"/>
              </a:rPr>
              <a:t>Indian consumers juggle BigBasket, Blinkit, JioMart and Zepto with no single view of who is genuinely cheaper or more reliable.</a:t>
            </a:r>
            <a:endParaRPr lang="en-US" sz="1250" dirty="0"/>
          </a:p>
        </p:txBody>
      </p:sp>
      <p:sp>
        <p:nvSpPr>
          <p:cNvPr id="14" name="Shape 10"/>
          <p:cNvSpPr/>
          <p:nvPr/>
        </p:nvSpPr>
        <p:spPr>
          <a:xfrm>
            <a:off x="8229600" y="1691640"/>
            <a:ext cx="3520440" cy="4206240"/>
          </a:xfrm>
          <a:prstGeom prst="roundRect">
            <a:avLst>
              <a:gd name="adj" fmla="val 3117"/>
            </a:avLst>
          </a:prstGeom>
          <a:solidFill>
            <a:srgbClr val="F4F6FB"/>
          </a:solidFill>
          <a:ln/>
          <a:effectLst>
            <a:outerShdw blurRad="101600" dist="38100" dir="5400000" algn="bl" rotWithShape="0">
              <a:srgbClr val="9AA5C0">
                <a:alpha val="25000"/>
              </a:srgbClr>
            </a:outerShdw>
          </a:effectLst>
        </p:spPr>
      </p:sp>
      <p:sp>
        <p:nvSpPr>
          <p:cNvPr id="15" name="Shape 11"/>
          <p:cNvSpPr/>
          <p:nvPr/>
        </p:nvSpPr>
        <p:spPr>
          <a:xfrm>
            <a:off x="9578340" y="2103120"/>
            <a:ext cx="822960" cy="822960"/>
          </a:xfrm>
          <a:prstGeom prst="ellipse">
            <a:avLst/>
          </a:prstGeom>
          <a:solidFill>
            <a:srgbClr val="7B2FF7"/>
          </a:solidFill>
          <a:ln/>
        </p:spPr>
      </p:sp>
      <p:pic>
        <p:nvPicPr>
          <p:cNvPr id="16" name="Image 2" descr="/home/claude/proj/icons/chartBar.png"/>
          <p:cNvPicPr>
            <a:picLocks noChangeAspect="1"/>
          </p:cNvPicPr>
          <p:nvPr/>
        </p:nvPicPr>
        <p:blipFill>
          <a:blip r:embed="rId5"/>
          <a:stretch>
            <a:fillRect/>
          </a:stretch>
        </p:blipFill>
        <p:spPr>
          <a:xfrm>
            <a:off x="9693554" y="2218334"/>
            <a:ext cx="592531" cy="592531"/>
          </a:xfrm>
          <a:prstGeom prst="rect">
            <a:avLst/>
          </a:prstGeom>
        </p:spPr>
      </p:pic>
      <p:sp>
        <p:nvSpPr>
          <p:cNvPr id="17" name="Text 12"/>
          <p:cNvSpPr/>
          <p:nvPr/>
        </p:nvSpPr>
        <p:spPr>
          <a:xfrm>
            <a:off x="8458200" y="3154680"/>
            <a:ext cx="3063240" cy="411480"/>
          </a:xfrm>
          <a:prstGeom prst="rect">
            <a:avLst/>
          </a:prstGeom>
          <a:noFill/>
          <a:ln/>
        </p:spPr>
        <p:txBody>
          <a:bodyPr wrap="square" rtlCol="0" anchor="ctr"/>
          <a:lstStyle/>
          <a:p>
            <a:pPr marL="0" indent="0" algn="ctr">
              <a:buNone/>
            </a:pPr>
            <a:r>
              <a:rPr lang="en-US" sz="1800" b="1" dirty="0">
                <a:solidFill>
                  <a:srgbClr val="151A45"/>
                </a:solidFill>
                <a:latin typeface="Cambria" pitchFamily="34" charset="0"/>
                <a:ea typeface="Cambria" pitchFamily="34" charset="-122"/>
                <a:cs typeface="Cambria" pitchFamily="34" charset="-120"/>
              </a:rPr>
              <a:t>Expected Outcome</a:t>
            </a:r>
            <a:endParaRPr lang="en-US" sz="1800" dirty="0"/>
          </a:p>
        </p:txBody>
      </p:sp>
      <p:sp>
        <p:nvSpPr>
          <p:cNvPr id="18" name="Text 13"/>
          <p:cNvSpPr/>
          <p:nvPr/>
        </p:nvSpPr>
        <p:spPr>
          <a:xfrm>
            <a:off x="8549640" y="3657600"/>
            <a:ext cx="2880360" cy="2011680"/>
          </a:xfrm>
          <a:prstGeom prst="rect">
            <a:avLst/>
          </a:prstGeom>
          <a:noFill/>
          <a:ln/>
        </p:spPr>
        <p:txBody>
          <a:bodyPr wrap="square" rtlCol="0" anchor="ctr"/>
          <a:lstStyle/>
          <a:p>
            <a:pPr marL="0" indent="0" algn="ctr">
              <a:lnSpc>
                <a:spcPct val="125000"/>
              </a:lnSpc>
              <a:buNone/>
            </a:pPr>
            <a:r>
              <a:rPr lang="en-US" sz="1250" dirty="0">
                <a:solidFill>
                  <a:srgbClr val="3A4266"/>
                </a:solidFill>
                <a:latin typeface="Calibri" pitchFamily="34" charset="0"/>
                <a:ea typeface="Calibri" pitchFamily="34" charset="-122"/>
                <a:cs typeface="Calibri" pitchFamily="34" charset="-120"/>
              </a:rPr>
              <a:t>A data-backed comparison of price positioning, discount behaviour and satisfaction that guides smarter household spending.</a:t>
            </a:r>
            <a:endParaRPr lang="en-US" sz="1250" dirty="0"/>
          </a:p>
        </p:txBody>
      </p:sp>
      <p:sp>
        <p:nvSpPr>
          <p:cNvPr id="19" name="Text 14"/>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892B0"/>
                </a:solidFill>
                <a:latin typeface="Calibri" pitchFamily="34" charset="0"/>
                <a:ea typeface="Calibri" pitchFamily="34" charset="-122"/>
                <a:cs typeface="Calibri" pitchFamily="34" charset="-120"/>
              </a:rPr>
              <a:t>01</a:t>
            </a:r>
            <a:endParaRPr lang="en-US" sz="900" dirty="0"/>
          </a:p>
        </p:txBody>
      </p:sp>
      <p:sp>
        <p:nvSpPr>
          <p:cNvPr id="20" name="Text 1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SmartBasket Analysis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1A45"/>
        </a:solidFill>
        <a:effectLst/>
      </p:bgPr>
    </p:bg>
    <p:spTree>
      <p:nvGrpSpPr>
        <p:cNvPr id="1" name=""/>
        <p:cNvGrpSpPr/>
        <p:nvPr/>
      </p:nvGrpSpPr>
      <p:grpSpPr>
        <a:xfrm>
          <a:off x="0" y="0"/>
          <a:ext cx="0" cy="0"/>
          <a:chOff x="0" y="0"/>
          <a:chExt cx="0" cy="0"/>
        </a:xfrm>
      </p:grpSpPr>
      <p:sp>
        <p:nvSpPr>
          <p:cNvPr id="2" name="Shape 0"/>
          <p:cNvSpPr/>
          <p:nvPr/>
        </p:nvSpPr>
        <p:spPr>
          <a:xfrm>
            <a:off x="8961120" y="-1828800"/>
            <a:ext cx="5486400" cy="5486400"/>
          </a:xfrm>
          <a:prstGeom prst="ellipse">
            <a:avLst/>
          </a:prstGeom>
          <a:solidFill>
            <a:srgbClr val="1E2761"/>
          </a:solidFill>
          <a:ln/>
        </p:spPr>
      </p:sp>
      <p:sp>
        <p:nvSpPr>
          <p:cNvPr id="3" name="Text 1"/>
          <p:cNvSpPr/>
          <p:nvPr/>
        </p:nvSpPr>
        <p:spPr>
          <a:xfrm>
            <a:off x="548640" y="384048"/>
            <a:ext cx="5486400" cy="320040"/>
          </a:xfrm>
          <a:prstGeom prst="rect">
            <a:avLst/>
          </a:prstGeom>
          <a:noFill/>
          <a:ln/>
        </p:spPr>
        <p:txBody>
          <a:bodyPr wrap="square" rtlCol="0" anchor="ctr"/>
          <a:lstStyle/>
          <a:p>
            <a:pPr marL="0" indent="0">
              <a:buNone/>
            </a:pPr>
            <a:r>
              <a:rPr lang="en-US" sz="1250" b="1" kern="0" spc="200" dirty="0">
                <a:solidFill>
                  <a:srgbClr val="17C3E6"/>
                </a:solidFill>
                <a:latin typeface="Calibri" pitchFamily="34" charset="0"/>
                <a:ea typeface="Calibri" pitchFamily="34" charset="-122"/>
                <a:cs typeface="Calibri" pitchFamily="34" charset="-120"/>
              </a:rPr>
              <a:t>SLIDE 03</a:t>
            </a:r>
            <a:endParaRPr lang="en-US" sz="1250" dirty="0"/>
          </a:p>
        </p:txBody>
      </p:sp>
      <p:sp>
        <p:nvSpPr>
          <p:cNvPr id="4" name="Text 2"/>
          <p:cNvSpPr/>
          <p:nvPr/>
        </p:nvSpPr>
        <p:spPr>
          <a:xfrm>
            <a:off x="548640" y="658368"/>
            <a:ext cx="1005840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Problem Statement</a:t>
            </a:r>
            <a:endParaRPr lang="en-US" sz="3000" dirty="0"/>
          </a:p>
        </p:txBody>
      </p:sp>
      <p:sp>
        <p:nvSpPr>
          <p:cNvPr id="5" name="Shape 3"/>
          <p:cNvSpPr/>
          <p:nvPr/>
        </p:nvSpPr>
        <p:spPr>
          <a:xfrm>
            <a:off x="548640" y="1691640"/>
            <a:ext cx="11064240" cy="4297680"/>
          </a:xfrm>
          <a:prstGeom prst="roundRect">
            <a:avLst>
              <a:gd name="adj" fmla="val 2553"/>
            </a:avLst>
          </a:prstGeom>
          <a:solidFill>
            <a:srgbClr val="1E2761"/>
          </a:solidFill>
          <a:ln/>
        </p:spPr>
      </p:sp>
      <p:sp>
        <p:nvSpPr>
          <p:cNvPr id="6" name="Shape 4"/>
          <p:cNvSpPr/>
          <p:nvPr/>
        </p:nvSpPr>
        <p:spPr>
          <a:xfrm>
            <a:off x="868680" y="1965960"/>
            <a:ext cx="731520" cy="731520"/>
          </a:xfrm>
          <a:prstGeom prst="ellipse">
            <a:avLst/>
          </a:prstGeom>
          <a:solidFill>
            <a:srgbClr val="FF7A33"/>
          </a:solidFill>
          <a:ln/>
        </p:spPr>
      </p:sp>
      <p:pic>
        <p:nvPicPr>
          <p:cNvPr id="7" name="Image 0" descr="/home/claude/proj/icons/question.png"/>
          <p:cNvPicPr>
            <a:picLocks noChangeAspect="1"/>
          </p:cNvPicPr>
          <p:nvPr/>
        </p:nvPicPr>
        <p:blipFill>
          <a:blip r:embed="rId3"/>
          <a:stretch>
            <a:fillRect/>
          </a:stretch>
        </p:blipFill>
        <p:spPr>
          <a:xfrm>
            <a:off x="971093" y="2068373"/>
            <a:ext cx="526694" cy="526694"/>
          </a:xfrm>
          <a:prstGeom prst="rect">
            <a:avLst/>
          </a:prstGeom>
        </p:spPr>
      </p:pic>
      <p:sp>
        <p:nvSpPr>
          <p:cNvPr id="8" name="Text 5"/>
          <p:cNvSpPr/>
          <p:nvPr/>
        </p:nvSpPr>
        <p:spPr>
          <a:xfrm>
            <a:off x="1828800" y="1920240"/>
            <a:ext cx="9418320" cy="1188720"/>
          </a:xfrm>
          <a:prstGeom prst="rect">
            <a:avLst/>
          </a:prstGeom>
          <a:noFill/>
          <a:ln/>
        </p:spPr>
        <p:txBody>
          <a:bodyPr wrap="square" rtlCol="0" anchor="ctr"/>
          <a:lstStyle/>
          <a:p>
            <a:pPr marL="0" indent="0">
              <a:lnSpc>
                <a:spcPct val="130000"/>
              </a:lnSpc>
              <a:buNone/>
            </a:pPr>
            <a:r>
              <a:rPr lang="en-US" sz="1650" dirty="0">
                <a:solidFill>
                  <a:srgbClr val="FFFFFF"/>
                </a:solidFill>
                <a:latin typeface="Calibri" pitchFamily="34" charset="0"/>
                <a:ea typeface="Calibri" pitchFamily="34" charset="-122"/>
                <a:cs typeface="Calibri" pitchFamily="34" charset="-120"/>
              </a:rPr>
              <a:t>Grocery shoppers across BigBasket, Blinkit, JioMart and Zepto face fragmented pricing, inconsistent discounting, and no unified way to judge real value — leading to overspending and platform mistrust.</a:t>
            </a:r>
            <a:endParaRPr lang="en-US" sz="1650" dirty="0"/>
          </a:p>
        </p:txBody>
      </p:sp>
      <p:sp>
        <p:nvSpPr>
          <p:cNvPr id="9" name="Shape 6"/>
          <p:cNvSpPr/>
          <p:nvPr/>
        </p:nvSpPr>
        <p:spPr>
          <a:xfrm>
            <a:off x="868680" y="3246120"/>
            <a:ext cx="10424160" cy="0"/>
          </a:xfrm>
          <a:prstGeom prst="line">
            <a:avLst/>
          </a:prstGeom>
          <a:noFill/>
          <a:ln w="12700">
            <a:solidFill>
              <a:srgbClr val="2E3878"/>
            </a:solidFill>
            <a:prstDash val="solid"/>
          </a:ln>
        </p:spPr>
      </p:sp>
      <p:sp>
        <p:nvSpPr>
          <p:cNvPr id="10" name="Shape 7"/>
          <p:cNvSpPr/>
          <p:nvPr/>
        </p:nvSpPr>
        <p:spPr>
          <a:xfrm>
            <a:off x="868680" y="3547872"/>
            <a:ext cx="256032" cy="256032"/>
          </a:xfrm>
          <a:prstGeom prst="ellipse">
            <a:avLst/>
          </a:prstGeom>
          <a:solidFill>
            <a:srgbClr val="12B5A6"/>
          </a:solidFill>
          <a:ln/>
        </p:spPr>
      </p:sp>
      <p:sp>
        <p:nvSpPr>
          <p:cNvPr id="11" name="Text 8"/>
          <p:cNvSpPr/>
          <p:nvPr/>
        </p:nvSpPr>
        <p:spPr>
          <a:xfrm>
            <a:off x="868680" y="3547872"/>
            <a:ext cx="256032" cy="256032"/>
          </a:xfrm>
          <a:prstGeom prst="rect">
            <a:avLst/>
          </a:prstGeom>
          <a:noFill/>
          <a:ln/>
        </p:spPr>
        <p:txBody>
          <a:bodyPr wrap="square" rtlCol="0" anchor="ctr"/>
          <a:lstStyle/>
          <a:p>
            <a:pPr marL="0" indent="0" algn="ctr">
              <a:buNone/>
            </a:pPr>
            <a:r>
              <a:rPr lang="en-US" sz="1200" b="1" dirty="0">
                <a:solidFill>
                  <a:srgbClr val="151A45"/>
                </a:solidFill>
                <a:latin typeface="Calibri" pitchFamily="34" charset="0"/>
                <a:ea typeface="Calibri" pitchFamily="34" charset="-122"/>
                <a:cs typeface="Calibri" pitchFamily="34" charset="-120"/>
              </a:rPr>
              <a:t>1</a:t>
            </a:r>
            <a:endParaRPr lang="en-US" sz="1200" dirty="0"/>
          </a:p>
        </p:txBody>
      </p:sp>
      <p:sp>
        <p:nvSpPr>
          <p:cNvPr id="12" name="Text 9"/>
          <p:cNvSpPr/>
          <p:nvPr/>
        </p:nvSpPr>
        <p:spPr>
          <a:xfrm>
            <a:off x="1280160" y="3474720"/>
            <a:ext cx="9966960" cy="685800"/>
          </a:xfrm>
          <a:prstGeom prst="rect">
            <a:avLst/>
          </a:prstGeom>
          <a:noFill/>
          <a:ln/>
        </p:spPr>
        <p:txBody>
          <a:bodyPr wrap="square" rtlCol="0" anchor="ctr"/>
          <a:lstStyle/>
          <a:p>
            <a:pPr marL="0" indent="0">
              <a:lnSpc>
                <a:spcPct val="120000"/>
              </a:lnSpc>
              <a:buNone/>
            </a:pPr>
            <a:r>
              <a:rPr lang="en-US" sz="1300" dirty="0">
                <a:solidFill>
                  <a:srgbClr val="D6DCF5"/>
                </a:solidFill>
                <a:latin typeface="Calibri" pitchFamily="34" charset="0"/>
                <a:ea typeface="Calibri" pitchFamily="34" charset="-122"/>
                <a:cs typeface="Calibri" pitchFamily="34" charset="-120"/>
              </a:rPr>
              <a:t>Raw multi-platform data (39,426 rows) is noisy — duplicates, missing values and encoding errors obscure true patterns.</a:t>
            </a:r>
            <a:endParaRPr lang="en-US" sz="1300" dirty="0"/>
          </a:p>
        </p:txBody>
      </p:sp>
      <p:sp>
        <p:nvSpPr>
          <p:cNvPr id="13" name="Shape 10"/>
          <p:cNvSpPr/>
          <p:nvPr/>
        </p:nvSpPr>
        <p:spPr>
          <a:xfrm>
            <a:off x="868680" y="4325112"/>
            <a:ext cx="256032" cy="256032"/>
          </a:xfrm>
          <a:prstGeom prst="ellipse">
            <a:avLst/>
          </a:prstGeom>
          <a:solidFill>
            <a:srgbClr val="12B5A6"/>
          </a:solidFill>
          <a:ln/>
        </p:spPr>
      </p:sp>
      <p:sp>
        <p:nvSpPr>
          <p:cNvPr id="14" name="Text 11"/>
          <p:cNvSpPr/>
          <p:nvPr/>
        </p:nvSpPr>
        <p:spPr>
          <a:xfrm>
            <a:off x="868680" y="4325112"/>
            <a:ext cx="256032" cy="256032"/>
          </a:xfrm>
          <a:prstGeom prst="rect">
            <a:avLst/>
          </a:prstGeom>
          <a:noFill/>
          <a:ln/>
        </p:spPr>
        <p:txBody>
          <a:bodyPr wrap="square" rtlCol="0" anchor="ctr"/>
          <a:lstStyle/>
          <a:p>
            <a:pPr marL="0" indent="0" algn="ctr">
              <a:buNone/>
            </a:pPr>
            <a:r>
              <a:rPr lang="en-US" sz="1200" b="1" dirty="0">
                <a:solidFill>
                  <a:srgbClr val="151A45"/>
                </a:solidFill>
                <a:latin typeface="Calibri" pitchFamily="34" charset="0"/>
                <a:ea typeface="Calibri" pitchFamily="34" charset="-122"/>
                <a:cs typeface="Calibri" pitchFamily="34" charset="-120"/>
              </a:rPr>
              <a:t>2</a:t>
            </a:r>
            <a:endParaRPr lang="en-US" sz="1200" dirty="0"/>
          </a:p>
        </p:txBody>
      </p:sp>
      <p:sp>
        <p:nvSpPr>
          <p:cNvPr id="15" name="Text 12"/>
          <p:cNvSpPr/>
          <p:nvPr/>
        </p:nvSpPr>
        <p:spPr>
          <a:xfrm>
            <a:off x="1280160" y="4251960"/>
            <a:ext cx="9966960" cy="685800"/>
          </a:xfrm>
          <a:prstGeom prst="rect">
            <a:avLst/>
          </a:prstGeom>
          <a:noFill/>
          <a:ln/>
        </p:spPr>
        <p:txBody>
          <a:bodyPr wrap="square" rtlCol="0" anchor="ctr"/>
          <a:lstStyle/>
          <a:p>
            <a:pPr marL="0" indent="0">
              <a:lnSpc>
                <a:spcPct val="120000"/>
              </a:lnSpc>
              <a:buNone/>
            </a:pPr>
            <a:r>
              <a:rPr lang="en-US" sz="1300" dirty="0">
                <a:solidFill>
                  <a:srgbClr val="D6DCF5"/>
                </a:solidFill>
                <a:latin typeface="Calibri" pitchFamily="34" charset="0"/>
                <a:ea typeface="Calibri" pitchFamily="34" charset="-122"/>
                <a:cs typeface="Calibri" pitchFamily="34" charset="-120"/>
              </a:rPr>
              <a:t>MRP, sale price, discount % and ratings are scattered signals with no combined view of platform-level value.</a:t>
            </a:r>
            <a:endParaRPr lang="en-US" sz="1300" dirty="0"/>
          </a:p>
        </p:txBody>
      </p:sp>
      <p:sp>
        <p:nvSpPr>
          <p:cNvPr id="16" name="Shape 13"/>
          <p:cNvSpPr/>
          <p:nvPr/>
        </p:nvSpPr>
        <p:spPr>
          <a:xfrm>
            <a:off x="868680" y="5102352"/>
            <a:ext cx="256032" cy="256032"/>
          </a:xfrm>
          <a:prstGeom prst="ellipse">
            <a:avLst/>
          </a:prstGeom>
          <a:solidFill>
            <a:srgbClr val="12B5A6"/>
          </a:solidFill>
          <a:ln/>
        </p:spPr>
      </p:sp>
      <p:sp>
        <p:nvSpPr>
          <p:cNvPr id="17" name="Text 14"/>
          <p:cNvSpPr/>
          <p:nvPr/>
        </p:nvSpPr>
        <p:spPr>
          <a:xfrm>
            <a:off x="868680" y="5102352"/>
            <a:ext cx="256032" cy="256032"/>
          </a:xfrm>
          <a:prstGeom prst="rect">
            <a:avLst/>
          </a:prstGeom>
          <a:noFill/>
          <a:ln/>
        </p:spPr>
        <p:txBody>
          <a:bodyPr wrap="square" rtlCol="0" anchor="ctr"/>
          <a:lstStyle/>
          <a:p>
            <a:pPr marL="0" indent="0" algn="ctr">
              <a:buNone/>
            </a:pPr>
            <a:r>
              <a:rPr lang="en-US" sz="1200" b="1" dirty="0">
                <a:solidFill>
                  <a:srgbClr val="151A45"/>
                </a:solidFill>
                <a:latin typeface="Calibri" pitchFamily="34" charset="0"/>
                <a:ea typeface="Calibri" pitchFamily="34" charset="-122"/>
                <a:cs typeface="Calibri" pitchFamily="34" charset="-120"/>
              </a:rPr>
              <a:t>3</a:t>
            </a:r>
            <a:endParaRPr lang="en-US" sz="1200" dirty="0"/>
          </a:p>
        </p:txBody>
      </p:sp>
      <p:sp>
        <p:nvSpPr>
          <p:cNvPr id="18" name="Text 15"/>
          <p:cNvSpPr/>
          <p:nvPr/>
        </p:nvSpPr>
        <p:spPr>
          <a:xfrm>
            <a:off x="1280160" y="5029200"/>
            <a:ext cx="9966960" cy="685800"/>
          </a:xfrm>
          <a:prstGeom prst="rect">
            <a:avLst/>
          </a:prstGeom>
          <a:noFill/>
          <a:ln/>
        </p:spPr>
        <p:txBody>
          <a:bodyPr wrap="square" rtlCol="0" anchor="ctr"/>
          <a:lstStyle/>
          <a:p>
            <a:pPr marL="0" indent="0">
              <a:lnSpc>
                <a:spcPct val="120000"/>
              </a:lnSpc>
              <a:buNone/>
            </a:pPr>
            <a:r>
              <a:rPr lang="en-US" sz="1300" dirty="0">
                <a:solidFill>
                  <a:srgbClr val="D6DCF5"/>
                </a:solidFill>
                <a:latin typeface="Calibri" pitchFamily="34" charset="0"/>
                <a:ea typeface="Calibri" pitchFamily="34" charset="-122"/>
                <a:cs typeface="Calibri" pitchFamily="34" charset="-120"/>
              </a:rPr>
              <a:t>Without structured analysis, consumers and analysts cannot reliably answer: which platform, category or brand offers the best deal?</a:t>
            </a:r>
            <a:endParaRPr lang="en-US" sz="1300" dirty="0"/>
          </a:p>
        </p:txBody>
      </p:sp>
      <p:sp>
        <p:nvSpPr>
          <p:cNvPr id="19" name="Text 16"/>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892B0"/>
                </a:solidFill>
                <a:latin typeface="Calibri" pitchFamily="34" charset="0"/>
                <a:ea typeface="Calibri" pitchFamily="34" charset="-122"/>
                <a:cs typeface="Calibri" pitchFamily="34" charset="-120"/>
              </a:rPr>
              <a:t>02</a:t>
            </a:r>
            <a:endParaRPr lang="en-US" sz="900" dirty="0"/>
          </a:p>
        </p:txBody>
      </p:sp>
      <p:sp>
        <p:nvSpPr>
          <p:cNvPr id="20" name="Text 17"/>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SmartBasket Analysis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50" b="1" kern="0" spc="200" dirty="0">
                <a:solidFill>
                  <a:srgbClr val="FF7A33"/>
                </a:solidFill>
                <a:latin typeface="Calibri" pitchFamily="34" charset="0"/>
                <a:ea typeface="Calibri" pitchFamily="34" charset="-122"/>
                <a:cs typeface="Calibri" pitchFamily="34" charset="-120"/>
              </a:rPr>
              <a:t>SLIDE 04</a:t>
            </a:r>
            <a:endParaRPr lang="en-US" sz="125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51A45"/>
                </a:solidFill>
                <a:latin typeface="Cambria" pitchFamily="34" charset="0"/>
                <a:ea typeface="Cambria" pitchFamily="34" charset="-122"/>
                <a:cs typeface="Cambria" pitchFamily="34" charset="-120"/>
              </a:rPr>
              <a:t>Objectives</a:t>
            </a:r>
            <a:endParaRPr lang="en-US" sz="3000" dirty="0"/>
          </a:p>
        </p:txBody>
      </p:sp>
      <p:sp>
        <p:nvSpPr>
          <p:cNvPr id="4" name="Shape 2"/>
          <p:cNvSpPr/>
          <p:nvPr/>
        </p:nvSpPr>
        <p:spPr>
          <a:xfrm>
            <a:off x="548640" y="1691640"/>
            <a:ext cx="5349240" cy="2011680"/>
          </a:xfrm>
          <a:prstGeom prst="roundRect">
            <a:avLst>
              <a:gd name="adj" fmla="val 4545"/>
            </a:avLst>
          </a:prstGeom>
          <a:solidFill>
            <a:srgbClr val="F4F6FB"/>
          </a:solidFill>
          <a:ln/>
        </p:spPr>
      </p:sp>
      <p:sp>
        <p:nvSpPr>
          <p:cNvPr id="5" name="Shape 3"/>
          <p:cNvSpPr/>
          <p:nvPr/>
        </p:nvSpPr>
        <p:spPr>
          <a:xfrm>
            <a:off x="822960" y="2286000"/>
            <a:ext cx="822960" cy="822960"/>
          </a:xfrm>
          <a:prstGeom prst="ellipse">
            <a:avLst/>
          </a:prstGeom>
          <a:solidFill>
            <a:srgbClr val="12B5A6"/>
          </a:solidFill>
          <a:ln/>
        </p:spPr>
      </p:sp>
      <p:pic>
        <p:nvPicPr>
          <p:cNvPr id="6" name="Image 0" descr="/home/claude/proj/icons/broom.png"/>
          <p:cNvPicPr>
            <a:picLocks noChangeAspect="1"/>
          </p:cNvPicPr>
          <p:nvPr/>
        </p:nvPicPr>
        <p:blipFill>
          <a:blip r:embed="rId3"/>
          <a:stretch>
            <a:fillRect/>
          </a:stretch>
        </p:blipFill>
        <p:spPr>
          <a:xfrm>
            <a:off x="938174" y="2401214"/>
            <a:ext cx="592531" cy="592531"/>
          </a:xfrm>
          <a:prstGeom prst="rect">
            <a:avLst/>
          </a:prstGeom>
        </p:spPr>
      </p:pic>
      <p:sp>
        <p:nvSpPr>
          <p:cNvPr id="7" name="Text 4"/>
          <p:cNvSpPr/>
          <p:nvPr/>
        </p:nvSpPr>
        <p:spPr>
          <a:xfrm>
            <a:off x="1874520" y="1965960"/>
            <a:ext cx="3794760" cy="457200"/>
          </a:xfrm>
          <a:prstGeom prst="rect">
            <a:avLst/>
          </a:prstGeom>
          <a:noFill/>
          <a:ln/>
        </p:spPr>
        <p:txBody>
          <a:bodyPr wrap="square" rtlCol="0" anchor="ctr"/>
          <a:lstStyle/>
          <a:p>
            <a:pPr marL="0" indent="0">
              <a:buNone/>
            </a:pPr>
            <a:r>
              <a:rPr lang="en-US" sz="1650" b="1" dirty="0">
                <a:solidFill>
                  <a:srgbClr val="151A45"/>
                </a:solidFill>
                <a:latin typeface="Cambria" pitchFamily="34" charset="0"/>
                <a:ea typeface="Cambria" pitchFamily="34" charset="-122"/>
                <a:cs typeface="Cambria" pitchFamily="34" charset="-120"/>
              </a:rPr>
              <a:t>Clean &amp; Unify Data</a:t>
            </a:r>
            <a:endParaRPr lang="en-US" sz="1650" dirty="0"/>
          </a:p>
        </p:txBody>
      </p:sp>
      <p:sp>
        <p:nvSpPr>
          <p:cNvPr id="8" name="Text 5"/>
          <p:cNvSpPr/>
          <p:nvPr/>
        </p:nvSpPr>
        <p:spPr>
          <a:xfrm>
            <a:off x="1874520" y="2468880"/>
            <a:ext cx="3794760" cy="1005840"/>
          </a:xfrm>
          <a:prstGeom prst="rect">
            <a:avLst/>
          </a:prstGeom>
          <a:noFill/>
          <a:ln/>
        </p:spPr>
        <p:txBody>
          <a:bodyPr wrap="square" rtlCol="0" anchor="ctr"/>
          <a:lstStyle/>
          <a:p>
            <a:pPr marL="0" indent="0">
              <a:lnSpc>
                <a:spcPct val="120000"/>
              </a:lnSpc>
              <a:buNone/>
            </a:pPr>
            <a:r>
              <a:rPr lang="en-US" sz="1200" dirty="0">
                <a:solidFill>
                  <a:srgbClr val="3A4266"/>
                </a:solidFill>
                <a:latin typeface="Calibri" pitchFamily="34" charset="0"/>
                <a:ea typeface="Calibri" pitchFamily="34" charset="-122"/>
                <a:cs typeface="Calibri" pitchFamily="34" charset="-120"/>
              </a:rPr>
              <a:t>Resolve duplicates, missing values and encoding issues across 39,000+ listings.</a:t>
            </a:r>
            <a:endParaRPr lang="en-US" sz="1200" dirty="0"/>
          </a:p>
        </p:txBody>
      </p:sp>
      <p:sp>
        <p:nvSpPr>
          <p:cNvPr id="9" name="Shape 6"/>
          <p:cNvSpPr/>
          <p:nvPr/>
        </p:nvSpPr>
        <p:spPr>
          <a:xfrm>
            <a:off x="6263640" y="1691640"/>
            <a:ext cx="5349240" cy="2011680"/>
          </a:xfrm>
          <a:prstGeom prst="roundRect">
            <a:avLst>
              <a:gd name="adj" fmla="val 4545"/>
            </a:avLst>
          </a:prstGeom>
          <a:solidFill>
            <a:srgbClr val="F4F6FB"/>
          </a:solidFill>
          <a:ln/>
        </p:spPr>
      </p:sp>
      <p:sp>
        <p:nvSpPr>
          <p:cNvPr id="10" name="Shape 7"/>
          <p:cNvSpPr/>
          <p:nvPr/>
        </p:nvSpPr>
        <p:spPr>
          <a:xfrm>
            <a:off x="6537960" y="2286000"/>
            <a:ext cx="822960" cy="822960"/>
          </a:xfrm>
          <a:prstGeom prst="ellipse">
            <a:avLst/>
          </a:prstGeom>
          <a:solidFill>
            <a:srgbClr val="FF7A33"/>
          </a:solidFill>
          <a:ln/>
        </p:spPr>
      </p:sp>
      <p:pic>
        <p:nvPicPr>
          <p:cNvPr id="11" name="Image 1" descr="/home/claude/proj/icons/chartBar.png"/>
          <p:cNvPicPr>
            <a:picLocks noChangeAspect="1"/>
          </p:cNvPicPr>
          <p:nvPr/>
        </p:nvPicPr>
        <p:blipFill>
          <a:blip r:embed="rId4"/>
          <a:stretch>
            <a:fillRect/>
          </a:stretch>
        </p:blipFill>
        <p:spPr>
          <a:xfrm>
            <a:off x="6653174" y="2401214"/>
            <a:ext cx="592531" cy="592531"/>
          </a:xfrm>
          <a:prstGeom prst="rect">
            <a:avLst/>
          </a:prstGeom>
        </p:spPr>
      </p:pic>
      <p:sp>
        <p:nvSpPr>
          <p:cNvPr id="12" name="Text 8"/>
          <p:cNvSpPr/>
          <p:nvPr/>
        </p:nvSpPr>
        <p:spPr>
          <a:xfrm>
            <a:off x="7589520" y="1965960"/>
            <a:ext cx="3794760" cy="457200"/>
          </a:xfrm>
          <a:prstGeom prst="rect">
            <a:avLst/>
          </a:prstGeom>
          <a:noFill/>
          <a:ln/>
        </p:spPr>
        <p:txBody>
          <a:bodyPr wrap="square" rtlCol="0" anchor="ctr"/>
          <a:lstStyle/>
          <a:p>
            <a:pPr marL="0" indent="0">
              <a:buNone/>
            </a:pPr>
            <a:r>
              <a:rPr lang="en-US" sz="1650" b="1" dirty="0">
                <a:solidFill>
                  <a:srgbClr val="151A45"/>
                </a:solidFill>
                <a:latin typeface="Cambria" pitchFamily="34" charset="0"/>
                <a:ea typeface="Cambria" pitchFamily="34" charset="-122"/>
                <a:cs typeface="Cambria" pitchFamily="34" charset="-120"/>
              </a:rPr>
              <a:t>Analyze Pricing Patterns</a:t>
            </a:r>
            <a:endParaRPr lang="en-US" sz="1650" dirty="0"/>
          </a:p>
        </p:txBody>
      </p:sp>
      <p:sp>
        <p:nvSpPr>
          <p:cNvPr id="13" name="Text 9"/>
          <p:cNvSpPr/>
          <p:nvPr/>
        </p:nvSpPr>
        <p:spPr>
          <a:xfrm>
            <a:off x="7589520" y="2468880"/>
            <a:ext cx="3794760" cy="1005840"/>
          </a:xfrm>
          <a:prstGeom prst="rect">
            <a:avLst/>
          </a:prstGeom>
          <a:noFill/>
          <a:ln/>
        </p:spPr>
        <p:txBody>
          <a:bodyPr wrap="square" rtlCol="0" anchor="ctr"/>
          <a:lstStyle/>
          <a:p>
            <a:pPr marL="0" indent="0">
              <a:lnSpc>
                <a:spcPct val="120000"/>
              </a:lnSpc>
              <a:buNone/>
            </a:pPr>
            <a:r>
              <a:rPr lang="en-US" sz="1200" dirty="0">
                <a:solidFill>
                  <a:srgbClr val="3A4266"/>
                </a:solidFill>
                <a:latin typeface="Calibri" pitchFamily="34" charset="0"/>
                <a:ea typeface="Calibri" pitchFamily="34" charset="-122"/>
                <a:cs typeface="Calibri" pitchFamily="34" charset="-120"/>
              </a:rPr>
              <a:t>Study MRP, sale price and discount behaviour across categories and platforms.</a:t>
            </a:r>
            <a:endParaRPr lang="en-US" sz="1200" dirty="0"/>
          </a:p>
        </p:txBody>
      </p:sp>
      <p:sp>
        <p:nvSpPr>
          <p:cNvPr id="14" name="Shape 10"/>
          <p:cNvSpPr/>
          <p:nvPr/>
        </p:nvSpPr>
        <p:spPr>
          <a:xfrm>
            <a:off x="548640" y="4023360"/>
            <a:ext cx="5349240" cy="2011680"/>
          </a:xfrm>
          <a:prstGeom prst="roundRect">
            <a:avLst>
              <a:gd name="adj" fmla="val 4545"/>
            </a:avLst>
          </a:prstGeom>
          <a:solidFill>
            <a:srgbClr val="F4F6FB"/>
          </a:solidFill>
          <a:ln/>
        </p:spPr>
      </p:sp>
      <p:sp>
        <p:nvSpPr>
          <p:cNvPr id="15" name="Shape 11"/>
          <p:cNvSpPr/>
          <p:nvPr/>
        </p:nvSpPr>
        <p:spPr>
          <a:xfrm>
            <a:off x="822960" y="4617720"/>
            <a:ext cx="822960" cy="822960"/>
          </a:xfrm>
          <a:prstGeom prst="ellipse">
            <a:avLst/>
          </a:prstGeom>
          <a:solidFill>
            <a:srgbClr val="7B2FF7"/>
          </a:solidFill>
          <a:ln/>
        </p:spPr>
      </p:sp>
      <p:pic>
        <p:nvPicPr>
          <p:cNvPr id="16" name="Image 2" descr="/home/claude/proj/icons/balanceScale.png"/>
          <p:cNvPicPr>
            <a:picLocks noChangeAspect="1"/>
          </p:cNvPicPr>
          <p:nvPr/>
        </p:nvPicPr>
        <p:blipFill>
          <a:blip r:embed="rId5"/>
          <a:stretch>
            <a:fillRect/>
          </a:stretch>
        </p:blipFill>
        <p:spPr>
          <a:xfrm>
            <a:off x="938174" y="4732934"/>
            <a:ext cx="592531" cy="592531"/>
          </a:xfrm>
          <a:prstGeom prst="rect">
            <a:avLst/>
          </a:prstGeom>
        </p:spPr>
      </p:pic>
      <p:sp>
        <p:nvSpPr>
          <p:cNvPr id="17" name="Text 12"/>
          <p:cNvSpPr/>
          <p:nvPr/>
        </p:nvSpPr>
        <p:spPr>
          <a:xfrm>
            <a:off x="1874520" y="4297680"/>
            <a:ext cx="3794760" cy="457200"/>
          </a:xfrm>
          <a:prstGeom prst="rect">
            <a:avLst/>
          </a:prstGeom>
          <a:noFill/>
          <a:ln/>
        </p:spPr>
        <p:txBody>
          <a:bodyPr wrap="square" rtlCol="0" anchor="ctr"/>
          <a:lstStyle/>
          <a:p>
            <a:pPr marL="0" indent="0">
              <a:buNone/>
            </a:pPr>
            <a:r>
              <a:rPr lang="en-US" sz="1650" b="1" dirty="0">
                <a:solidFill>
                  <a:srgbClr val="151A45"/>
                </a:solidFill>
                <a:latin typeface="Cambria" pitchFamily="34" charset="0"/>
                <a:ea typeface="Cambria" pitchFamily="34" charset="-122"/>
                <a:cs typeface="Cambria" pitchFamily="34" charset="-120"/>
              </a:rPr>
              <a:t>Compare Platforms</a:t>
            </a:r>
            <a:endParaRPr lang="en-US" sz="1650" dirty="0"/>
          </a:p>
        </p:txBody>
      </p:sp>
      <p:sp>
        <p:nvSpPr>
          <p:cNvPr id="18" name="Text 13"/>
          <p:cNvSpPr/>
          <p:nvPr/>
        </p:nvSpPr>
        <p:spPr>
          <a:xfrm>
            <a:off x="1874520" y="4800600"/>
            <a:ext cx="3794760" cy="1005840"/>
          </a:xfrm>
          <a:prstGeom prst="rect">
            <a:avLst/>
          </a:prstGeom>
          <a:noFill/>
          <a:ln/>
        </p:spPr>
        <p:txBody>
          <a:bodyPr wrap="square" rtlCol="0" anchor="ctr"/>
          <a:lstStyle/>
          <a:p>
            <a:pPr marL="0" indent="0">
              <a:lnSpc>
                <a:spcPct val="120000"/>
              </a:lnSpc>
              <a:buNone/>
            </a:pPr>
            <a:r>
              <a:rPr lang="en-US" sz="1200" dirty="0">
                <a:solidFill>
                  <a:srgbClr val="3A4266"/>
                </a:solidFill>
                <a:latin typeface="Calibri" pitchFamily="34" charset="0"/>
                <a:ea typeface="Calibri" pitchFamily="34" charset="-122"/>
                <a:cs typeface="Calibri" pitchFamily="34" charset="-120"/>
              </a:rPr>
              <a:t>Benchmark BigBasket, Blinkit, JioMart and Zepto on price, discount and rating.</a:t>
            </a:r>
            <a:endParaRPr lang="en-US" sz="1200" dirty="0"/>
          </a:p>
        </p:txBody>
      </p:sp>
      <p:sp>
        <p:nvSpPr>
          <p:cNvPr id="19" name="Shape 14"/>
          <p:cNvSpPr/>
          <p:nvPr/>
        </p:nvSpPr>
        <p:spPr>
          <a:xfrm>
            <a:off x="6263640" y="4023360"/>
            <a:ext cx="5349240" cy="2011680"/>
          </a:xfrm>
          <a:prstGeom prst="roundRect">
            <a:avLst>
              <a:gd name="adj" fmla="val 4545"/>
            </a:avLst>
          </a:prstGeom>
          <a:solidFill>
            <a:srgbClr val="F4F6FB"/>
          </a:solidFill>
          <a:ln/>
        </p:spPr>
      </p:sp>
      <p:sp>
        <p:nvSpPr>
          <p:cNvPr id="20" name="Shape 15"/>
          <p:cNvSpPr/>
          <p:nvPr/>
        </p:nvSpPr>
        <p:spPr>
          <a:xfrm>
            <a:off x="6537960" y="4617720"/>
            <a:ext cx="822960" cy="822960"/>
          </a:xfrm>
          <a:prstGeom prst="ellipse">
            <a:avLst/>
          </a:prstGeom>
          <a:solidFill>
            <a:srgbClr val="17C3E6"/>
          </a:solidFill>
          <a:ln/>
        </p:spPr>
      </p:sp>
      <p:pic>
        <p:nvPicPr>
          <p:cNvPr id="21" name="Image 3" descr="/home/claude/proj/icons/gem.png"/>
          <p:cNvPicPr>
            <a:picLocks noChangeAspect="1"/>
          </p:cNvPicPr>
          <p:nvPr/>
        </p:nvPicPr>
        <p:blipFill>
          <a:blip r:embed="rId6"/>
          <a:stretch>
            <a:fillRect/>
          </a:stretch>
        </p:blipFill>
        <p:spPr>
          <a:xfrm>
            <a:off x="6653174" y="4732934"/>
            <a:ext cx="592531" cy="592531"/>
          </a:xfrm>
          <a:prstGeom prst="rect">
            <a:avLst/>
          </a:prstGeom>
        </p:spPr>
      </p:pic>
      <p:sp>
        <p:nvSpPr>
          <p:cNvPr id="22" name="Text 16"/>
          <p:cNvSpPr/>
          <p:nvPr/>
        </p:nvSpPr>
        <p:spPr>
          <a:xfrm>
            <a:off x="7589520" y="4297680"/>
            <a:ext cx="3794760" cy="457200"/>
          </a:xfrm>
          <a:prstGeom prst="rect">
            <a:avLst/>
          </a:prstGeom>
          <a:noFill/>
          <a:ln/>
        </p:spPr>
        <p:txBody>
          <a:bodyPr wrap="square" rtlCol="0" anchor="ctr"/>
          <a:lstStyle/>
          <a:p>
            <a:pPr marL="0" indent="0">
              <a:buNone/>
            </a:pPr>
            <a:r>
              <a:rPr lang="en-US" sz="1650" b="1" dirty="0">
                <a:solidFill>
                  <a:srgbClr val="151A45"/>
                </a:solidFill>
                <a:latin typeface="Cambria" pitchFamily="34" charset="0"/>
                <a:ea typeface="Cambria" pitchFamily="34" charset="-122"/>
                <a:cs typeface="Cambria" pitchFamily="34" charset="-120"/>
              </a:rPr>
              <a:t>Surface Business Insights</a:t>
            </a:r>
            <a:endParaRPr lang="en-US" sz="1650" dirty="0"/>
          </a:p>
        </p:txBody>
      </p:sp>
      <p:sp>
        <p:nvSpPr>
          <p:cNvPr id="23" name="Text 17"/>
          <p:cNvSpPr/>
          <p:nvPr/>
        </p:nvSpPr>
        <p:spPr>
          <a:xfrm>
            <a:off x="7589520" y="4800600"/>
            <a:ext cx="3794760" cy="1005840"/>
          </a:xfrm>
          <a:prstGeom prst="rect">
            <a:avLst/>
          </a:prstGeom>
          <a:noFill/>
          <a:ln/>
        </p:spPr>
        <p:txBody>
          <a:bodyPr wrap="square" rtlCol="0" anchor="ctr"/>
          <a:lstStyle/>
          <a:p>
            <a:pPr marL="0" indent="0">
              <a:lnSpc>
                <a:spcPct val="120000"/>
              </a:lnSpc>
              <a:buNone/>
            </a:pPr>
            <a:r>
              <a:rPr lang="en-US" sz="1200" dirty="0">
                <a:solidFill>
                  <a:srgbClr val="3A4266"/>
                </a:solidFill>
                <a:latin typeface="Calibri" pitchFamily="34" charset="0"/>
                <a:ea typeface="Calibri" pitchFamily="34" charset="-122"/>
                <a:cs typeface="Calibri" pitchFamily="34" charset="-120"/>
              </a:rPr>
              <a:t>Translate statistical findings into actionable, consumer-facing recommendations.</a:t>
            </a:r>
            <a:endParaRPr lang="en-US" sz="1200" dirty="0"/>
          </a:p>
        </p:txBody>
      </p:sp>
      <p:sp>
        <p:nvSpPr>
          <p:cNvPr id="24" name="Text 18"/>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892B0"/>
                </a:solidFill>
                <a:latin typeface="Calibri" pitchFamily="34" charset="0"/>
                <a:ea typeface="Calibri" pitchFamily="34" charset="-122"/>
                <a:cs typeface="Calibri" pitchFamily="34" charset="-120"/>
              </a:rPr>
              <a:t>03</a:t>
            </a:r>
            <a:endParaRPr lang="en-US" sz="900" dirty="0"/>
          </a:p>
        </p:txBody>
      </p:sp>
      <p:sp>
        <p:nvSpPr>
          <p:cNvPr id="25" name="Text 19"/>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SmartBasket Analysis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50" b="1" kern="0" spc="200" dirty="0">
                <a:solidFill>
                  <a:srgbClr val="12B5A6"/>
                </a:solidFill>
                <a:latin typeface="Calibri" pitchFamily="34" charset="0"/>
                <a:ea typeface="Calibri" pitchFamily="34" charset="-122"/>
                <a:cs typeface="Calibri" pitchFamily="34" charset="-120"/>
              </a:rPr>
              <a:t>SLIDE 05</a:t>
            </a:r>
            <a:endParaRPr lang="en-US" sz="125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51A45"/>
                </a:solidFill>
                <a:latin typeface="Cambria" pitchFamily="34" charset="0"/>
                <a:ea typeface="Cambria" pitchFamily="34" charset="-122"/>
                <a:cs typeface="Cambria" pitchFamily="34" charset="-120"/>
              </a:rPr>
              <a:t>Dataset Overview</a:t>
            </a:r>
            <a:endParaRPr lang="en-US" sz="3000" dirty="0"/>
          </a:p>
        </p:txBody>
      </p:sp>
      <p:sp>
        <p:nvSpPr>
          <p:cNvPr id="4" name="Shape 2"/>
          <p:cNvSpPr/>
          <p:nvPr/>
        </p:nvSpPr>
        <p:spPr>
          <a:xfrm>
            <a:off x="548640" y="1691640"/>
            <a:ext cx="2606040" cy="1371600"/>
          </a:xfrm>
          <a:prstGeom prst="roundRect">
            <a:avLst>
              <a:gd name="adj" fmla="val 6667"/>
            </a:avLst>
          </a:prstGeom>
          <a:solidFill>
            <a:srgbClr val="12B5A6"/>
          </a:solidFill>
          <a:ln/>
        </p:spPr>
      </p:sp>
      <p:sp>
        <p:nvSpPr>
          <p:cNvPr id="5" name="Text 3"/>
          <p:cNvSpPr/>
          <p:nvPr/>
        </p:nvSpPr>
        <p:spPr>
          <a:xfrm>
            <a:off x="548640" y="1856232"/>
            <a:ext cx="2606040" cy="6858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39,426</a:t>
            </a:r>
            <a:endParaRPr lang="en-US" sz="3200" dirty="0"/>
          </a:p>
        </p:txBody>
      </p:sp>
      <p:sp>
        <p:nvSpPr>
          <p:cNvPr id="6" name="Text 4"/>
          <p:cNvSpPr/>
          <p:nvPr/>
        </p:nvSpPr>
        <p:spPr>
          <a:xfrm>
            <a:off x="548640" y="2560320"/>
            <a:ext cx="2606040" cy="36576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Total Records</a:t>
            </a:r>
            <a:endParaRPr lang="en-US" sz="1250" dirty="0"/>
          </a:p>
        </p:txBody>
      </p:sp>
      <p:sp>
        <p:nvSpPr>
          <p:cNvPr id="7" name="Shape 5"/>
          <p:cNvSpPr/>
          <p:nvPr/>
        </p:nvSpPr>
        <p:spPr>
          <a:xfrm>
            <a:off x="3410712" y="1691640"/>
            <a:ext cx="2606040" cy="1371600"/>
          </a:xfrm>
          <a:prstGeom prst="roundRect">
            <a:avLst>
              <a:gd name="adj" fmla="val 6667"/>
            </a:avLst>
          </a:prstGeom>
          <a:solidFill>
            <a:srgbClr val="FF7A33"/>
          </a:solidFill>
          <a:ln/>
        </p:spPr>
      </p:sp>
      <p:sp>
        <p:nvSpPr>
          <p:cNvPr id="8" name="Text 6"/>
          <p:cNvSpPr/>
          <p:nvPr/>
        </p:nvSpPr>
        <p:spPr>
          <a:xfrm>
            <a:off x="3410712" y="1856232"/>
            <a:ext cx="2606040" cy="6858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9</a:t>
            </a:r>
            <a:endParaRPr lang="en-US" sz="3200" dirty="0"/>
          </a:p>
        </p:txBody>
      </p:sp>
      <p:sp>
        <p:nvSpPr>
          <p:cNvPr id="9" name="Text 7"/>
          <p:cNvSpPr/>
          <p:nvPr/>
        </p:nvSpPr>
        <p:spPr>
          <a:xfrm>
            <a:off x="3410712" y="2560320"/>
            <a:ext cx="2606040" cy="36576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Columns</a:t>
            </a:r>
            <a:endParaRPr lang="en-US" sz="1250" dirty="0"/>
          </a:p>
        </p:txBody>
      </p:sp>
      <p:sp>
        <p:nvSpPr>
          <p:cNvPr id="10" name="Shape 8"/>
          <p:cNvSpPr/>
          <p:nvPr/>
        </p:nvSpPr>
        <p:spPr>
          <a:xfrm>
            <a:off x="6272784" y="1691640"/>
            <a:ext cx="2606040" cy="1371600"/>
          </a:xfrm>
          <a:prstGeom prst="roundRect">
            <a:avLst>
              <a:gd name="adj" fmla="val 6667"/>
            </a:avLst>
          </a:prstGeom>
          <a:solidFill>
            <a:srgbClr val="7B2FF7"/>
          </a:solidFill>
          <a:ln/>
        </p:spPr>
      </p:sp>
      <p:sp>
        <p:nvSpPr>
          <p:cNvPr id="11" name="Text 9"/>
          <p:cNvSpPr/>
          <p:nvPr/>
        </p:nvSpPr>
        <p:spPr>
          <a:xfrm>
            <a:off x="6272784" y="1856232"/>
            <a:ext cx="2606040" cy="6858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4</a:t>
            </a:r>
            <a:endParaRPr lang="en-US" sz="3200" dirty="0"/>
          </a:p>
        </p:txBody>
      </p:sp>
      <p:sp>
        <p:nvSpPr>
          <p:cNvPr id="12" name="Text 10"/>
          <p:cNvSpPr/>
          <p:nvPr/>
        </p:nvSpPr>
        <p:spPr>
          <a:xfrm>
            <a:off x="6272784" y="2560320"/>
            <a:ext cx="2606040" cy="36576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Platforms</a:t>
            </a:r>
            <a:endParaRPr lang="en-US" sz="1250" dirty="0"/>
          </a:p>
        </p:txBody>
      </p:sp>
      <p:sp>
        <p:nvSpPr>
          <p:cNvPr id="13" name="Shape 11"/>
          <p:cNvSpPr/>
          <p:nvPr/>
        </p:nvSpPr>
        <p:spPr>
          <a:xfrm>
            <a:off x="9134856" y="1691640"/>
            <a:ext cx="2606040" cy="1371600"/>
          </a:xfrm>
          <a:prstGeom prst="roundRect">
            <a:avLst>
              <a:gd name="adj" fmla="val 6667"/>
            </a:avLst>
          </a:prstGeom>
          <a:solidFill>
            <a:srgbClr val="17C3E6"/>
          </a:solidFill>
          <a:ln/>
        </p:spPr>
      </p:sp>
      <p:sp>
        <p:nvSpPr>
          <p:cNvPr id="14" name="Text 12"/>
          <p:cNvSpPr/>
          <p:nvPr/>
        </p:nvSpPr>
        <p:spPr>
          <a:xfrm>
            <a:off x="9134856" y="1856232"/>
            <a:ext cx="2606040" cy="68580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28</a:t>
            </a:r>
            <a:endParaRPr lang="en-US" sz="3200" dirty="0"/>
          </a:p>
        </p:txBody>
      </p:sp>
      <p:sp>
        <p:nvSpPr>
          <p:cNvPr id="15" name="Text 13"/>
          <p:cNvSpPr/>
          <p:nvPr/>
        </p:nvSpPr>
        <p:spPr>
          <a:xfrm>
            <a:off x="9134856" y="2560320"/>
            <a:ext cx="2606040" cy="36576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Categories</a:t>
            </a:r>
            <a:endParaRPr lang="en-US" sz="1250" dirty="0"/>
          </a:p>
        </p:txBody>
      </p:sp>
      <p:sp>
        <p:nvSpPr>
          <p:cNvPr id="16" name="Text 14"/>
          <p:cNvSpPr/>
          <p:nvPr/>
        </p:nvSpPr>
        <p:spPr>
          <a:xfrm>
            <a:off x="548640" y="3337560"/>
            <a:ext cx="5486400" cy="365760"/>
          </a:xfrm>
          <a:prstGeom prst="rect">
            <a:avLst/>
          </a:prstGeom>
          <a:noFill/>
          <a:ln/>
        </p:spPr>
        <p:txBody>
          <a:bodyPr wrap="square" rtlCol="0" anchor="ctr"/>
          <a:lstStyle/>
          <a:p>
            <a:pPr marL="0" indent="0">
              <a:buNone/>
            </a:pPr>
            <a:r>
              <a:rPr lang="en-US" sz="1500" b="1" dirty="0">
                <a:solidFill>
                  <a:srgbClr val="151A45"/>
                </a:solidFill>
                <a:latin typeface="Cambria" pitchFamily="34" charset="0"/>
                <a:ea typeface="Cambria" pitchFamily="34" charset="-122"/>
                <a:cs typeface="Cambria" pitchFamily="34" charset="-120"/>
              </a:rPr>
              <a:t>Platform Catalogue Share</a:t>
            </a:r>
            <a:endParaRPr lang="en-US" sz="1500" dirty="0"/>
          </a:p>
        </p:txBody>
      </p:sp>
      <p:pic>
        <p:nvPicPr>
          <p:cNvPr id="17" name="Image 0" descr="/home/claude/proj/charts/11_platform_pie.png"/>
          <p:cNvPicPr>
            <a:picLocks noChangeAspect="1"/>
          </p:cNvPicPr>
          <p:nvPr/>
        </p:nvPicPr>
        <p:blipFill>
          <a:blip r:embed="rId3"/>
          <a:stretch>
            <a:fillRect/>
          </a:stretch>
        </p:blipFill>
        <p:spPr>
          <a:xfrm>
            <a:off x="502920" y="3657600"/>
            <a:ext cx="4297680" cy="2560320"/>
          </a:xfrm>
          <a:prstGeom prst="rect">
            <a:avLst/>
          </a:prstGeom>
        </p:spPr>
      </p:pic>
      <p:sp>
        <p:nvSpPr>
          <p:cNvPr id="18" name="Text 15"/>
          <p:cNvSpPr/>
          <p:nvPr/>
        </p:nvSpPr>
        <p:spPr>
          <a:xfrm>
            <a:off x="5212080" y="3703320"/>
            <a:ext cx="6400800" cy="914400"/>
          </a:xfrm>
          <a:prstGeom prst="rect">
            <a:avLst/>
          </a:prstGeom>
          <a:noFill/>
          <a:ln/>
        </p:spPr>
        <p:txBody>
          <a:bodyPr wrap="square" rtlCol="0" anchor="ctr"/>
          <a:lstStyle/>
          <a:p>
            <a:pPr marL="0" indent="0">
              <a:lnSpc>
                <a:spcPct val="125000"/>
              </a:lnSpc>
              <a:buNone/>
            </a:pPr>
            <a:r>
              <a:rPr lang="en-US" sz="1250" dirty="0">
                <a:solidFill>
                  <a:srgbClr val="3A4266"/>
                </a:solidFill>
                <a:latin typeface="Calibri" pitchFamily="34" charset="0"/>
                <a:ea typeface="Calibri" pitchFamily="34" charset="-122"/>
                <a:cs typeface="Calibri" pitchFamily="34" charset="-120"/>
              </a:rPr>
              <a:t>Sourced from Kaggle-style e-grocery scrapes covering BigBasket, Blinkit, JioMart and Zepto listings, spanning 28 categories and 135 sub-categories across 3,183 brands.</a:t>
            </a:r>
            <a:endParaRPr lang="en-US" sz="1250" dirty="0"/>
          </a:p>
        </p:txBody>
      </p:sp>
      <p:sp>
        <p:nvSpPr>
          <p:cNvPr id="19" name="Shape 16"/>
          <p:cNvSpPr/>
          <p:nvPr/>
        </p:nvSpPr>
        <p:spPr>
          <a:xfrm>
            <a:off x="5212080" y="4745736"/>
            <a:ext cx="146304" cy="146304"/>
          </a:xfrm>
          <a:prstGeom prst="rect">
            <a:avLst/>
          </a:prstGeom>
          <a:solidFill>
            <a:srgbClr val="12B5A6"/>
          </a:solidFill>
          <a:ln/>
        </p:spPr>
      </p:sp>
      <p:sp>
        <p:nvSpPr>
          <p:cNvPr id="20" name="Text 17"/>
          <p:cNvSpPr/>
          <p:nvPr/>
        </p:nvSpPr>
        <p:spPr>
          <a:xfrm>
            <a:off x="5468112" y="4709160"/>
            <a:ext cx="1828800" cy="320040"/>
          </a:xfrm>
          <a:prstGeom prst="rect">
            <a:avLst/>
          </a:prstGeom>
          <a:noFill/>
          <a:ln/>
        </p:spPr>
        <p:txBody>
          <a:bodyPr wrap="square" rtlCol="0" anchor="ctr"/>
          <a:lstStyle/>
          <a:p>
            <a:pPr marL="0" indent="0">
              <a:buNone/>
            </a:pPr>
            <a:r>
              <a:rPr lang="en-US" sz="1200" b="1" dirty="0">
                <a:solidFill>
                  <a:srgbClr val="151A45"/>
                </a:solidFill>
                <a:latin typeface="Calibri" pitchFamily="34" charset="0"/>
                <a:ea typeface="Calibri" pitchFamily="34" charset="-122"/>
                <a:cs typeface="Calibri" pitchFamily="34" charset="-120"/>
              </a:rPr>
              <a:t>BigBasket</a:t>
            </a:r>
            <a:endParaRPr lang="en-US" sz="1200" dirty="0"/>
          </a:p>
        </p:txBody>
      </p:sp>
      <p:sp>
        <p:nvSpPr>
          <p:cNvPr id="21" name="Text 18"/>
          <p:cNvSpPr/>
          <p:nvPr/>
        </p:nvSpPr>
        <p:spPr>
          <a:xfrm>
            <a:off x="7315200" y="4709160"/>
            <a:ext cx="2011680" cy="320040"/>
          </a:xfrm>
          <a:prstGeom prst="rect">
            <a:avLst/>
          </a:prstGeom>
          <a:noFill/>
          <a:ln/>
        </p:spPr>
        <p:txBody>
          <a:bodyPr wrap="square" rtlCol="0" anchor="ctr"/>
          <a:lstStyle/>
          <a:p>
            <a:pPr marL="0" indent="0">
              <a:buNone/>
            </a:pPr>
            <a:r>
              <a:rPr lang="en-US" sz="1200" dirty="0">
                <a:solidFill>
                  <a:srgbClr val="3A4266"/>
                </a:solidFill>
                <a:latin typeface="Calibri" pitchFamily="34" charset="0"/>
                <a:ea typeface="Calibri" pitchFamily="34" charset="-122"/>
                <a:cs typeface="Calibri" pitchFamily="34" charset="-120"/>
              </a:rPr>
              <a:t>27,342 listings</a:t>
            </a:r>
            <a:endParaRPr lang="en-US" sz="1200" dirty="0"/>
          </a:p>
        </p:txBody>
      </p:sp>
      <p:sp>
        <p:nvSpPr>
          <p:cNvPr id="22" name="Text 19"/>
          <p:cNvSpPr/>
          <p:nvPr/>
        </p:nvSpPr>
        <p:spPr>
          <a:xfrm>
            <a:off x="9418320" y="4709160"/>
            <a:ext cx="1371600" cy="320040"/>
          </a:xfrm>
          <a:prstGeom prst="rect">
            <a:avLst/>
          </a:prstGeom>
          <a:noFill/>
          <a:ln/>
        </p:spPr>
        <p:txBody>
          <a:bodyPr wrap="square" rtlCol="0" anchor="ctr"/>
          <a:lstStyle/>
          <a:p>
            <a:pPr marL="0" indent="0">
              <a:buNone/>
            </a:pPr>
            <a:r>
              <a:rPr lang="en-US" sz="1200" b="1" dirty="0">
                <a:solidFill>
                  <a:srgbClr val="12B5A6"/>
                </a:solidFill>
                <a:latin typeface="Calibri" pitchFamily="34" charset="0"/>
                <a:ea typeface="Calibri" pitchFamily="34" charset="-122"/>
                <a:cs typeface="Calibri" pitchFamily="34" charset="-120"/>
              </a:rPr>
              <a:t>69.7%</a:t>
            </a:r>
            <a:endParaRPr lang="en-US" sz="1200" dirty="0"/>
          </a:p>
        </p:txBody>
      </p:sp>
      <p:sp>
        <p:nvSpPr>
          <p:cNvPr id="23" name="Shape 20"/>
          <p:cNvSpPr/>
          <p:nvPr/>
        </p:nvSpPr>
        <p:spPr>
          <a:xfrm>
            <a:off x="5212080" y="5129784"/>
            <a:ext cx="146304" cy="146304"/>
          </a:xfrm>
          <a:prstGeom prst="rect">
            <a:avLst/>
          </a:prstGeom>
          <a:solidFill>
            <a:srgbClr val="7B2FF7"/>
          </a:solidFill>
          <a:ln/>
        </p:spPr>
      </p:sp>
      <p:sp>
        <p:nvSpPr>
          <p:cNvPr id="24" name="Text 21"/>
          <p:cNvSpPr/>
          <p:nvPr/>
        </p:nvSpPr>
        <p:spPr>
          <a:xfrm>
            <a:off x="5468112" y="5093208"/>
            <a:ext cx="1828800" cy="320040"/>
          </a:xfrm>
          <a:prstGeom prst="rect">
            <a:avLst/>
          </a:prstGeom>
          <a:noFill/>
          <a:ln/>
        </p:spPr>
        <p:txBody>
          <a:bodyPr wrap="square" rtlCol="0" anchor="ctr"/>
          <a:lstStyle/>
          <a:p>
            <a:pPr marL="0" indent="0">
              <a:buNone/>
            </a:pPr>
            <a:r>
              <a:rPr lang="en-US" sz="1200" b="1" dirty="0">
                <a:solidFill>
                  <a:srgbClr val="151A45"/>
                </a:solidFill>
                <a:latin typeface="Calibri" pitchFamily="34" charset="0"/>
                <a:ea typeface="Calibri" pitchFamily="34" charset="-122"/>
                <a:cs typeface="Calibri" pitchFamily="34" charset="-120"/>
              </a:rPr>
              <a:t>JioMart</a:t>
            </a:r>
            <a:endParaRPr lang="en-US" sz="1200" dirty="0"/>
          </a:p>
        </p:txBody>
      </p:sp>
      <p:sp>
        <p:nvSpPr>
          <p:cNvPr id="25" name="Text 22"/>
          <p:cNvSpPr/>
          <p:nvPr/>
        </p:nvSpPr>
        <p:spPr>
          <a:xfrm>
            <a:off x="7315200" y="5093208"/>
            <a:ext cx="2011680" cy="320040"/>
          </a:xfrm>
          <a:prstGeom prst="rect">
            <a:avLst/>
          </a:prstGeom>
          <a:noFill/>
          <a:ln/>
        </p:spPr>
        <p:txBody>
          <a:bodyPr wrap="square" rtlCol="0" anchor="ctr"/>
          <a:lstStyle/>
          <a:p>
            <a:pPr marL="0" indent="0">
              <a:buNone/>
            </a:pPr>
            <a:r>
              <a:rPr lang="en-US" sz="1200" dirty="0">
                <a:solidFill>
                  <a:srgbClr val="3A4266"/>
                </a:solidFill>
                <a:latin typeface="Calibri" pitchFamily="34" charset="0"/>
                <a:ea typeface="Calibri" pitchFamily="34" charset="-122"/>
                <a:cs typeface="Calibri" pitchFamily="34" charset="-120"/>
              </a:rPr>
              <a:t>5,672 listings</a:t>
            </a:r>
            <a:endParaRPr lang="en-US" sz="1200" dirty="0"/>
          </a:p>
        </p:txBody>
      </p:sp>
      <p:sp>
        <p:nvSpPr>
          <p:cNvPr id="26" name="Text 23"/>
          <p:cNvSpPr/>
          <p:nvPr/>
        </p:nvSpPr>
        <p:spPr>
          <a:xfrm>
            <a:off x="9418320" y="5093208"/>
            <a:ext cx="1371600" cy="320040"/>
          </a:xfrm>
          <a:prstGeom prst="rect">
            <a:avLst/>
          </a:prstGeom>
          <a:noFill/>
          <a:ln/>
        </p:spPr>
        <p:txBody>
          <a:bodyPr wrap="square" rtlCol="0" anchor="ctr"/>
          <a:lstStyle/>
          <a:p>
            <a:pPr marL="0" indent="0">
              <a:buNone/>
            </a:pPr>
            <a:r>
              <a:rPr lang="en-US" sz="1200" b="1" dirty="0">
                <a:solidFill>
                  <a:srgbClr val="7B2FF7"/>
                </a:solidFill>
                <a:latin typeface="Calibri" pitchFamily="34" charset="0"/>
                <a:ea typeface="Calibri" pitchFamily="34" charset="-122"/>
                <a:cs typeface="Calibri" pitchFamily="34" charset="-120"/>
              </a:rPr>
              <a:t>14.5%</a:t>
            </a:r>
            <a:endParaRPr lang="en-US" sz="1200" dirty="0"/>
          </a:p>
        </p:txBody>
      </p:sp>
      <p:sp>
        <p:nvSpPr>
          <p:cNvPr id="27" name="Shape 24"/>
          <p:cNvSpPr/>
          <p:nvPr/>
        </p:nvSpPr>
        <p:spPr>
          <a:xfrm>
            <a:off x="5212080" y="5513832"/>
            <a:ext cx="146304" cy="146304"/>
          </a:xfrm>
          <a:prstGeom prst="rect">
            <a:avLst/>
          </a:prstGeom>
          <a:solidFill>
            <a:srgbClr val="17C3E6"/>
          </a:solidFill>
          <a:ln/>
        </p:spPr>
      </p:sp>
      <p:sp>
        <p:nvSpPr>
          <p:cNvPr id="28" name="Text 25"/>
          <p:cNvSpPr/>
          <p:nvPr/>
        </p:nvSpPr>
        <p:spPr>
          <a:xfrm>
            <a:off x="5468112" y="5477256"/>
            <a:ext cx="1828800" cy="320040"/>
          </a:xfrm>
          <a:prstGeom prst="rect">
            <a:avLst/>
          </a:prstGeom>
          <a:noFill/>
          <a:ln/>
        </p:spPr>
        <p:txBody>
          <a:bodyPr wrap="square" rtlCol="0" anchor="ctr"/>
          <a:lstStyle/>
          <a:p>
            <a:pPr marL="0" indent="0">
              <a:buNone/>
            </a:pPr>
            <a:r>
              <a:rPr lang="en-US" sz="1200" b="1" dirty="0">
                <a:solidFill>
                  <a:srgbClr val="151A45"/>
                </a:solidFill>
                <a:latin typeface="Calibri" pitchFamily="34" charset="0"/>
                <a:ea typeface="Calibri" pitchFamily="34" charset="-122"/>
                <a:cs typeface="Calibri" pitchFamily="34" charset="-120"/>
              </a:rPr>
              <a:t>Zepto</a:t>
            </a:r>
            <a:endParaRPr lang="en-US" sz="1200" dirty="0"/>
          </a:p>
        </p:txBody>
      </p:sp>
      <p:sp>
        <p:nvSpPr>
          <p:cNvPr id="29" name="Text 26"/>
          <p:cNvSpPr/>
          <p:nvPr/>
        </p:nvSpPr>
        <p:spPr>
          <a:xfrm>
            <a:off x="7315200" y="5477256"/>
            <a:ext cx="2011680" cy="320040"/>
          </a:xfrm>
          <a:prstGeom prst="rect">
            <a:avLst/>
          </a:prstGeom>
          <a:noFill/>
          <a:ln/>
        </p:spPr>
        <p:txBody>
          <a:bodyPr wrap="square" rtlCol="0" anchor="ctr"/>
          <a:lstStyle/>
          <a:p>
            <a:pPr marL="0" indent="0">
              <a:buNone/>
            </a:pPr>
            <a:r>
              <a:rPr lang="en-US" sz="1200" dirty="0">
                <a:solidFill>
                  <a:srgbClr val="3A4266"/>
                </a:solidFill>
                <a:latin typeface="Calibri" pitchFamily="34" charset="0"/>
                <a:ea typeface="Calibri" pitchFamily="34" charset="-122"/>
                <a:cs typeface="Calibri" pitchFamily="34" charset="-120"/>
              </a:rPr>
              <a:t>3,730 listings</a:t>
            </a:r>
            <a:endParaRPr lang="en-US" sz="1200" dirty="0"/>
          </a:p>
        </p:txBody>
      </p:sp>
      <p:sp>
        <p:nvSpPr>
          <p:cNvPr id="30" name="Text 27"/>
          <p:cNvSpPr/>
          <p:nvPr/>
        </p:nvSpPr>
        <p:spPr>
          <a:xfrm>
            <a:off x="9418320" y="5477256"/>
            <a:ext cx="1371600" cy="320040"/>
          </a:xfrm>
          <a:prstGeom prst="rect">
            <a:avLst/>
          </a:prstGeom>
          <a:noFill/>
          <a:ln/>
        </p:spPr>
        <p:txBody>
          <a:bodyPr wrap="square" rtlCol="0" anchor="ctr"/>
          <a:lstStyle/>
          <a:p>
            <a:pPr marL="0" indent="0">
              <a:buNone/>
            </a:pPr>
            <a:r>
              <a:rPr lang="en-US" sz="1200" b="1" dirty="0">
                <a:solidFill>
                  <a:srgbClr val="17C3E6"/>
                </a:solidFill>
                <a:latin typeface="Calibri" pitchFamily="34" charset="0"/>
                <a:ea typeface="Calibri" pitchFamily="34" charset="-122"/>
                <a:cs typeface="Calibri" pitchFamily="34" charset="-120"/>
              </a:rPr>
              <a:t>9.5%</a:t>
            </a:r>
            <a:endParaRPr lang="en-US" sz="1200" dirty="0"/>
          </a:p>
        </p:txBody>
      </p:sp>
      <p:sp>
        <p:nvSpPr>
          <p:cNvPr id="31" name="Shape 28"/>
          <p:cNvSpPr/>
          <p:nvPr/>
        </p:nvSpPr>
        <p:spPr>
          <a:xfrm>
            <a:off x="5212080" y="5897880"/>
            <a:ext cx="146304" cy="146304"/>
          </a:xfrm>
          <a:prstGeom prst="rect">
            <a:avLst/>
          </a:prstGeom>
          <a:solidFill>
            <a:srgbClr val="FF7A33"/>
          </a:solidFill>
          <a:ln/>
        </p:spPr>
      </p:sp>
      <p:sp>
        <p:nvSpPr>
          <p:cNvPr id="32" name="Text 29"/>
          <p:cNvSpPr/>
          <p:nvPr/>
        </p:nvSpPr>
        <p:spPr>
          <a:xfrm>
            <a:off x="5468112" y="5861304"/>
            <a:ext cx="1828800" cy="320040"/>
          </a:xfrm>
          <a:prstGeom prst="rect">
            <a:avLst/>
          </a:prstGeom>
          <a:noFill/>
          <a:ln/>
        </p:spPr>
        <p:txBody>
          <a:bodyPr wrap="square" rtlCol="0" anchor="ctr"/>
          <a:lstStyle/>
          <a:p>
            <a:pPr marL="0" indent="0">
              <a:buNone/>
            </a:pPr>
            <a:r>
              <a:rPr lang="en-US" sz="1200" b="1" dirty="0">
                <a:solidFill>
                  <a:srgbClr val="151A45"/>
                </a:solidFill>
                <a:latin typeface="Calibri" pitchFamily="34" charset="0"/>
                <a:ea typeface="Calibri" pitchFamily="34" charset="-122"/>
                <a:cs typeface="Calibri" pitchFamily="34" charset="-120"/>
              </a:rPr>
              <a:t>Blinkit</a:t>
            </a:r>
            <a:endParaRPr lang="en-US" sz="1200" dirty="0"/>
          </a:p>
        </p:txBody>
      </p:sp>
      <p:sp>
        <p:nvSpPr>
          <p:cNvPr id="33" name="Text 30"/>
          <p:cNvSpPr/>
          <p:nvPr/>
        </p:nvSpPr>
        <p:spPr>
          <a:xfrm>
            <a:off x="7315200" y="5861304"/>
            <a:ext cx="2011680" cy="320040"/>
          </a:xfrm>
          <a:prstGeom prst="rect">
            <a:avLst/>
          </a:prstGeom>
          <a:noFill/>
          <a:ln/>
        </p:spPr>
        <p:txBody>
          <a:bodyPr wrap="square" rtlCol="0" anchor="ctr"/>
          <a:lstStyle/>
          <a:p>
            <a:pPr marL="0" indent="0">
              <a:buNone/>
            </a:pPr>
            <a:r>
              <a:rPr lang="en-US" sz="1200" dirty="0">
                <a:solidFill>
                  <a:srgbClr val="3A4266"/>
                </a:solidFill>
                <a:latin typeface="Calibri" pitchFamily="34" charset="0"/>
                <a:ea typeface="Calibri" pitchFamily="34" charset="-122"/>
                <a:cs typeface="Calibri" pitchFamily="34" charset="-120"/>
              </a:rPr>
              <a:t>2,467 listings</a:t>
            </a:r>
            <a:endParaRPr lang="en-US" sz="1200" dirty="0"/>
          </a:p>
        </p:txBody>
      </p:sp>
      <p:sp>
        <p:nvSpPr>
          <p:cNvPr id="34" name="Text 31"/>
          <p:cNvSpPr/>
          <p:nvPr/>
        </p:nvSpPr>
        <p:spPr>
          <a:xfrm>
            <a:off x="9418320" y="5861304"/>
            <a:ext cx="1371600" cy="320040"/>
          </a:xfrm>
          <a:prstGeom prst="rect">
            <a:avLst/>
          </a:prstGeom>
          <a:noFill/>
          <a:ln/>
        </p:spPr>
        <p:txBody>
          <a:bodyPr wrap="square" rtlCol="0" anchor="ctr"/>
          <a:lstStyle/>
          <a:p>
            <a:pPr marL="0" indent="0">
              <a:buNone/>
            </a:pPr>
            <a:r>
              <a:rPr lang="en-US" sz="1200" b="1" dirty="0">
                <a:solidFill>
                  <a:srgbClr val="FF7A33"/>
                </a:solidFill>
                <a:latin typeface="Calibri" pitchFamily="34" charset="0"/>
                <a:ea typeface="Calibri" pitchFamily="34" charset="-122"/>
                <a:cs typeface="Calibri" pitchFamily="34" charset="-120"/>
              </a:rPr>
              <a:t>6.3%</a:t>
            </a:r>
            <a:endParaRPr lang="en-US" sz="1200" dirty="0"/>
          </a:p>
        </p:txBody>
      </p:sp>
      <p:sp>
        <p:nvSpPr>
          <p:cNvPr id="35" name="Text 32"/>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892B0"/>
                </a:solidFill>
                <a:latin typeface="Calibri" pitchFamily="34" charset="0"/>
                <a:ea typeface="Calibri" pitchFamily="34" charset="-122"/>
                <a:cs typeface="Calibri" pitchFamily="34" charset="-120"/>
              </a:rPr>
              <a:t>04</a:t>
            </a:r>
            <a:endParaRPr lang="en-US" sz="900" dirty="0"/>
          </a:p>
        </p:txBody>
      </p:sp>
      <p:sp>
        <p:nvSpPr>
          <p:cNvPr id="36" name="Text 33"/>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SmartBasket Analysis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50" b="1" kern="0" spc="200" dirty="0">
                <a:solidFill>
                  <a:srgbClr val="7B2FF7"/>
                </a:solidFill>
                <a:latin typeface="Calibri" pitchFamily="34" charset="0"/>
                <a:ea typeface="Calibri" pitchFamily="34" charset="-122"/>
                <a:cs typeface="Calibri" pitchFamily="34" charset="-120"/>
              </a:rPr>
              <a:t>SLIDE 06</a:t>
            </a:r>
            <a:endParaRPr lang="en-US" sz="125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51A45"/>
                </a:solidFill>
                <a:latin typeface="Cambria" pitchFamily="34" charset="0"/>
                <a:ea typeface="Cambria" pitchFamily="34" charset="-122"/>
                <a:cs typeface="Cambria" pitchFamily="34" charset="-120"/>
              </a:rPr>
              <a:t>Dataset Features</a:t>
            </a:r>
            <a:endParaRPr lang="en-US" sz="3000" dirty="0"/>
          </a:p>
        </p:txBody>
      </p:sp>
      <p:sp>
        <p:nvSpPr>
          <p:cNvPr id="4" name="Shape 2"/>
          <p:cNvSpPr/>
          <p:nvPr/>
        </p:nvSpPr>
        <p:spPr>
          <a:xfrm>
            <a:off x="548640" y="1691640"/>
            <a:ext cx="3611880" cy="1417320"/>
          </a:xfrm>
          <a:prstGeom prst="roundRect">
            <a:avLst>
              <a:gd name="adj" fmla="val 5806"/>
            </a:avLst>
          </a:prstGeom>
          <a:solidFill>
            <a:srgbClr val="F4F6FB"/>
          </a:solidFill>
          <a:ln/>
        </p:spPr>
      </p:sp>
      <p:sp>
        <p:nvSpPr>
          <p:cNvPr id="5" name="Shape 3"/>
          <p:cNvSpPr/>
          <p:nvPr/>
        </p:nvSpPr>
        <p:spPr>
          <a:xfrm>
            <a:off x="749808" y="1892808"/>
            <a:ext cx="566928" cy="566928"/>
          </a:xfrm>
          <a:prstGeom prst="ellipse">
            <a:avLst/>
          </a:prstGeom>
          <a:solidFill>
            <a:srgbClr val="12B5A6"/>
          </a:solidFill>
          <a:ln/>
        </p:spPr>
      </p:sp>
      <p:pic>
        <p:nvPicPr>
          <p:cNvPr id="6" name="Image 0" descr="/home/claude/proj/icons/tag.png"/>
          <p:cNvPicPr>
            <a:picLocks noChangeAspect="1"/>
          </p:cNvPicPr>
          <p:nvPr/>
        </p:nvPicPr>
        <p:blipFill>
          <a:blip r:embed="rId3"/>
          <a:stretch>
            <a:fillRect/>
          </a:stretch>
        </p:blipFill>
        <p:spPr>
          <a:xfrm>
            <a:off x="829178" y="1972178"/>
            <a:ext cx="408188" cy="408188"/>
          </a:xfrm>
          <a:prstGeom prst="rect">
            <a:avLst/>
          </a:prstGeom>
        </p:spPr>
      </p:pic>
      <p:sp>
        <p:nvSpPr>
          <p:cNvPr id="7" name="Text 4"/>
          <p:cNvSpPr/>
          <p:nvPr/>
        </p:nvSpPr>
        <p:spPr>
          <a:xfrm>
            <a:off x="1463040" y="1837944"/>
            <a:ext cx="2560320" cy="320040"/>
          </a:xfrm>
          <a:prstGeom prst="rect">
            <a:avLst/>
          </a:prstGeom>
          <a:noFill/>
          <a:ln/>
        </p:spPr>
        <p:txBody>
          <a:bodyPr wrap="square" rtlCol="0" anchor="ctr"/>
          <a:lstStyle/>
          <a:p>
            <a:pPr marL="0" indent="0">
              <a:buNone/>
            </a:pPr>
            <a:r>
              <a:rPr lang="en-US" sz="1400" b="1" dirty="0">
                <a:solidFill>
                  <a:srgbClr val="151A45"/>
                </a:solidFill>
                <a:latin typeface="Calibri" pitchFamily="34" charset="0"/>
                <a:ea typeface="Calibri" pitchFamily="34" charset="-122"/>
                <a:cs typeface="Calibri" pitchFamily="34" charset="-120"/>
              </a:rPr>
              <a:t>product_name</a:t>
            </a:r>
            <a:endParaRPr lang="en-US" sz="1400" dirty="0"/>
          </a:p>
        </p:txBody>
      </p:sp>
      <p:sp>
        <p:nvSpPr>
          <p:cNvPr id="8" name="Text 5"/>
          <p:cNvSpPr/>
          <p:nvPr/>
        </p:nvSpPr>
        <p:spPr>
          <a:xfrm>
            <a:off x="1463040" y="2148840"/>
            <a:ext cx="2560320" cy="274320"/>
          </a:xfrm>
          <a:prstGeom prst="rect">
            <a:avLst/>
          </a:prstGeom>
          <a:noFill/>
          <a:ln/>
        </p:spPr>
        <p:txBody>
          <a:bodyPr wrap="square" rtlCol="0" anchor="ctr"/>
          <a:lstStyle/>
          <a:p>
            <a:pPr marL="0" indent="0">
              <a:buNone/>
            </a:pPr>
            <a:r>
              <a:rPr lang="en-US" sz="1000" b="1" dirty="0">
                <a:solidFill>
                  <a:srgbClr val="12B5A6"/>
                </a:solidFill>
                <a:latin typeface="Calibri" pitchFamily="34" charset="0"/>
                <a:ea typeface="Calibri" pitchFamily="34" charset="-122"/>
                <a:cs typeface="Calibri" pitchFamily="34" charset="-120"/>
              </a:rPr>
              <a:t>Text</a:t>
            </a:r>
            <a:endParaRPr lang="en-US" sz="1000" dirty="0"/>
          </a:p>
        </p:txBody>
      </p:sp>
      <p:sp>
        <p:nvSpPr>
          <p:cNvPr id="9" name="Text 6"/>
          <p:cNvSpPr/>
          <p:nvPr/>
        </p:nvSpPr>
        <p:spPr>
          <a:xfrm>
            <a:off x="749808" y="2532888"/>
            <a:ext cx="3246120" cy="502920"/>
          </a:xfrm>
          <a:prstGeom prst="rect">
            <a:avLst/>
          </a:prstGeom>
          <a:noFill/>
          <a:ln/>
        </p:spPr>
        <p:txBody>
          <a:bodyPr wrap="square" rtlCol="0" anchor="ctr"/>
          <a:lstStyle/>
          <a:p>
            <a:pPr marL="0" indent="0">
              <a:lnSpc>
                <a:spcPct val="110000"/>
              </a:lnSpc>
              <a:buNone/>
            </a:pPr>
            <a:r>
              <a:rPr lang="en-US" sz="1050" dirty="0">
                <a:solidFill>
                  <a:srgbClr val="3A4266"/>
                </a:solidFill>
                <a:latin typeface="Calibri" pitchFamily="34" charset="0"/>
                <a:ea typeface="Calibri" pitchFamily="34" charset="-122"/>
                <a:cs typeface="Calibri" pitchFamily="34" charset="-120"/>
              </a:rPr>
              <a:t>Identifies the item, brand &amp; packaging variant</a:t>
            </a:r>
            <a:endParaRPr lang="en-US" sz="1050" dirty="0"/>
          </a:p>
        </p:txBody>
      </p:sp>
      <p:sp>
        <p:nvSpPr>
          <p:cNvPr id="10" name="Shape 7"/>
          <p:cNvSpPr/>
          <p:nvPr/>
        </p:nvSpPr>
        <p:spPr>
          <a:xfrm>
            <a:off x="4297680" y="1691640"/>
            <a:ext cx="3611880" cy="1417320"/>
          </a:xfrm>
          <a:prstGeom prst="roundRect">
            <a:avLst>
              <a:gd name="adj" fmla="val 5806"/>
            </a:avLst>
          </a:prstGeom>
          <a:solidFill>
            <a:srgbClr val="F4F6FB"/>
          </a:solidFill>
          <a:ln/>
        </p:spPr>
      </p:sp>
      <p:sp>
        <p:nvSpPr>
          <p:cNvPr id="11" name="Shape 8"/>
          <p:cNvSpPr/>
          <p:nvPr/>
        </p:nvSpPr>
        <p:spPr>
          <a:xfrm>
            <a:off x="4498848" y="1892808"/>
            <a:ext cx="566928" cy="566928"/>
          </a:xfrm>
          <a:prstGeom prst="ellipse">
            <a:avLst/>
          </a:prstGeom>
          <a:solidFill>
            <a:srgbClr val="FF7A33"/>
          </a:solidFill>
          <a:ln/>
        </p:spPr>
      </p:sp>
      <p:pic>
        <p:nvPicPr>
          <p:cNvPr id="12" name="Image 1" descr="/home/claude/proj/icons/storeAlt.png"/>
          <p:cNvPicPr>
            <a:picLocks noChangeAspect="1"/>
          </p:cNvPicPr>
          <p:nvPr/>
        </p:nvPicPr>
        <p:blipFill>
          <a:blip r:embed="rId4"/>
          <a:stretch>
            <a:fillRect/>
          </a:stretch>
        </p:blipFill>
        <p:spPr>
          <a:xfrm>
            <a:off x="4578218" y="1972178"/>
            <a:ext cx="408188" cy="408188"/>
          </a:xfrm>
          <a:prstGeom prst="rect">
            <a:avLst/>
          </a:prstGeom>
        </p:spPr>
      </p:pic>
      <p:sp>
        <p:nvSpPr>
          <p:cNvPr id="13" name="Text 9"/>
          <p:cNvSpPr/>
          <p:nvPr/>
        </p:nvSpPr>
        <p:spPr>
          <a:xfrm>
            <a:off x="5212080" y="1837944"/>
            <a:ext cx="2560320" cy="320040"/>
          </a:xfrm>
          <a:prstGeom prst="rect">
            <a:avLst/>
          </a:prstGeom>
          <a:noFill/>
          <a:ln/>
        </p:spPr>
        <p:txBody>
          <a:bodyPr wrap="square" rtlCol="0" anchor="ctr"/>
          <a:lstStyle/>
          <a:p>
            <a:pPr marL="0" indent="0">
              <a:buNone/>
            </a:pPr>
            <a:r>
              <a:rPr lang="en-US" sz="1400" b="1" dirty="0">
                <a:solidFill>
                  <a:srgbClr val="151A45"/>
                </a:solidFill>
                <a:latin typeface="Calibri" pitchFamily="34" charset="0"/>
                <a:ea typeface="Calibri" pitchFamily="34" charset="-122"/>
                <a:cs typeface="Calibri" pitchFamily="34" charset="-120"/>
              </a:rPr>
              <a:t>platform</a:t>
            </a:r>
            <a:endParaRPr lang="en-US" sz="1400" dirty="0"/>
          </a:p>
        </p:txBody>
      </p:sp>
      <p:sp>
        <p:nvSpPr>
          <p:cNvPr id="14" name="Text 10"/>
          <p:cNvSpPr/>
          <p:nvPr/>
        </p:nvSpPr>
        <p:spPr>
          <a:xfrm>
            <a:off x="5212080" y="2148840"/>
            <a:ext cx="2560320" cy="274320"/>
          </a:xfrm>
          <a:prstGeom prst="rect">
            <a:avLst/>
          </a:prstGeom>
          <a:noFill/>
          <a:ln/>
        </p:spPr>
        <p:txBody>
          <a:bodyPr wrap="square" rtlCol="0" anchor="ctr"/>
          <a:lstStyle/>
          <a:p>
            <a:pPr marL="0" indent="0">
              <a:buNone/>
            </a:pPr>
            <a:r>
              <a:rPr lang="en-US" sz="1000" b="1" dirty="0">
                <a:solidFill>
                  <a:srgbClr val="FF7A33"/>
                </a:solidFill>
                <a:latin typeface="Calibri" pitchFamily="34" charset="0"/>
                <a:ea typeface="Calibri" pitchFamily="34" charset="-122"/>
                <a:cs typeface="Calibri" pitchFamily="34" charset="-120"/>
              </a:rPr>
              <a:t>Text</a:t>
            </a:r>
            <a:endParaRPr lang="en-US" sz="1000" dirty="0"/>
          </a:p>
        </p:txBody>
      </p:sp>
      <p:sp>
        <p:nvSpPr>
          <p:cNvPr id="15" name="Text 11"/>
          <p:cNvSpPr/>
          <p:nvPr/>
        </p:nvSpPr>
        <p:spPr>
          <a:xfrm>
            <a:off x="4498848" y="2532888"/>
            <a:ext cx="3246120" cy="502920"/>
          </a:xfrm>
          <a:prstGeom prst="rect">
            <a:avLst/>
          </a:prstGeom>
          <a:noFill/>
          <a:ln/>
        </p:spPr>
        <p:txBody>
          <a:bodyPr wrap="square" rtlCol="0" anchor="ctr"/>
          <a:lstStyle/>
          <a:p>
            <a:pPr marL="0" indent="0">
              <a:lnSpc>
                <a:spcPct val="110000"/>
              </a:lnSpc>
              <a:buNone/>
            </a:pPr>
            <a:r>
              <a:rPr lang="en-US" sz="1050" dirty="0">
                <a:solidFill>
                  <a:srgbClr val="3A4266"/>
                </a:solidFill>
                <a:latin typeface="Calibri" pitchFamily="34" charset="0"/>
                <a:ea typeface="Calibri" pitchFamily="34" charset="-122"/>
                <a:cs typeface="Calibri" pitchFamily="34" charset="-120"/>
              </a:rPr>
              <a:t>The e-grocery app fulfilling the order</a:t>
            </a:r>
            <a:endParaRPr lang="en-US" sz="1050" dirty="0"/>
          </a:p>
        </p:txBody>
      </p:sp>
      <p:sp>
        <p:nvSpPr>
          <p:cNvPr id="16" name="Shape 12"/>
          <p:cNvSpPr/>
          <p:nvPr/>
        </p:nvSpPr>
        <p:spPr>
          <a:xfrm>
            <a:off x="8046720" y="1691640"/>
            <a:ext cx="3611880" cy="1417320"/>
          </a:xfrm>
          <a:prstGeom prst="roundRect">
            <a:avLst>
              <a:gd name="adj" fmla="val 5806"/>
            </a:avLst>
          </a:prstGeom>
          <a:solidFill>
            <a:srgbClr val="F4F6FB"/>
          </a:solidFill>
          <a:ln/>
        </p:spPr>
      </p:sp>
      <p:sp>
        <p:nvSpPr>
          <p:cNvPr id="17" name="Shape 13"/>
          <p:cNvSpPr/>
          <p:nvPr/>
        </p:nvSpPr>
        <p:spPr>
          <a:xfrm>
            <a:off x="8247888" y="1892808"/>
            <a:ext cx="566928" cy="566928"/>
          </a:xfrm>
          <a:prstGeom prst="ellipse">
            <a:avLst/>
          </a:prstGeom>
          <a:solidFill>
            <a:srgbClr val="7B2FF7"/>
          </a:solidFill>
          <a:ln/>
        </p:spPr>
      </p:sp>
      <p:pic>
        <p:nvPicPr>
          <p:cNvPr id="18" name="Image 2" descr="/home/claude/proj/icons/folder.png"/>
          <p:cNvPicPr>
            <a:picLocks noChangeAspect="1"/>
          </p:cNvPicPr>
          <p:nvPr/>
        </p:nvPicPr>
        <p:blipFill>
          <a:blip r:embed="rId5"/>
          <a:stretch>
            <a:fillRect/>
          </a:stretch>
        </p:blipFill>
        <p:spPr>
          <a:xfrm>
            <a:off x="8327258" y="1972178"/>
            <a:ext cx="408188" cy="408188"/>
          </a:xfrm>
          <a:prstGeom prst="rect">
            <a:avLst/>
          </a:prstGeom>
        </p:spPr>
      </p:pic>
      <p:sp>
        <p:nvSpPr>
          <p:cNvPr id="19" name="Text 14"/>
          <p:cNvSpPr/>
          <p:nvPr/>
        </p:nvSpPr>
        <p:spPr>
          <a:xfrm>
            <a:off x="8961120" y="1837944"/>
            <a:ext cx="2560320" cy="320040"/>
          </a:xfrm>
          <a:prstGeom prst="rect">
            <a:avLst/>
          </a:prstGeom>
          <a:noFill/>
          <a:ln/>
        </p:spPr>
        <p:txBody>
          <a:bodyPr wrap="square" rtlCol="0" anchor="ctr"/>
          <a:lstStyle/>
          <a:p>
            <a:pPr marL="0" indent="0">
              <a:buNone/>
            </a:pPr>
            <a:r>
              <a:rPr lang="en-US" sz="1400" b="1" dirty="0">
                <a:solidFill>
                  <a:srgbClr val="151A45"/>
                </a:solidFill>
                <a:latin typeface="Calibri" pitchFamily="34" charset="0"/>
                <a:ea typeface="Calibri" pitchFamily="34" charset="-122"/>
                <a:cs typeface="Calibri" pitchFamily="34" charset="-120"/>
              </a:rPr>
              <a:t>category</a:t>
            </a:r>
            <a:endParaRPr lang="en-US" sz="1400" dirty="0"/>
          </a:p>
        </p:txBody>
      </p:sp>
      <p:sp>
        <p:nvSpPr>
          <p:cNvPr id="20" name="Text 15"/>
          <p:cNvSpPr/>
          <p:nvPr/>
        </p:nvSpPr>
        <p:spPr>
          <a:xfrm>
            <a:off x="8961120" y="2148840"/>
            <a:ext cx="2560320" cy="274320"/>
          </a:xfrm>
          <a:prstGeom prst="rect">
            <a:avLst/>
          </a:prstGeom>
          <a:noFill/>
          <a:ln/>
        </p:spPr>
        <p:txBody>
          <a:bodyPr wrap="square" rtlCol="0" anchor="ctr"/>
          <a:lstStyle/>
          <a:p>
            <a:pPr marL="0" indent="0">
              <a:buNone/>
            </a:pPr>
            <a:r>
              <a:rPr lang="en-US" sz="1000" b="1" dirty="0">
                <a:solidFill>
                  <a:srgbClr val="7B2FF7"/>
                </a:solidFill>
                <a:latin typeface="Calibri" pitchFamily="34" charset="0"/>
                <a:ea typeface="Calibri" pitchFamily="34" charset="-122"/>
                <a:cs typeface="Calibri" pitchFamily="34" charset="-120"/>
              </a:rPr>
              <a:t>Text</a:t>
            </a:r>
            <a:endParaRPr lang="en-US" sz="1000" dirty="0"/>
          </a:p>
        </p:txBody>
      </p:sp>
      <p:sp>
        <p:nvSpPr>
          <p:cNvPr id="21" name="Text 16"/>
          <p:cNvSpPr/>
          <p:nvPr/>
        </p:nvSpPr>
        <p:spPr>
          <a:xfrm>
            <a:off x="8247888" y="2532888"/>
            <a:ext cx="3246120" cy="502920"/>
          </a:xfrm>
          <a:prstGeom prst="rect">
            <a:avLst/>
          </a:prstGeom>
          <a:noFill/>
          <a:ln/>
        </p:spPr>
        <p:txBody>
          <a:bodyPr wrap="square" rtlCol="0" anchor="ctr"/>
          <a:lstStyle/>
          <a:p>
            <a:pPr marL="0" indent="0">
              <a:lnSpc>
                <a:spcPct val="110000"/>
              </a:lnSpc>
              <a:buNone/>
            </a:pPr>
            <a:r>
              <a:rPr lang="en-US" sz="1050" dirty="0">
                <a:solidFill>
                  <a:srgbClr val="3A4266"/>
                </a:solidFill>
                <a:latin typeface="Calibri" pitchFamily="34" charset="0"/>
                <a:ea typeface="Calibri" pitchFamily="34" charset="-122"/>
                <a:cs typeface="Calibri" pitchFamily="34" charset="-120"/>
              </a:rPr>
              <a:t>High-level department grouping</a:t>
            </a:r>
            <a:endParaRPr lang="en-US" sz="1050" dirty="0"/>
          </a:p>
        </p:txBody>
      </p:sp>
      <p:sp>
        <p:nvSpPr>
          <p:cNvPr id="22" name="Shape 17"/>
          <p:cNvSpPr/>
          <p:nvPr/>
        </p:nvSpPr>
        <p:spPr>
          <a:xfrm>
            <a:off x="548640" y="3246120"/>
            <a:ext cx="3611880" cy="1417320"/>
          </a:xfrm>
          <a:prstGeom prst="roundRect">
            <a:avLst>
              <a:gd name="adj" fmla="val 5806"/>
            </a:avLst>
          </a:prstGeom>
          <a:solidFill>
            <a:srgbClr val="F4F6FB"/>
          </a:solidFill>
          <a:ln/>
        </p:spPr>
      </p:sp>
      <p:sp>
        <p:nvSpPr>
          <p:cNvPr id="23" name="Shape 18"/>
          <p:cNvSpPr/>
          <p:nvPr/>
        </p:nvSpPr>
        <p:spPr>
          <a:xfrm>
            <a:off x="749808" y="3447288"/>
            <a:ext cx="566928" cy="566928"/>
          </a:xfrm>
          <a:prstGeom prst="ellipse">
            <a:avLst/>
          </a:prstGeom>
          <a:solidFill>
            <a:srgbClr val="17C3E6"/>
          </a:solidFill>
          <a:ln/>
        </p:spPr>
      </p:sp>
      <p:pic>
        <p:nvPicPr>
          <p:cNvPr id="24" name="Image 3" descr="/home/claude/proj/icons/sitemap.png"/>
          <p:cNvPicPr>
            <a:picLocks noChangeAspect="1"/>
          </p:cNvPicPr>
          <p:nvPr/>
        </p:nvPicPr>
        <p:blipFill>
          <a:blip r:embed="rId6"/>
          <a:stretch>
            <a:fillRect/>
          </a:stretch>
        </p:blipFill>
        <p:spPr>
          <a:xfrm>
            <a:off x="829178" y="3526658"/>
            <a:ext cx="408188" cy="408188"/>
          </a:xfrm>
          <a:prstGeom prst="rect">
            <a:avLst/>
          </a:prstGeom>
        </p:spPr>
      </p:pic>
      <p:sp>
        <p:nvSpPr>
          <p:cNvPr id="25" name="Text 19"/>
          <p:cNvSpPr/>
          <p:nvPr/>
        </p:nvSpPr>
        <p:spPr>
          <a:xfrm>
            <a:off x="1463040" y="3392424"/>
            <a:ext cx="2560320" cy="320040"/>
          </a:xfrm>
          <a:prstGeom prst="rect">
            <a:avLst/>
          </a:prstGeom>
          <a:noFill/>
          <a:ln/>
        </p:spPr>
        <p:txBody>
          <a:bodyPr wrap="square" rtlCol="0" anchor="ctr"/>
          <a:lstStyle/>
          <a:p>
            <a:pPr marL="0" indent="0">
              <a:buNone/>
            </a:pPr>
            <a:r>
              <a:rPr lang="en-US" sz="1400" b="1" dirty="0">
                <a:solidFill>
                  <a:srgbClr val="151A45"/>
                </a:solidFill>
                <a:latin typeface="Calibri" pitchFamily="34" charset="0"/>
                <a:ea typeface="Calibri" pitchFamily="34" charset="-122"/>
                <a:cs typeface="Calibri" pitchFamily="34" charset="-120"/>
              </a:rPr>
              <a:t>sub_category</a:t>
            </a:r>
            <a:endParaRPr lang="en-US" sz="1400" dirty="0"/>
          </a:p>
        </p:txBody>
      </p:sp>
      <p:sp>
        <p:nvSpPr>
          <p:cNvPr id="26" name="Text 20"/>
          <p:cNvSpPr/>
          <p:nvPr/>
        </p:nvSpPr>
        <p:spPr>
          <a:xfrm>
            <a:off x="1463040" y="3703320"/>
            <a:ext cx="2560320" cy="274320"/>
          </a:xfrm>
          <a:prstGeom prst="rect">
            <a:avLst/>
          </a:prstGeom>
          <a:noFill/>
          <a:ln/>
        </p:spPr>
        <p:txBody>
          <a:bodyPr wrap="square" rtlCol="0" anchor="ctr"/>
          <a:lstStyle/>
          <a:p>
            <a:pPr marL="0" indent="0">
              <a:buNone/>
            </a:pPr>
            <a:r>
              <a:rPr lang="en-US" sz="1000" b="1" dirty="0">
                <a:solidFill>
                  <a:srgbClr val="17C3E6"/>
                </a:solidFill>
                <a:latin typeface="Calibri" pitchFamily="34" charset="0"/>
                <a:ea typeface="Calibri" pitchFamily="34" charset="-122"/>
                <a:cs typeface="Calibri" pitchFamily="34" charset="-120"/>
              </a:rPr>
              <a:t>Text</a:t>
            </a:r>
            <a:endParaRPr lang="en-US" sz="1000" dirty="0"/>
          </a:p>
        </p:txBody>
      </p:sp>
      <p:sp>
        <p:nvSpPr>
          <p:cNvPr id="27" name="Text 21"/>
          <p:cNvSpPr/>
          <p:nvPr/>
        </p:nvSpPr>
        <p:spPr>
          <a:xfrm>
            <a:off x="749808" y="4087368"/>
            <a:ext cx="3246120" cy="502920"/>
          </a:xfrm>
          <a:prstGeom prst="rect">
            <a:avLst/>
          </a:prstGeom>
          <a:noFill/>
          <a:ln/>
        </p:spPr>
        <p:txBody>
          <a:bodyPr wrap="square" rtlCol="0" anchor="ctr"/>
          <a:lstStyle/>
          <a:p>
            <a:pPr marL="0" indent="0">
              <a:lnSpc>
                <a:spcPct val="110000"/>
              </a:lnSpc>
              <a:buNone/>
            </a:pPr>
            <a:r>
              <a:rPr lang="en-US" sz="1050" dirty="0">
                <a:solidFill>
                  <a:srgbClr val="3A4266"/>
                </a:solidFill>
                <a:latin typeface="Calibri" pitchFamily="34" charset="0"/>
                <a:ea typeface="Calibri" pitchFamily="34" charset="-122"/>
                <a:cs typeface="Calibri" pitchFamily="34" charset="-120"/>
              </a:rPr>
              <a:t>Specific product sub-type</a:t>
            </a:r>
            <a:endParaRPr lang="en-US" sz="1050" dirty="0"/>
          </a:p>
        </p:txBody>
      </p:sp>
      <p:sp>
        <p:nvSpPr>
          <p:cNvPr id="28" name="Shape 22"/>
          <p:cNvSpPr/>
          <p:nvPr/>
        </p:nvSpPr>
        <p:spPr>
          <a:xfrm>
            <a:off x="4297680" y="3246120"/>
            <a:ext cx="3611880" cy="1417320"/>
          </a:xfrm>
          <a:prstGeom prst="roundRect">
            <a:avLst>
              <a:gd name="adj" fmla="val 5806"/>
            </a:avLst>
          </a:prstGeom>
          <a:solidFill>
            <a:srgbClr val="F4F6FB"/>
          </a:solidFill>
          <a:ln/>
        </p:spPr>
      </p:sp>
      <p:sp>
        <p:nvSpPr>
          <p:cNvPr id="29" name="Shape 23"/>
          <p:cNvSpPr/>
          <p:nvPr/>
        </p:nvSpPr>
        <p:spPr>
          <a:xfrm>
            <a:off x="4498848" y="3447288"/>
            <a:ext cx="566928" cy="566928"/>
          </a:xfrm>
          <a:prstGeom prst="ellipse">
            <a:avLst/>
          </a:prstGeom>
          <a:solidFill>
            <a:srgbClr val="12B5A6"/>
          </a:solidFill>
          <a:ln/>
        </p:spPr>
      </p:sp>
      <p:pic>
        <p:nvPicPr>
          <p:cNvPr id="30" name="Image 4" descr="/home/claude/proj/icons/trademark.png"/>
          <p:cNvPicPr>
            <a:picLocks noChangeAspect="1"/>
          </p:cNvPicPr>
          <p:nvPr/>
        </p:nvPicPr>
        <p:blipFill>
          <a:blip r:embed="rId7"/>
          <a:stretch>
            <a:fillRect/>
          </a:stretch>
        </p:blipFill>
        <p:spPr>
          <a:xfrm>
            <a:off x="4578218" y="3526658"/>
            <a:ext cx="408188" cy="408188"/>
          </a:xfrm>
          <a:prstGeom prst="rect">
            <a:avLst/>
          </a:prstGeom>
        </p:spPr>
      </p:pic>
      <p:sp>
        <p:nvSpPr>
          <p:cNvPr id="31" name="Text 24"/>
          <p:cNvSpPr/>
          <p:nvPr/>
        </p:nvSpPr>
        <p:spPr>
          <a:xfrm>
            <a:off x="5212080" y="3392424"/>
            <a:ext cx="2560320" cy="320040"/>
          </a:xfrm>
          <a:prstGeom prst="rect">
            <a:avLst/>
          </a:prstGeom>
          <a:noFill/>
          <a:ln/>
        </p:spPr>
        <p:txBody>
          <a:bodyPr wrap="square" rtlCol="0" anchor="ctr"/>
          <a:lstStyle/>
          <a:p>
            <a:pPr marL="0" indent="0">
              <a:buNone/>
            </a:pPr>
            <a:r>
              <a:rPr lang="en-US" sz="1400" b="1" dirty="0">
                <a:solidFill>
                  <a:srgbClr val="151A45"/>
                </a:solidFill>
                <a:latin typeface="Calibri" pitchFamily="34" charset="0"/>
                <a:ea typeface="Calibri" pitchFamily="34" charset="-122"/>
                <a:cs typeface="Calibri" pitchFamily="34" charset="-120"/>
              </a:rPr>
              <a:t>brand</a:t>
            </a:r>
            <a:endParaRPr lang="en-US" sz="1400" dirty="0"/>
          </a:p>
        </p:txBody>
      </p:sp>
      <p:sp>
        <p:nvSpPr>
          <p:cNvPr id="32" name="Text 25"/>
          <p:cNvSpPr/>
          <p:nvPr/>
        </p:nvSpPr>
        <p:spPr>
          <a:xfrm>
            <a:off x="5212080" y="3703320"/>
            <a:ext cx="2560320" cy="274320"/>
          </a:xfrm>
          <a:prstGeom prst="rect">
            <a:avLst/>
          </a:prstGeom>
          <a:noFill/>
          <a:ln/>
        </p:spPr>
        <p:txBody>
          <a:bodyPr wrap="square" rtlCol="0" anchor="ctr"/>
          <a:lstStyle/>
          <a:p>
            <a:pPr marL="0" indent="0">
              <a:buNone/>
            </a:pPr>
            <a:r>
              <a:rPr lang="en-US" sz="1000" b="1" dirty="0">
                <a:solidFill>
                  <a:srgbClr val="12B5A6"/>
                </a:solidFill>
                <a:latin typeface="Calibri" pitchFamily="34" charset="0"/>
                <a:ea typeface="Calibri" pitchFamily="34" charset="-122"/>
                <a:cs typeface="Calibri" pitchFamily="34" charset="-120"/>
              </a:rPr>
              <a:t>Text</a:t>
            </a:r>
            <a:endParaRPr lang="en-US" sz="1000" dirty="0"/>
          </a:p>
        </p:txBody>
      </p:sp>
      <p:sp>
        <p:nvSpPr>
          <p:cNvPr id="33" name="Text 26"/>
          <p:cNvSpPr/>
          <p:nvPr/>
        </p:nvSpPr>
        <p:spPr>
          <a:xfrm>
            <a:off x="4498848" y="4087368"/>
            <a:ext cx="3246120" cy="502920"/>
          </a:xfrm>
          <a:prstGeom prst="rect">
            <a:avLst/>
          </a:prstGeom>
          <a:noFill/>
          <a:ln/>
        </p:spPr>
        <p:txBody>
          <a:bodyPr wrap="square" rtlCol="0" anchor="ctr"/>
          <a:lstStyle/>
          <a:p>
            <a:pPr marL="0" indent="0">
              <a:lnSpc>
                <a:spcPct val="110000"/>
              </a:lnSpc>
              <a:buNone/>
            </a:pPr>
            <a:r>
              <a:rPr lang="en-US" sz="1050" dirty="0">
                <a:solidFill>
                  <a:srgbClr val="3A4266"/>
                </a:solidFill>
                <a:latin typeface="Calibri" pitchFamily="34" charset="0"/>
                <a:ea typeface="Calibri" pitchFamily="34" charset="-122"/>
                <a:cs typeface="Calibri" pitchFamily="34" charset="-120"/>
              </a:rPr>
              <a:t>Manufacturer or store house-brand</a:t>
            </a:r>
            <a:endParaRPr lang="en-US" sz="1050" dirty="0"/>
          </a:p>
        </p:txBody>
      </p:sp>
      <p:sp>
        <p:nvSpPr>
          <p:cNvPr id="34" name="Shape 27"/>
          <p:cNvSpPr/>
          <p:nvPr/>
        </p:nvSpPr>
        <p:spPr>
          <a:xfrm>
            <a:off x="8046720" y="3246120"/>
            <a:ext cx="3611880" cy="1417320"/>
          </a:xfrm>
          <a:prstGeom prst="roundRect">
            <a:avLst>
              <a:gd name="adj" fmla="val 5806"/>
            </a:avLst>
          </a:prstGeom>
          <a:solidFill>
            <a:srgbClr val="F4F6FB"/>
          </a:solidFill>
          <a:ln/>
        </p:spPr>
      </p:sp>
      <p:sp>
        <p:nvSpPr>
          <p:cNvPr id="35" name="Shape 28"/>
          <p:cNvSpPr/>
          <p:nvPr/>
        </p:nvSpPr>
        <p:spPr>
          <a:xfrm>
            <a:off x="8247888" y="3447288"/>
            <a:ext cx="566928" cy="566928"/>
          </a:xfrm>
          <a:prstGeom prst="ellipse">
            <a:avLst/>
          </a:prstGeom>
          <a:solidFill>
            <a:srgbClr val="FF7A33"/>
          </a:solidFill>
          <a:ln/>
        </p:spPr>
      </p:sp>
      <p:pic>
        <p:nvPicPr>
          <p:cNvPr id="36" name="Image 5" descr="/home/claude/proj/icons/rupee.png"/>
          <p:cNvPicPr>
            <a:picLocks noChangeAspect="1"/>
          </p:cNvPicPr>
          <p:nvPr/>
        </p:nvPicPr>
        <p:blipFill>
          <a:blip r:embed="rId8"/>
          <a:stretch>
            <a:fillRect/>
          </a:stretch>
        </p:blipFill>
        <p:spPr>
          <a:xfrm>
            <a:off x="8327258" y="3526658"/>
            <a:ext cx="408188" cy="408188"/>
          </a:xfrm>
          <a:prstGeom prst="rect">
            <a:avLst/>
          </a:prstGeom>
        </p:spPr>
      </p:pic>
      <p:sp>
        <p:nvSpPr>
          <p:cNvPr id="37" name="Text 29"/>
          <p:cNvSpPr/>
          <p:nvPr/>
        </p:nvSpPr>
        <p:spPr>
          <a:xfrm>
            <a:off x="8961120" y="3392424"/>
            <a:ext cx="2560320" cy="320040"/>
          </a:xfrm>
          <a:prstGeom prst="rect">
            <a:avLst/>
          </a:prstGeom>
          <a:noFill/>
          <a:ln/>
        </p:spPr>
        <p:txBody>
          <a:bodyPr wrap="square" rtlCol="0" anchor="ctr"/>
          <a:lstStyle/>
          <a:p>
            <a:pPr marL="0" indent="0">
              <a:buNone/>
            </a:pPr>
            <a:r>
              <a:rPr lang="en-US" sz="1400" b="1" dirty="0">
                <a:solidFill>
                  <a:srgbClr val="151A45"/>
                </a:solidFill>
                <a:latin typeface="Calibri" pitchFamily="34" charset="0"/>
                <a:ea typeface="Calibri" pitchFamily="34" charset="-122"/>
                <a:cs typeface="Calibri" pitchFamily="34" charset="-120"/>
              </a:rPr>
              <a:t>mrp</a:t>
            </a:r>
            <a:endParaRPr lang="en-US" sz="1400" dirty="0"/>
          </a:p>
        </p:txBody>
      </p:sp>
      <p:sp>
        <p:nvSpPr>
          <p:cNvPr id="38" name="Text 30"/>
          <p:cNvSpPr/>
          <p:nvPr/>
        </p:nvSpPr>
        <p:spPr>
          <a:xfrm>
            <a:off x="8961120" y="3703320"/>
            <a:ext cx="2560320" cy="274320"/>
          </a:xfrm>
          <a:prstGeom prst="rect">
            <a:avLst/>
          </a:prstGeom>
          <a:noFill/>
          <a:ln/>
        </p:spPr>
        <p:txBody>
          <a:bodyPr wrap="square" rtlCol="0" anchor="ctr"/>
          <a:lstStyle/>
          <a:p>
            <a:pPr marL="0" indent="0">
              <a:buNone/>
            </a:pPr>
            <a:r>
              <a:rPr lang="en-US" sz="1000" b="1" dirty="0">
                <a:solidFill>
                  <a:srgbClr val="FF7A33"/>
                </a:solidFill>
                <a:latin typeface="Calibri" pitchFamily="34" charset="0"/>
                <a:ea typeface="Calibri" pitchFamily="34" charset="-122"/>
                <a:cs typeface="Calibri" pitchFamily="34" charset="-120"/>
              </a:rPr>
              <a:t>Numeric (₹)</a:t>
            </a:r>
            <a:endParaRPr lang="en-US" sz="1000" dirty="0"/>
          </a:p>
        </p:txBody>
      </p:sp>
      <p:sp>
        <p:nvSpPr>
          <p:cNvPr id="39" name="Text 31"/>
          <p:cNvSpPr/>
          <p:nvPr/>
        </p:nvSpPr>
        <p:spPr>
          <a:xfrm>
            <a:off x="8247888" y="4087368"/>
            <a:ext cx="3246120" cy="502920"/>
          </a:xfrm>
          <a:prstGeom prst="rect">
            <a:avLst/>
          </a:prstGeom>
          <a:noFill/>
          <a:ln/>
        </p:spPr>
        <p:txBody>
          <a:bodyPr wrap="square" rtlCol="0" anchor="ctr"/>
          <a:lstStyle/>
          <a:p>
            <a:pPr marL="0" indent="0">
              <a:lnSpc>
                <a:spcPct val="110000"/>
              </a:lnSpc>
              <a:buNone/>
            </a:pPr>
            <a:r>
              <a:rPr lang="en-US" sz="1050" dirty="0">
                <a:solidFill>
                  <a:srgbClr val="3A4266"/>
                </a:solidFill>
                <a:latin typeface="Calibri" pitchFamily="34" charset="0"/>
                <a:ea typeface="Calibri" pitchFamily="34" charset="-122"/>
                <a:cs typeface="Calibri" pitchFamily="34" charset="-120"/>
              </a:rPr>
              <a:t>Official Maximum Retail Price</a:t>
            </a:r>
            <a:endParaRPr lang="en-US" sz="1050" dirty="0"/>
          </a:p>
        </p:txBody>
      </p:sp>
      <p:sp>
        <p:nvSpPr>
          <p:cNvPr id="40" name="Shape 32"/>
          <p:cNvSpPr/>
          <p:nvPr/>
        </p:nvSpPr>
        <p:spPr>
          <a:xfrm>
            <a:off x="548640" y="4800600"/>
            <a:ext cx="3611880" cy="1417320"/>
          </a:xfrm>
          <a:prstGeom prst="roundRect">
            <a:avLst>
              <a:gd name="adj" fmla="val 5806"/>
            </a:avLst>
          </a:prstGeom>
          <a:solidFill>
            <a:srgbClr val="F4F6FB"/>
          </a:solidFill>
          <a:ln/>
        </p:spPr>
      </p:sp>
      <p:sp>
        <p:nvSpPr>
          <p:cNvPr id="41" name="Shape 33"/>
          <p:cNvSpPr/>
          <p:nvPr/>
        </p:nvSpPr>
        <p:spPr>
          <a:xfrm>
            <a:off x="749808" y="5001768"/>
            <a:ext cx="566928" cy="566928"/>
          </a:xfrm>
          <a:prstGeom prst="ellipse">
            <a:avLst/>
          </a:prstGeom>
          <a:solidFill>
            <a:srgbClr val="7B2FF7"/>
          </a:solidFill>
          <a:ln/>
        </p:spPr>
      </p:sp>
      <p:pic>
        <p:nvPicPr>
          <p:cNvPr id="42" name="Image 6" descr="/home/claude/proj/icons/rupee.png"/>
          <p:cNvPicPr>
            <a:picLocks noChangeAspect="1"/>
          </p:cNvPicPr>
          <p:nvPr/>
        </p:nvPicPr>
        <p:blipFill>
          <a:blip r:embed="rId8"/>
          <a:stretch>
            <a:fillRect/>
          </a:stretch>
        </p:blipFill>
        <p:spPr>
          <a:xfrm>
            <a:off x="829178" y="5081138"/>
            <a:ext cx="408188" cy="408188"/>
          </a:xfrm>
          <a:prstGeom prst="rect">
            <a:avLst/>
          </a:prstGeom>
        </p:spPr>
      </p:pic>
      <p:sp>
        <p:nvSpPr>
          <p:cNvPr id="43" name="Text 34"/>
          <p:cNvSpPr/>
          <p:nvPr/>
        </p:nvSpPr>
        <p:spPr>
          <a:xfrm>
            <a:off x="1463040" y="4946904"/>
            <a:ext cx="2560320" cy="320040"/>
          </a:xfrm>
          <a:prstGeom prst="rect">
            <a:avLst/>
          </a:prstGeom>
          <a:noFill/>
          <a:ln/>
        </p:spPr>
        <p:txBody>
          <a:bodyPr wrap="square" rtlCol="0" anchor="ctr"/>
          <a:lstStyle/>
          <a:p>
            <a:pPr marL="0" indent="0">
              <a:buNone/>
            </a:pPr>
            <a:r>
              <a:rPr lang="en-US" sz="1400" b="1" dirty="0">
                <a:solidFill>
                  <a:srgbClr val="151A45"/>
                </a:solidFill>
                <a:latin typeface="Calibri" pitchFamily="34" charset="0"/>
                <a:ea typeface="Calibri" pitchFamily="34" charset="-122"/>
                <a:cs typeface="Calibri" pitchFamily="34" charset="-120"/>
              </a:rPr>
              <a:t>sale_price</a:t>
            </a:r>
            <a:endParaRPr lang="en-US" sz="1400" dirty="0"/>
          </a:p>
        </p:txBody>
      </p:sp>
      <p:sp>
        <p:nvSpPr>
          <p:cNvPr id="44" name="Text 35"/>
          <p:cNvSpPr/>
          <p:nvPr/>
        </p:nvSpPr>
        <p:spPr>
          <a:xfrm>
            <a:off x="1463040" y="5257800"/>
            <a:ext cx="2560320" cy="274320"/>
          </a:xfrm>
          <a:prstGeom prst="rect">
            <a:avLst/>
          </a:prstGeom>
          <a:noFill/>
          <a:ln/>
        </p:spPr>
        <p:txBody>
          <a:bodyPr wrap="square" rtlCol="0" anchor="ctr"/>
          <a:lstStyle/>
          <a:p>
            <a:pPr marL="0" indent="0">
              <a:buNone/>
            </a:pPr>
            <a:r>
              <a:rPr lang="en-US" sz="1000" b="1" dirty="0">
                <a:solidFill>
                  <a:srgbClr val="7B2FF7"/>
                </a:solidFill>
                <a:latin typeface="Calibri" pitchFamily="34" charset="0"/>
                <a:ea typeface="Calibri" pitchFamily="34" charset="-122"/>
                <a:cs typeface="Calibri" pitchFamily="34" charset="-120"/>
              </a:rPr>
              <a:t>Numeric (₹)</a:t>
            </a:r>
            <a:endParaRPr lang="en-US" sz="1000" dirty="0"/>
          </a:p>
        </p:txBody>
      </p:sp>
      <p:sp>
        <p:nvSpPr>
          <p:cNvPr id="45" name="Text 36"/>
          <p:cNvSpPr/>
          <p:nvPr/>
        </p:nvSpPr>
        <p:spPr>
          <a:xfrm>
            <a:off x="749808" y="5641848"/>
            <a:ext cx="3246120" cy="502920"/>
          </a:xfrm>
          <a:prstGeom prst="rect">
            <a:avLst/>
          </a:prstGeom>
          <a:noFill/>
          <a:ln/>
        </p:spPr>
        <p:txBody>
          <a:bodyPr wrap="square" rtlCol="0" anchor="ctr"/>
          <a:lstStyle/>
          <a:p>
            <a:pPr marL="0" indent="0">
              <a:lnSpc>
                <a:spcPct val="110000"/>
              </a:lnSpc>
              <a:buNone/>
            </a:pPr>
            <a:r>
              <a:rPr lang="en-US" sz="1050" dirty="0">
                <a:solidFill>
                  <a:srgbClr val="3A4266"/>
                </a:solidFill>
                <a:latin typeface="Calibri" pitchFamily="34" charset="0"/>
                <a:ea typeface="Calibri" pitchFamily="34" charset="-122"/>
                <a:cs typeface="Calibri" pitchFamily="34" charset="-120"/>
              </a:rPr>
              <a:t>Final discounted selling price</a:t>
            </a:r>
            <a:endParaRPr lang="en-US" sz="1050" dirty="0"/>
          </a:p>
        </p:txBody>
      </p:sp>
      <p:sp>
        <p:nvSpPr>
          <p:cNvPr id="46" name="Shape 37"/>
          <p:cNvSpPr/>
          <p:nvPr/>
        </p:nvSpPr>
        <p:spPr>
          <a:xfrm>
            <a:off x="4297680" y="4800600"/>
            <a:ext cx="3611880" cy="1417320"/>
          </a:xfrm>
          <a:prstGeom prst="roundRect">
            <a:avLst>
              <a:gd name="adj" fmla="val 5806"/>
            </a:avLst>
          </a:prstGeom>
          <a:solidFill>
            <a:srgbClr val="F4F6FB"/>
          </a:solidFill>
          <a:ln/>
        </p:spPr>
      </p:sp>
      <p:sp>
        <p:nvSpPr>
          <p:cNvPr id="47" name="Shape 38"/>
          <p:cNvSpPr/>
          <p:nvPr/>
        </p:nvSpPr>
        <p:spPr>
          <a:xfrm>
            <a:off x="4498848" y="5001768"/>
            <a:ext cx="566928" cy="566928"/>
          </a:xfrm>
          <a:prstGeom prst="ellipse">
            <a:avLst/>
          </a:prstGeom>
          <a:solidFill>
            <a:srgbClr val="17C3E6"/>
          </a:solidFill>
          <a:ln/>
        </p:spPr>
      </p:sp>
      <p:pic>
        <p:nvPicPr>
          <p:cNvPr id="48" name="Image 7" descr="/home/claude/proj/icons/star.png"/>
          <p:cNvPicPr>
            <a:picLocks noChangeAspect="1"/>
          </p:cNvPicPr>
          <p:nvPr/>
        </p:nvPicPr>
        <p:blipFill>
          <a:blip r:embed="rId9"/>
          <a:stretch>
            <a:fillRect/>
          </a:stretch>
        </p:blipFill>
        <p:spPr>
          <a:xfrm>
            <a:off x="4578218" y="5081138"/>
            <a:ext cx="408188" cy="408188"/>
          </a:xfrm>
          <a:prstGeom prst="rect">
            <a:avLst/>
          </a:prstGeom>
        </p:spPr>
      </p:pic>
      <p:sp>
        <p:nvSpPr>
          <p:cNvPr id="49" name="Text 39"/>
          <p:cNvSpPr/>
          <p:nvPr/>
        </p:nvSpPr>
        <p:spPr>
          <a:xfrm>
            <a:off x="5212080" y="4946904"/>
            <a:ext cx="2560320" cy="320040"/>
          </a:xfrm>
          <a:prstGeom prst="rect">
            <a:avLst/>
          </a:prstGeom>
          <a:noFill/>
          <a:ln/>
        </p:spPr>
        <p:txBody>
          <a:bodyPr wrap="square" rtlCol="0" anchor="ctr"/>
          <a:lstStyle/>
          <a:p>
            <a:pPr marL="0" indent="0">
              <a:buNone/>
            </a:pPr>
            <a:r>
              <a:rPr lang="en-US" sz="1400" b="1" dirty="0">
                <a:solidFill>
                  <a:srgbClr val="151A45"/>
                </a:solidFill>
                <a:latin typeface="Calibri" pitchFamily="34" charset="0"/>
                <a:ea typeface="Calibri" pitchFamily="34" charset="-122"/>
                <a:cs typeface="Calibri" pitchFamily="34" charset="-120"/>
              </a:rPr>
              <a:t>rating</a:t>
            </a:r>
            <a:endParaRPr lang="en-US" sz="1400" dirty="0"/>
          </a:p>
        </p:txBody>
      </p:sp>
      <p:sp>
        <p:nvSpPr>
          <p:cNvPr id="50" name="Text 40"/>
          <p:cNvSpPr/>
          <p:nvPr/>
        </p:nvSpPr>
        <p:spPr>
          <a:xfrm>
            <a:off x="5212080" y="5257800"/>
            <a:ext cx="2560320" cy="274320"/>
          </a:xfrm>
          <a:prstGeom prst="rect">
            <a:avLst/>
          </a:prstGeom>
          <a:noFill/>
          <a:ln/>
        </p:spPr>
        <p:txBody>
          <a:bodyPr wrap="square" rtlCol="0" anchor="ctr"/>
          <a:lstStyle/>
          <a:p>
            <a:pPr marL="0" indent="0">
              <a:buNone/>
            </a:pPr>
            <a:r>
              <a:rPr lang="en-US" sz="1000" b="1" dirty="0">
                <a:solidFill>
                  <a:srgbClr val="17C3E6"/>
                </a:solidFill>
                <a:latin typeface="Calibri" pitchFamily="34" charset="0"/>
                <a:ea typeface="Calibri" pitchFamily="34" charset="-122"/>
                <a:cs typeface="Calibri" pitchFamily="34" charset="-120"/>
              </a:rPr>
              <a:t>Numeric (1–5)</a:t>
            </a:r>
            <a:endParaRPr lang="en-US" sz="1000" dirty="0"/>
          </a:p>
        </p:txBody>
      </p:sp>
      <p:sp>
        <p:nvSpPr>
          <p:cNvPr id="51" name="Text 41"/>
          <p:cNvSpPr/>
          <p:nvPr/>
        </p:nvSpPr>
        <p:spPr>
          <a:xfrm>
            <a:off x="4498848" y="5641848"/>
            <a:ext cx="3246120" cy="502920"/>
          </a:xfrm>
          <a:prstGeom prst="rect">
            <a:avLst/>
          </a:prstGeom>
          <a:noFill/>
          <a:ln/>
        </p:spPr>
        <p:txBody>
          <a:bodyPr wrap="square" rtlCol="0" anchor="ctr"/>
          <a:lstStyle/>
          <a:p>
            <a:pPr marL="0" indent="0">
              <a:lnSpc>
                <a:spcPct val="110000"/>
              </a:lnSpc>
              <a:buNone/>
            </a:pPr>
            <a:r>
              <a:rPr lang="en-US" sz="1050" dirty="0">
                <a:solidFill>
                  <a:srgbClr val="3A4266"/>
                </a:solidFill>
                <a:latin typeface="Calibri" pitchFamily="34" charset="0"/>
                <a:ea typeface="Calibri" pitchFamily="34" charset="-122"/>
                <a:cs typeface="Calibri" pitchFamily="34" charset="-120"/>
              </a:rPr>
              <a:t>Average customer satisfaction score</a:t>
            </a:r>
            <a:endParaRPr lang="en-US" sz="1050" dirty="0"/>
          </a:p>
        </p:txBody>
      </p:sp>
      <p:sp>
        <p:nvSpPr>
          <p:cNvPr id="52" name="Shape 42"/>
          <p:cNvSpPr/>
          <p:nvPr/>
        </p:nvSpPr>
        <p:spPr>
          <a:xfrm>
            <a:off x="8046720" y="4800600"/>
            <a:ext cx="3611880" cy="1417320"/>
          </a:xfrm>
          <a:prstGeom prst="roundRect">
            <a:avLst>
              <a:gd name="adj" fmla="val 5806"/>
            </a:avLst>
          </a:prstGeom>
          <a:solidFill>
            <a:srgbClr val="F4F6FB"/>
          </a:solidFill>
          <a:ln/>
        </p:spPr>
      </p:sp>
      <p:sp>
        <p:nvSpPr>
          <p:cNvPr id="53" name="Shape 43"/>
          <p:cNvSpPr/>
          <p:nvPr/>
        </p:nvSpPr>
        <p:spPr>
          <a:xfrm>
            <a:off x="8247888" y="5001768"/>
            <a:ext cx="566928" cy="566928"/>
          </a:xfrm>
          <a:prstGeom prst="ellipse">
            <a:avLst/>
          </a:prstGeom>
          <a:solidFill>
            <a:srgbClr val="12B5A6"/>
          </a:solidFill>
          <a:ln/>
        </p:spPr>
      </p:sp>
      <p:pic>
        <p:nvPicPr>
          <p:cNvPr id="54" name="Image 8" descr="/home/claude/proj/icons/percent.png"/>
          <p:cNvPicPr>
            <a:picLocks noChangeAspect="1"/>
          </p:cNvPicPr>
          <p:nvPr/>
        </p:nvPicPr>
        <p:blipFill>
          <a:blip r:embed="rId10"/>
          <a:stretch>
            <a:fillRect/>
          </a:stretch>
        </p:blipFill>
        <p:spPr>
          <a:xfrm>
            <a:off x="8327258" y="5081138"/>
            <a:ext cx="408188" cy="408188"/>
          </a:xfrm>
          <a:prstGeom prst="rect">
            <a:avLst/>
          </a:prstGeom>
        </p:spPr>
      </p:pic>
      <p:sp>
        <p:nvSpPr>
          <p:cNvPr id="55" name="Text 44"/>
          <p:cNvSpPr/>
          <p:nvPr/>
        </p:nvSpPr>
        <p:spPr>
          <a:xfrm>
            <a:off x="8961120" y="4946904"/>
            <a:ext cx="2560320" cy="320040"/>
          </a:xfrm>
          <a:prstGeom prst="rect">
            <a:avLst/>
          </a:prstGeom>
          <a:noFill/>
          <a:ln/>
        </p:spPr>
        <p:txBody>
          <a:bodyPr wrap="square" rtlCol="0" anchor="ctr"/>
          <a:lstStyle/>
          <a:p>
            <a:pPr marL="0" indent="0">
              <a:buNone/>
            </a:pPr>
            <a:r>
              <a:rPr lang="en-US" sz="1400" b="1" dirty="0">
                <a:solidFill>
                  <a:srgbClr val="151A45"/>
                </a:solidFill>
                <a:latin typeface="Calibri" pitchFamily="34" charset="0"/>
                <a:ea typeface="Calibri" pitchFamily="34" charset="-122"/>
                <a:cs typeface="Calibri" pitchFamily="34" charset="-120"/>
              </a:rPr>
              <a:t>discount_pct</a:t>
            </a:r>
            <a:endParaRPr lang="en-US" sz="1400" dirty="0"/>
          </a:p>
        </p:txBody>
      </p:sp>
      <p:sp>
        <p:nvSpPr>
          <p:cNvPr id="56" name="Text 45"/>
          <p:cNvSpPr/>
          <p:nvPr/>
        </p:nvSpPr>
        <p:spPr>
          <a:xfrm>
            <a:off x="8961120" y="5257800"/>
            <a:ext cx="2560320" cy="274320"/>
          </a:xfrm>
          <a:prstGeom prst="rect">
            <a:avLst/>
          </a:prstGeom>
          <a:noFill/>
          <a:ln/>
        </p:spPr>
        <p:txBody>
          <a:bodyPr wrap="square" rtlCol="0" anchor="ctr"/>
          <a:lstStyle/>
          <a:p>
            <a:pPr marL="0" indent="0">
              <a:buNone/>
            </a:pPr>
            <a:r>
              <a:rPr lang="en-US" sz="1000" b="1" dirty="0">
                <a:solidFill>
                  <a:srgbClr val="12B5A6"/>
                </a:solidFill>
                <a:latin typeface="Calibri" pitchFamily="34" charset="0"/>
                <a:ea typeface="Calibri" pitchFamily="34" charset="-122"/>
                <a:cs typeface="Calibri" pitchFamily="34" charset="-120"/>
              </a:rPr>
              <a:t>Numeric (%)</a:t>
            </a:r>
            <a:endParaRPr lang="en-US" sz="1000" dirty="0"/>
          </a:p>
        </p:txBody>
      </p:sp>
      <p:sp>
        <p:nvSpPr>
          <p:cNvPr id="57" name="Text 46"/>
          <p:cNvSpPr/>
          <p:nvPr/>
        </p:nvSpPr>
        <p:spPr>
          <a:xfrm>
            <a:off x="8247888" y="5641848"/>
            <a:ext cx="3246120" cy="502920"/>
          </a:xfrm>
          <a:prstGeom prst="rect">
            <a:avLst/>
          </a:prstGeom>
          <a:noFill/>
          <a:ln/>
        </p:spPr>
        <p:txBody>
          <a:bodyPr wrap="square" rtlCol="0" anchor="ctr"/>
          <a:lstStyle/>
          <a:p>
            <a:pPr marL="0" indent="0">
              <a:lnSpc>
                <a:spcPct val="110000"/>
              </a:lnSpc>
              <a:buNone/>
            </a:pPr>
            <a:r>
              <a:rPr lang="en-US" sz="1050" dirty="0">
                <a:solidFill>
                  <a:srgbClr val="3A4266"/>
                </a:solidFill>
                <a:latin typeface="Calibri" pitchFamily="34" charset="0"/>
                <a:ea typeface="Calibri" pitchFamily="34" charset="-122"/>
                <a:cs typeface="Calibri" pitchFamily="34" charset="-120"/>
              </a:rPr>
              <a:t>Markdown: (MRP − Sale)/MRP × 100</a:t>
            </a:r>
            <a:endParaRPr lang="en-US" sz="1050" dirty="0"/>
          </a:p>
        </p:txBody>
      </p:sp>
      <p:sp>
        <p:nvSpPr>
          <p:cNvPr id="58" name="Text 47"/>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892B0"/>
                </a:solidFill>
                <a:latin typeface="Calibri" pitchFamily="34" charset="0"/>
                <a:ea typeface="Calibri" pitchFamily="34" charset="-122"/>
                <a:cs typeface="Calibri" pitchFamily="34" charset="-120"/>
              </a:rPr>
              <a:t>05</a:t>
            </a:r>
            <a:endParaRPr lang="en-US" sz="900" dirty="0"/>
          </a:p>
        </p:txBody>
      </p:sp>
      <p:sp>
        <p:nvSpPr>
          <p:cNvPr id="59" name="Text 48"/>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SmartBasket Analysis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51A45"/>
        </a:solidFill>
        <a:effectLst/>
      </p:bgPr>
    </p:bg>
    <p:spTree>
      <p:nvGrpSpPr>
        <p:cNvPr id="1" name=""/>
        <p:cNvGrpSpPr/>
        <p:nvPr/>
      </p:nvGrpSpPr>
      <p:grpSpPr>
        <a:xfrm>
          <a:off x="0" y="0"/>
          <a:ext cx="0" cy="0"/>
          <a:chOff x="0" y="0"/>
          <a:chExt cx="0" cy="0"/>
        </a:xfrm>
      </p:grpSpPr>
      <p:sp>
        <p:nvSpPr>
          <p:cNvPr id="2" name="Shape 0"/>
          <p:cNvSpPr/>
          <p:nvPr/>
        </p:nvSpPr>
        <p:spPr>
          <a:xfrm>
            <a:off x="-1828800" y="4114800"/>
            <a:ext cx="5029200" cy="5029200"/>
          </a:xfrm>
          <a:prstGeom prst="ellipse">
            <a:avLst/>
          </a:prstGeom>
          <a:solidFill>
            <a:srgbClr val="1E2761"/>
          </a:solidFill>
          <a:ln/>
        </p:spPr>
      </p:sp>
      <p:sp>
        <p:nvSpPr>
          <p:cNvPr id="3" name="Text 1"/>
          <p:cNvSpPr/>
          <p:nvPr/>
        </p:nvSpPr>
        <p:spPr>
          <a:xfrm>
            <a:off x="548640" y="384048"/>
            <a:ext cx="5486400" cy="320040"/>
          </a:xfrm>
          <a:prstGeom prst="rect">
            <a:avLst/>
          </a:prstGeom>
          <a:noFill/>
          <a:ln/>
        </p:spPr>
        <p:txBody>
          <a:bodyPr wrap="square" rtlCol="0" anchor="ctr"/>
          <a:lstStyle/>
          <a:p>
            <a:pPr marL="0" indent="0">
              <a:buNone/>
            </a:pPr>
            <a:r>
              <a:rPr lang="en-US" sz="1250" b="1" kern="0" spc="200" dirty="0">
                <a:solidFill>
                  <a:srgbClr val="17C3E6"/>
                </a:solidFill>
                <a:latin typeface="Calibri" pitchFamily="34" charset="0"/>
                <a:ea typeface="Calibri" pitchFamily="34" charset="-122"/>
                <a:cs typeface="Calibri" pitchFamily="34" charset="-120"/>
              </a:rPr>
              <a:t>SLIDE 07</a:t>
            </a:r>
            <a:endParaRPr lang="en-US" sz="1250" dirty="0"/>
          </a:p>
        </p:txBody>
      </p:sp>
      <p:sp>
        <p:nvSpPr>
          <p:cNvPr id="4" name="Text 2"/>
          <p:cNvSpPr/>
          <p:nvPr/>
        </p:nvSpPr>
        <p:spPr>
          <a:xfrm>
            <a:off x="548640" y="658368"/>
            <a:ext cx="1005840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Technology Stack</a:t>
            </a:r>
            <a:endParaRPr lang="en-US" sz="3000" dirty="0"/>
          </a:p>
        </p:txBody>
      </p:sp>
      <p:sp>
        <p:nvSpPr>
          <p:cNvPr id="5" name="Shape 3"/>
          <p:cNvSpPr/>
          <p:nvPr/>
        </p:nvSpPr>
        <p:spPr>
          <a:xfrm>
            <a:off x="685800" y="1828800"/>
            <a:ext cx="2514600" cy="1920240"/>
          </a:xfrm>
          <a:prstGeom prst="roundRect">
            <a:avLst>
              <a:gd name="adj" fmla="val 4762"/>
            </a:avLst>
          </a:prstGeom>
          <a:solidFill>
            <a:srgbClr val="1E2761"/>
          </a:solidFill>
          <a:ln/>
        </p:spPr>
      </p:sp>
      <p:sp>
        <p:nvSpPr>
          <p:cNvPr id="6" name="Shape 4"/>
          <p:cNvSpPr/>
          <p:nvPr/>
        </p:nvSpPr>
        <p:spPr>
          <a:xfrm>
            <a:off x="1485900" y="2103120"/>
            <a:ext cx="914400" cy="914400"/>
          </a:xfrm>
          <a:prstGeom prst="ellipse">
            <a:avLst/>
          </a:prstGeom>
          <a:solidFill>
            <a:srgbClr val="12B5A6"/>
          </a:solidFill>
          <a:ln/>
        </p:spPr>
      </p:sp>
      <p:pic>
        <p:nvPicPr>
          <p:cNvPr id="7" name="Image 0" descr="/home/claude/proj/icons/python.png"/>
          <p:cNvPicPr>
            <a:picLocks noChangeAspect="1"/>
          </p:cNvPicPr>
          <p:nvPr/>
        </p:nvPicPr>
        <p:blipFill>
          <a:blip r:embed="rId3"/>
          <a:stretch>
            <a:fillRect/>
          </a:stretch>
        </p:blipFill>
        <p:spPr>
          <a:xfrm>
            <a:off x="1613916" y="2231136"/>
            <a:ext cx="658368" cy="658368"/>
          </a:xfrm>
          <a:prstGeom prst="rect">
            <a:avLst/>
          </a:prstGeom>
        </p:spPr>
      </p:pic>
      <p:sp>
        <p:nvSpPr>
          <p:cNvPr id="8" name="Text 5"/>
          <p:cNvSpPr/>
          <p:nvPr/>
        </p:nvSpPr>
        <p:spPr>
          <a:xfrm>
            <a:off x="685800" y="3200400"/>
            <a:ext cx="251460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Python</a:t>
            </a:r>
            <a:endParaRPr lang="en-US" sz="1400" dirty="0"/>
          </a:p>
        </p:txBody>
      </p:sp>
      <p:sp>
        <p:nvSpPr>
          <p:cNvPr id="9" name="Shape 6"/>
          <p:cNvSpPr/>
          <p:nvPr/>
        </p:nvSpPr>
        <p:spPr>
          <a:xfrm>
            <a:off x="3456432" y="1828800"/>
            <a:ext cx="2514600" cy="1920240"/>
          </a:xfrm>
          <a:prstGeom prst="roundRect">
            <a:avLst>
              <a:gd name="adj" fmla="val 4762"/>
            </a:avLst>
          </a:prstGeom>
          <a:solidFill>
            <a:srgbClr val="1E2761"/>
          </a:solidFill>
          <a:ln/>
        </p:spPr>
      </p:sp>
      <p:sp>
        <p:nvSpPr>
          <p:cNvPr id="10" name="Shape 7"/>
          <p:cNvSpPr/>
          <p:nvPr/>
        </p:nvSpPr>
        <p:spPr>
          <a:xfrm>
            <a:off x="4256532" y="2103120"/>
            <a:ext cx="914400" cy="914400"/>
          </a:xfrm>
          <a:prstGeom prst="ellipse">
            <a:avLst/>
          </a:prstGeom>
          <a:solidFill>
            <a:srgbClr val="FF7A33"/>
          </a:solidFill>
          <a:ln/>
        </p:spPr>
      </p:sp>
      <p:pic>
        <p:nvPicPr>
          <p:cNvPr id="11" name="Image 1" descr="/home/claude/proj/icons/pandas.png"/>
          <p:cNvPicPr>
            <a:picLocks noChangeAspect="1"/>
          </p:cNvPicPr>
          <p:nvPr/>
        </p:nvPicPr>
        <p:blipFill>
          <a:blip r:embed="rId4"/>
          <a:stretch>
            <a:fillRect/>
          </a:stretch>
        </p:blipFill>
        <p:spPr>
          <a:xfrm>
            <a:off x="4384548" y="2231136"/>
            <a:ext cx="658368" cy="658368"/>
          </a:xfrm>
          <a:prstGeom prst="rect">
            <a:avLst/>
          </a:prstGeom>
        </p:spPr>
      </p:pic>
      <p:sp>
        <p:nvSpPr>
          <p:cNvPr id="12" name="Text 8"/>
          <p:cNvSpPr/>
          <p:nvPr/>
        </p:nvSpPr>
        <p:spPr>
          <a:xfrm>
            <a:off x="3456432" y="3200400"/>
            <a:ext cx="251460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Pandas</a:t>
            </a:r>
            <a:endParaRPr lang="en-US" sz="1400" dirty="0"/>
          </a:p>
        </p:txBody>
      </p:sp>
      <p:sp>
        <p:nvSpPr>
          <p:cNvPr id="13" name="Shape 9"/>
          <p:cNvSpPr/>
          <p:nvPr/>
        </p:nvSpPr>
        <p:spPr>
          <a:xfrm>
            <a:off x="6227064" y="1828800"/>
            <a:ext cx="2514600" cy="1920240"/>
          </a:xfrm>
          <a:prstGeom prst="roundRect">
            <a:avLst>
              <a:gd name="adj" fmla="val 4762"/>
            </a:avLst>
          </a:prstGeom>
          <a:solidFill>
            <a:srgbClr val="1E2761"/>
          </a:solidFill>
          <a:ln/>
        </p:spPr>
      </p:sp>
      <p:sp>
        <p:nvSpPr>
          <p:cNvPr id="14" name="Shape 10"/>
          <p:cNvSpPr/>
          <p:nvPr/>
        </p:nvSpPr>
        <p:spPr>
          <a:xfrm>
            <a:off x="7027164" y="2103120"/>
            <a:ext cx="914400" cy="914400"/>
          </a:xfrm>
          <a:prstGeom prst="ellipse">
            <a:avLst/>
          </a:prstGeom>
          <a:solidFill>
            <a:srgbClr val="7B2FF7"/>
          </a:solidFill>
          <a:ln/>
        </p:spPr>
      </p:sp>
      <p:pic>
        <p:nvPicPr>
          <p:cNvPr id="15" name="Image 2" descr="/home/claude/proj/icons/numpy.png"/>
          <p:cNvPicPr>
            <a:picLocks noChangeAspect="1"/>
          </p:cNvPicPr>
          <p:nvPr/>
        </p:nvPicPr>
        <p:blipFill>
          <a:blip r:embed="rId5"/>
          <a:stretch>
            <a:fillRect/>
          </a:stretch>
        </p:blipFill>
        <p:spPr>
          <a:xfrm>
            <a:off x="7155180" y="2231136"/>
            <a:ext cx="658368" cy="658368"/>
          </a:xfrm>
          <a:prstGeom prst="rect">
            <a:avLst/>
          </a:prstGeom>
        </p:spPr>
      </p:pic>
      <p:sp>
        <p:nvSpPr>
          <p:cNvPr id="16" name="Text 11"/>
          <p:cNvSpPr/>
          <p:nvPr/>
        </p:nvSpPr>
        <p:spPr>
          <a:xfrm>
            <a:off x="6227064" y="3200400"/>
            <a:ext cx="251460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NumPy</a:t>
            </a:r>
            <a:endParaRPr lang="en-US" sz="1400" dirty="0"/>
          </a:p>
        </p:txBody>
      </p:sp>
      <p:sp>
        <p:nvSpPr>
          <p:cNvPr id="17" name="Shape 12"/>
          <p:cNvSpPr/>
          <p:nvPr/>
        </p:nvSpPr>
        <p:spPr>
          <a:xfrm>
            <a:off x="8997696" y="1828800"/>
            <a:ext cx="2514600" cy="1920240"/>
          </a:xfrm>
          <a:prstGeom prst="roundRect">
            <a:avLst>
              <a:gd name="adj" fmla="val 4762"/>
            </a:avLst>
          </a:prstGeom>
          <a:solidFill>
            <a:srgbClr val="1E2761"/>
          </a:solidFill>
          <a:ln/>
        </p:spPr>
      </p:sp>
      <p:sp>
        <p:nvSpPr>
          <p:cNvPr id="18" name="Shape 13"/>
          <p:cNvSpPr/>
          <p:nvPr/>
        </p:nvSpPr>
        <p:spPr>
          <a:xfrm>
            <a:off x="9797796" y="2103120"/>
            <a:ext cx="914400" cy="914400"/>
          </a:xfrm>
          <a:prstGeom prst="ellipse">
            <a:avLst/>
          </a:prstGeom>
          <a:solidFill>
            <a:srgbClr val="17C3E6"/>
          </a:solidFill>
          <a:ln/>
        </p:spPr>
      </p:sp>
      <p:pic>
        <p:nvPicPr>
          <p:cNvPr id="19" name="Image 3" descr="/home/claude/proj/icons/chartBar.png"/>
          <p:cNvPicPr>
            <a:picLocks noChangeAspect="1"/>
          </p:cNvPicPr>
          <p:nvPr/>
        </p:nvPicPr>
        <p:blipFill>
          <a:blip r:embed="rId6"/>
          <a:stretch>
            <a:fillRect/>
          </a:stretch>
        </p:blipFill>
        <p:spPr>
          <a:xfrm>
            <a:off x="9925812" y="2231136"/>
            <a:ext cx="658368" cy="658368"/>
          </a:xfrm>
          <a:prstGeom prst="rect">
            <a:avLst/>
          </a:prstGeom>
        </p:spPr>
      </p:pic>
      <p:sp>
        <p:nvSpPr>
          <p:cNvPr id="20" name="Text 14"/>
          <p:cNvSpPr/>
          <p:nvPr/>
        </p:nvSpPr>
        <p:spPr>
          <a:xfrm>
            <a:off x="8997696" y="3200400"/>
            <a:ext cx="251460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Matplotlib</a:t>
            </a:r>
            <a:endParaRPr lang="en-US" sz="1400" dirty="0"/>
          </a:p>
        </p:txBody>
      </p:sp>
      <p:sp>
        <p:nvSpPr>
          <p:cNvPr id="21" name="Shape 15"/>
          <p:cNvSpPr/>
          <p:nvPr/>
        </p:nvSpPr>
        <p:spPr>
          <a:xfrm>
            <a:off x="1739646" y="4041648"/>
            <a:ext cx="2514600" cy="1920240"/>
          </a:xfrm>
          <a:prstGeom prst="roundRect">
            <a:avLst>
              <a:gd name="adj" fmla="val 4762"/>
            </a:avLst>
          </a:prstGeom>
          <a:solidFill>
            <a:srgbClr val="1E2761"/>
          </a:solidFill>
          <a:ln/>
        </p:spPr>
      </p:sp>
      <p:sp>
        <p:nvSpPr>
          <p:cNvPr id="22" name="Shape 16"/>
          <p:cNvSpPr/>
          <p:nvPr/>
        </p:nvSpPr>
        <p:spPr>
          <a:xfrm>
            <a:off x="2616327" y="4279392"/>
            <a:ext cx="914400" cy="914400"/>
          </a:xfrm>
          <a:prstGeom prst="ellipse">
            <a:avLst/>
          </a:prstGeom>
          <a:solidFill>
            <a:srgbClr val="12B5A6"/>
          </a:solidFill>
          <a:ln/>
        </p:spPr>
      </p:sp>
      <p:pic>
        <p:nvPicPr>
          <p:cNvPr id="23" name="Image 4" descr="/home/claude/proj/icons/chart.png"/>
          <p:cNvPicPr>
            <a:picLocks noChangeAspect="1"/>
          </p:cNvPicPr>
          <p:nvPr/>
        </p:nvPicPr>
        <p:blipFill>
          <a:blip r:embed="rId7"/>
          <a:stretch>
            <a:fillRect/>
          </a:stretch>
        </p:blipFill>
        <p:spPr>
          <a:xfrm>
            <a:off x="2706624" y="4425696"/>
            <a:ext cx="658368" cy="658368"/>
          </a:xfrm>
          <a:prstGeom prst="rect">
            <a:avLst/>
          </a:prstGeom>
        </p:spPr>
      </p:pic>
      <p:sp>
        <p:nvSpPr>
          <p:cNvPr id="24" name="Text 17"/>
          <p:cNvSpPr/>
          <p:nvPr/>
        </p:nvSpPr>
        <p:spPr>
          <a:xfrm>
            <a:off x="1821319" y="5431536"/>
            <a:ext cx="251460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Seaborn</a:t>
            </a:r>
            <a:endParaRPr lang="en-US" sz="1400" dirty="0"/>
          </a:p>
        </p:txBody>
      </p:sp>
      <p:sp>
        <p:nvSpPr>
          <p:cNvPr id="25" name="Shape 18"/>
          <p:cNvSpPr/>
          <p:nvPr/>
        </p:nvSpPr>
        <p:spPr>
          <a:xfrm>
            <a:off x="4917186" y="4083304"/>
            <a:ext cx="2514600" cy="1920240"/>
          </a:xfrm>
          <a:prstGeom prst="roundRect">
            <a:avLst>
              <a:gd name="adj" fmla="val 4762"/>
            </a:avLst>
          </a:prstGeom>
          <a:solidFill>
            <a:srgbClr val="1E2761"/>
          </a:solidFill>
          <a:ln/>
        </p:spPr>
      </p:sp>
      <p:sp>
        <p:nvSpPr>
          <p:cNvPr id="26" name="Shape 19"/>
          <p:cNvSpPr/>
          <p:nvPr/>
        </p:nvSpPr>
        <p:spPr>
          <a:xfrm>
            <a:off x="5715000" y="4233672"/>
            <a:ext cx="914400" cy="914400"/>
          </a:xfrm>
          <a:prstGeom prst="ellipse">
            <a:avLst/>
          </a:prstGeom>
          <a:solidFill>
            <a:srgbClr val="FF7A33"/>
          </a:solidFill>
          <a:ln/>
        </p:spPr>
      </p:sp>
      <p:pic>
        <p:nvPicPr>
          <p:cNvPr id="27" name="Image 5" descr="/home/claude/proj/icons/jupyter.png"/>
          <p:cNvPicPr>
            <a:picLocks noChangeAspect="1"/>
          </p:cNvPicPr>
          <p:nvPr/>
        </p:nvPicPr>
        <p:blipFill>
          <a:blip r:embed="rId8"/>
          <a:stretch>
            <a:fillRect/>
          </a:stretch>
        </p:blipFill>
        <p:spPr>
          <a:xfrm>
            <a:off x="5641848" y="4402328"/>
            <a:ext cx="658368" cy="658368"/>
          </a:xfrm>
          <a:prstGeom prst="rect">
            <a:avLst/>
          </a:prstGeom>
        </p:spPr>
      </p:pic>
      <p:sp>
        <p:nvSpPr>
          <p:cNvPr id="28" name="Text 20"/>
          <p:cNvSpPr/>
          <p:nvPr/>
        </p:nvSpPr>
        <p:spPr>
          <a:xfrm>
            <a:off x="4925568" y="5385816"/>
            <a:ext cx="251460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Jupyter</a:t>
            </a:r>
            <a:endParaRPr lang="en-US" sz="1400" dirty="0"/>
          </a:p>
        </p:txBody>
      </p:sp>
      <p:sp>
        <p:nvSpPr>
          <p:cNvPr id="29" name="Shape 21"/>
          <p:cNvSpPr/>
          <p:nvPr/>
        </p:nvSpPr>
        <p:spPr>
          <a:xfrm>
            <a:off x="8092440" y="4023360"/>
            <a:ext cx="2514600" cy="1920240"/>
          </a:xfrm>
          <a:prstGeom prst="roundRect">
            <a:avLst>
              <a:gd name="adj" fmla="val 4762"/>
            </a:avLst>
          </a:prstGeom>
          <a:solidFill>
            <a:srgbClr val="1E2761"/>
          </a:solidFill>
          <a:ln/>
        </p:spPr>
      </p:sp>
      <p:sp>
        <p:nvSpPr>
          <p:cNvPr id="30" name="Shape 22"/>
          <p:cNvSpPr/>
          <p:nvPr/>
        </p:nvSpPr>
        <p:spPr>
          <a:xfrm>
            <a:off x="8892540" y="4233672"/>
            <a:ext cx="914400" cy="914400"/>
          </a:xfrm>
          <a:prstGeom prst="ellipse">
            <a:avLst/>
          </a:prstGeom>
          <a:solidFill>
            <a:srgbClr val="7B2FF7"/>
          </a:solidFill>
          <a:ln/>
        </p:spPr>
      </p:sp>
      <p:pic>
        <p:nvPicPr>
          <p:cNvPr id="31" name="Image 6" descr="/home/claude/proj/icons/fileExcel.png"/>
          <p:cNvPicPr>
            <a:picLocks noChangeAspect="1"/>
          </p:cNvPicPr>
          <p:nvPr/>
        </p:nvPicPr>
        <p:blipFill>
          <a:blip r:embed="rId9"/>
          <a:stretch>
            <a:fillRect/>
          </a:stretch>
        </p:blipFill>
        <p:spPr>
          <a:xfrm>
            <a:off x="9139428" y="4334256"/>
            <a:ext cx="658368" cy="658368"/>
          </a:xfrm>
          <a:prstGeom prst="rect">
            <a:avLst/>
          </a:prstGeom>
        </p:spPr>
      </p:pic>
      <p:sp>
        <p:nvSpPr>
          <p:cNvPr id="32" name="Text 23"/>
          <p:cNvSpPr/>
          <p:nvPr/>
        </p:nvSpPr>
        <p:spPr>
          <a:xfrm>
            <a:off x="8109204" y="5385816"/>
            <a:ext cx="251460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CSV Data</a:t>
            </a:r>
            <a:endParaRPr lang="en-US" sz="1400" dirty="0"/>
          </a:p>
        </p:txBody>
      </p:sp>
      <p:sp>
        <p:nvSpPr>
          <p:cNvPr id="36" name="Text 26"/>
          <p:cNvSpPr/>
          <p:nvPr/>
        </p:nvSpPr>
        <p:spPr>
          <a:xfrm>
            <a:off x="8997696" y="5394960"/>
            <a:ext cx="2514600" cy="365760"/>
          </a:xfrm>
          <a:prstGeom prst="rect">
            <a:avLst/>
          </a:prstGeom>
          <a:noFill/>
          <a:ln/>
        </p:spPr>
        <p:txBody>
          <a:bodyPr wrap="square" rtlCol="0" anchor="ctr"/>
          <a:lstStyle/>
          <a:p>
            <a:pPr marL="0" indent="0" algn="ctr">
              <a:buNone/>
            </a:pPr>
            <a:endParaRPr lang="en-US" sz="1400" b="1" dirty="0">
              <a:solidFill>
                <a:srgbClr val="FFFFFF"/>
              </a:solidFill>
              <a:latin typeface="Calibri" pitchFamily="34" charset="0"/>
              <a:ea typeface="Calibri" pitchFamily="34" charset="-122"/>
              <a:cs typeface="Calibri" pitchFamily="34" charset="-120"/>
            </a:endParaRPr>
          </a:p>
          <a:p>
            <a:pPr marL="0" indent="0" algn="ctr">
              <a:buNone/>
            </a:pPr>
            <a:endParaRPr lang="en-US" sz="1400" dirty="0"/>
          </a:p>
        </p:txBody>
      </p:sp>
      <p:sp>
        <p:nvSpPr>
          <p:cNvPr id="37" name="Text 27"/>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892B0"/>
                </a:solidFill>
                <a:latin typeface="Calibri" pitchFamily="34" charset="0"/>
                <a:ea typeface="Calibri" pitchFamily="34" charset="-122"/>
                <a:cs typeface="Calibri" pitchFamily="34" charset="-120"/>
              </a:rPr>
              <a:t>06</a:t>
            </a:r>
            <a:endParaRPr lang="en-US" sz="900" dirty="0"/>
          </a:p>
        </p:txBody>
      </p:sp>
      <p:sp>
        <p:nvSpPr>
          <p:cNvPr id="38" name="Text 28"/>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SmartBasket Analysis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50" b="1" kern="0" spc="200" dirty="0">
                <a:solidFill>
                  <a:srgbClr val="FF7A33"/>
                </a:solidFill>
                <a:latin typeface="Calibri" pitchFamily="34" charset="0"/>
                <a:ea typeface="Calibri" pitchFamily="34" charset="-122"/>
                <a:cs typeface="Calibri" pitchFamily="34" charset="-120"/>
              </a:rPr>
              <a:t>SLIDE 08</a:t>
            </a:r>
            <a:endParaRPr lang="en-US" sz="125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51A45"/>
                </a:solidFill>
                <a:latin typeface="Cambria" pitchFamily="34" charset="0"/>
                <a:ea typeface="Cambria" pitchFamily="34" charset="-122"/>
                <a:cs typeface="Cambria" pitchFamily="34" charset="-120"/>
              </a:rPr>
              <a:t>Project Workflow</a:t>
            </a:r>
            <a:endParaRPr lang="en-US" sz="3000" dirty="0"/>
          </a:p>
        </p:txBody>
      </p:sp>
      <p:sp>
        <p:nvSpPr>
          <p:cNvPr id="4" name="Shape 2"/>
          <p:cNvSpPr/>
          <p:nvPr/>
        </p:nvSpPr>
        <p:spPr>
          <a:xfrm>
            <a:off x="1074420" y="3543300"/>
            <a:ext cx="10012680" cy="0"/>
          </a:xfrm>
          <a:prstGeom prst="line">
            <a:avLst/>
          </a:prstGeom>
          <a:noFill/>
          <a:ln w="38100">
            <a:solidFill>
              <a:srgbClr val="D7DCEA"/>
            </a:solidFill>
            <a:prstDash val="solid"/>
          </a:ln>
        </p:spPr>
      </p:sp>
      <p:sp>
        <p:nvSpPr>
          <p:cNvPr id="5" name="Shape 3"/>
          <p:cNvSpPr/>
          <p:nvPr/>
        </p:nvSpPr>
        <p:spPr>
          <a:xfrm>
            <a:off x="548640" y="3017520"/>
            <a:ext cx="1051560" cy="1051560"/>
          </a:xfrm>
          <a:prstGeom prst="ellipse">
            <a:avLst/>
          </a:prstGeom>
          <a:solidFill>
            <a:srgbClr val="12B5A6"/>
          </a:solidFill>
          <a:ln/>
        </p:spPr>
      </p:sp>
      <p:pic>
        <p:nvPicPr>
          <p:cNvPr id="6" name="Image 0" descr="/home/claude/proj/icons/download.png"/>
          <p:cNvPicPr>
            <a:picLocks noChangeAspect="1"/>
          </p:cNvPicPr>
          <p:nvPr/>
        </p:nvPicPr>
        <p:blipFill>
          <a:blip r:embed="rId3"/>
          <a:stretch>
            <a:fillRect/>
          </a:stretch>
        </p:blipFill>
        <p:spPr>
          <a:xfrm>
            <a:off x="716890" y="3185770"/>
            <a:ext cx="715061" cy="715061"/>
          </a:xfrm>
          <a:prstGeom prst="rect">
            <a:avLst/>
          </a:prstGeom>
        </p:spPr>
      </p:pic>
      <p:sp>
        <p:nvSpPr>
          <p:cNvPr id="7" name="Text 4"/>
          <p:cNvSpPr/>
          <p:nvPr/>
        </p:nvSpPr>
        <p:spPr>
          <a:xfrm>
            <a:off x="45720" y="4233672"/>
            <a:ext cx="2057400" cy="548640"/>
          </a:xfrm>
          <a:prstGeom prst="rect">
            <a:avLst/>
          </a:prstGeom>
          <a:noFill/>
          <a:ln/>
        </p:spPr>
        <p:txBody>
          <a:bodyPr wrap="square" rtlCol="0" anchor="ctr"/>
          <a:lstStyle/>
          <a:p>
            <a:pPr marL="0" indent="0" algn="ctr">
              <a:buNone/>
            </a:pPr>
            <a:r>
              <a:rPr lang="en-US" sz="1200" b="1" dirty="0">
                <a:solidFill>
                  <a:srgbClr val="151A45"/>
                </a:solidFill>
                <a:latin typeface="Calibri" pitchFamily="34" charset="0"/>
                <a:ea typeface="Calibri" pitchFamily="34" charset="-122"/>
                <a:cs typeface="Calibri" pitchFamily="34" charset="-120"/>
              </a:rPr>
              <a:t>Data Collection</a:t>
            </a:r>
            <a:endParaRPr lang="en-US" sz="1200" dirty="0"/>
          </a:p>
        </p:txBody>
      </p:sp>
      <p:sp>
        <p:nvSpPr>
          <p:cNvPr id="8" name="Shape 5"/>
          <p:cNvSpPr/>
          <p:nvPr/>
        </p:nvSpPr>
        <p:spPr>
          <a:xfrm>
            <a:off x="411480" y="2514600"/>
            <a:ext cx="1325880" cy="365760"/>
          </a:xfrm>
          <a:prstGeom prst="roundRect">
            <a:avLst>
              <a:gd name="adj" fmla="val 20000"/>
            </a:avLst>
          </a:prstGeom>
          <a:solidFill>
            <a:srgbClr val="F4F6FB"/>
          </a:solidFill>
          <a:ln/>
        </p:spPr>
      </p:sp>
      <p:sp>
        <p:nvSpPr>
          <p:cNvPr id="9" name="Text 6"/>
          <p:cNvSpPr/>
          <p:nvPr/>
        </p:nvSpPr>
        <p:spPr>
          <a:xfrm>
            <a:off x="411480" y="2514600"/>
            <a:ext cx="1325880" cy="365760"/>
          </a:xfrm>
          <a:prstGeom prst="rect">
            <a:avLst/>
          </a:prstGeom>
          <a:noFill/>
          <a:ln/>
        </p:spPr>
        <p:txBody>
          <a:bodyPr wrap="square" rtlCol="0" anchor="ctr"/>
          <a:lstStyle/>
          <a:p>
            <a:pPr marL="0" indent="0" algn="ctr">
              <a:buNone/>
            </a:pPr>
            <a:r>
              <a:rPr lang="en-US" sz="950" b="1" dirty="0">
                <a:solidFill>
                  <a:srgbClr val="12B5A6"/>
                </a:solidFill>
                <a:latin typeface="Calibri" pitchFamily="34" charset="0"/>
                <a:ea typeface="Calibri" pitchFamily="34" charset="-122"/>
                <a:cs typeface="Calibri" pitchFamily="34" charset="-120"/>
              </a:rPr>
              <a:t>STEP 1</a:t>
            </a:r>
            <a:endParaRPr lang="en-US" sz="950" dirty="0"/>
          </a:p>
        </p:txBody>
      </p:sp>
      <p:sp>
        <p:nvSpPr>
          <p:cNvPr id="10" name="Shape 7"/>
          <p:cNvSpPr/>
          <p:nvPr/>
        </p:nvSpPr>
        <p:spPr>
          <a:xfrm>
            <a:off x="2551176" y="3017520"/>
            <a:ext cx="1051560" cy="1051560"/>
          </a:xfrm>
          <a:prstGeom prst="ellipse">
            <a:avLst/>
          </a:prstGeom>
          <a:solidFill>
            <a:srgbClr val="FF7A33"/>
          </a:solidFill>
          <a:ln/>
        </p:spPr>
      </p:sp>
      <p:pic>
        <p:nvPicPr>
          <p:cNvPr id="11" name="Image 1" descr="/home/claude/proj/icons/broom.png"/>
          <p:cNvPicPr>
            <a:picLocks noChangeAspect="1"/>
          </p:cNvPicPr>
          <p:nvPr/>
        </p:nvPicPr>
        <p:blipFill>
          <a:blip r:embed="rId4"/>
          <a:stretch>
            <a:fillRect/>
          </a:stretch>
        </p:blipFill>
        <p:spPr>
          <a:xfrm>
            <a:off x="2719426" y="3185770"/>
            <a:ext cx="715061" cy="715061"/>
          </a:xfrm>
          <a:prstGeom prst="rect">
            <a:avLst/>
          </a:prstGeom>
        </p:spPr>
      </p:pic>
      <p:sp>
        <p:nvSpPr>
          <p:cNvPr id="12" name="Text 8"/>
          <p:cNvSpPr/>
          <p:nvPr/>
        </p:nvSpPr>
        <p:spPr>
          <a:xfrm>
            <a:off x="2048256" y="4233672"/>
            <a:ext cx="2057400" cy="548640"/>
          </a:xfrm>
          <a:prstGeom prst="rect">
            <a:avLst/>
          </a:prstGeom>
          <a:noFill/>
          <a:ln/>
        </p:spPr>
        <p:txBody>
          <a:bodyPr wrap="square" rtlCol="0" anchor="ctr"/>
          <a:lstStyle/>
          <a:p>
            <a:pPr marL="0" indent="0" algn="ctr">
              <a:buNone/>
            </a:pPr>
            <a:r>
              <a:rPr lang="en-US" sz="1200" b="1" dirty="0">
                <a:solidFill>
                  <a:srgbClr val="151A45"/>
                </a:solidFill>
                <a:latin typeface="Calibri" pitchFamily="34" charset="0"/>
                <a:ea typeface="Calibri" pitchFamily="34" charset="-122"/>
                <a:cs typeface="Calibri" pitchFamily="34" charset="-120"/>
              </a:rPr>
              <a:t>Cleaning</a:t>
            </a:r>
            <a:endParaRPr lang="en-US" sz="1200" dirty="0"/>
          </a:p>
        </p:txBody>
      </p:sp>
      <p:sp>
        <p:nvSpPr>
          <p:cNvPr id="13" name="Shape 9"/>
          <p:cNvSpPr/>
          <p:nvPr/>
        </p:nvSpPr>
        <p:spPr>
          <a:xfrm>
            <a:off x="2414016" y="2514600"/>
            <a:ext cx="1325880" cy="365760"/>
          </a:xfrm>
          <a:prstGeom prst="roundRect">
            <a:avLst>
              <a:gd name="adj" fmla="val 20000"/>
            </a:avLst>
          </a:prstGeom>
          <a:solidFill>
            <a:srgbClr val="F4F6FB"/>
          </a:solidFill>
          <a:ln/>
        </p:spPr>
      </p:sp>
      <p:sp>
        <p:nvSpPr>
          <p:cNvPr id="14" name="Text 10"/>
          <p:cNvSpPr/>
          <p:nvPr/>
        </p:nvSpPr>
        <p:spPr>
          <a:xfrm>
            <a:off x="2414016" y="2514600"/>
            <a:ext cx="1325880" cy="365760"/>
          </a:xfrm>
          <a:prstGeom prst="rect">
            <a:avLst/>
          </a:prstGeom>
          <a:noFill/>
          <a:ln/>
        </p:spPr>
        <p:txBody>
          <a:bodyPr wrap="square" rtlCol="0" anchor="ctr"/>
          <a:lstStyle/>
          <a:p>
            <a:pPr marL="0" indent="0" algn="ctr">
              <a:buNone/>
            </a:pPr>
            <a:r>
              <a:rPr lang="en-US" sz="950" b="1" dirty="0">
                <a:solidFill>
                  <a:srgbClr val="FF7A33"/>
                </a:solidFill>
                <a:latin typeface="Calibri" pitchFamily="34" charset="0"/>
                <a:ea typeface="Calibri" pitchFamily="34" charset="-122"/>
                <a:cs typeface="Calibri" pitchFamily="34" charset="-120"/>
              </a:rPr>
              <a:t>STEP 2</a:t>
            </a:r>
            <a:endParaRPr lang="en-US" sz="950" dirty="0"/>
          </a:p>
        </p:txBody>
      </p:sp>
      <p:sp>
        <p:nvSpPr>
          <p:cNvPr id="15" name="Shape 11"/>
          <p:cNvSpPr/>
          <p:nvPr/>
        </p:nvSpPr>
        <p:spPr>
          <a:xfrm>
            <a:off x="4553712" y="3017520"/>
            <a:ext cx="1051560" cy="1051560"/>
          </a:xfrm>
          <a:prstGeom prst="ellipse">
            <a:avLst/>
          </a:prstGeom>
          <a:solidFill>
            <a:srgbClr val="7B2FF7"/>
          </a:solidFill>
          <a:ln/>
        </p:spPr>
      </p:sp>
      <p:pic>
        <p:nvPicPr>
          <p:cNvPr id="16" name="Image 2" descr="/home/claude/proj/icons/search.png"/>
          <p:cNvPicPr>
            <a:picLocks noChangeAspect="1"/>
          </p:cNvPicPr>
          <p:nvPr/>
        </p:nvPicPr>
        <p:blipFill>
          <a:blip r:embed="rId5"/>
          <a:stretch>
            <a:fillRect/>
          </a:stretch>
        </p:blipFill>
        <p:spPr>
          <a:xfrm>
            <a:off x="4721962" y="3185770"/>
            <a:ext cx="715061" cy="715061"/>
          </a:xfrm>
          <a:prstGeom prst="rect">
            <a:avLst/>
          </a:prstGeom>
        </p:spPr>
      </p:pic>
      <p:sp>
        <p:nvSpPr>
          <p:cNvPr id="17" name="Text 12"/>
          <p:cNvSpPr/>
          <p:nvPr/>
        </p:nvSpPr>
        <p:spPr>
          <a:xfrm>
            <a:off x="4050792" y="4233672"/>
            <a:ext cx="2057400" cy="548640"/>
          </a:xfrm>
          <a:prstGeom prst="rect">
            <a:avLst/>
          </a:prstGeom>
          <a:noFill/>
          <a:ln/>
        </p:spPr>
        <p:txBody>
          <a:bodyPr wrap="square" rtlCol="0" anchor="ctr"/>
          <a:lstStyle/>
          <a:p>
            <a:pPr marL="0" indent="0" algn="ctr">
              <a:buNone/>
            </a:pPr>
            <a:r>
              <a:rPr lang="en-US" sz="1200" b="1" dirty="0">
                <a:solidFill>
                  <a:srgbClr val="151A45"/>
                </a:solidFill>
                <a:latin typeface="Calibri" pitchFamily="34" charset="0"/>
                <a:ea typeface="Calibri" pitchFamily="34" charset="-122"/>
                <a:cs typeface="Calibri" pitchFamily="34" charset="-120"/>
              </a:rPr>
              <a:t>EDA</a:t>
            </a:r>
            <a:endParaRPr lang="en-US" sz="1200" dirty="0"/>
          </a:p>
        </p:txBody>
      </p:sp>
      <p:sp>
        <p:nvSpPr>
          <p:cNvPr id="18" name="Shape 13"/>
          <p:cNvSpPr/>
          <p:nvPr/>
        </p:nvSpPr>
        <p:spPr>
          <a:xfrm>
            <a:off x="4416552" y="2514600"/>
            <a:ext cx="1325880" cy="365760"/>
          </a:xfrm>
          <a:prstGeom prst="roundRect">
            <a:avLst>
              <a:gd name="adj" fmla="val 20000"/>
            </a:avLst>
          </a:prstGeom>
          <a:solidFill>
            <a:srgbClr val="F4F6FB"/>
          </a:solidFill>
          <a:ln/>
        </p:spPr>
      </p:sp>
      <p:sp>
        <p:nvSpPr>
          <p:cNvPr id="19" name="Text 14"/>
          <p:cNvSpPr/>
          <p:nvPr/>
        </p:nvSpPr>
        <p:spPr>
          <a:xfrm>
            <a:off x="4416552" y="2514600"/>
            <a:ext cx="1325880" cy="365760"/>
          </a:xfrm>
          <a:prstGeom prst="rect">
            <a:avLst/>
          </a:prstGeom>
          <a:noFill/>
          <a:ln/>
        </p:spPr>
        <p:txBody>
          <a:bodyPr wrap="square" rtlCol="0" anchor="ctr"/>
          <a:lstStyle/>
          <a:p>
            <a:pPr marL="0" indent="0" algn="ctr">
              <a:buNone/>
            </a:pPr>
            <a:r>
              <a:rPr lang="en-US" sz="950" b="1" dirty="0">
                <a:solidFill>
                  <a:srgbClr val="7B2FF7"/>
                </a:solidFill>
                <a:latin typeface="Calibri" pitchFamily="34" charset="0"/>
                <a:ea typeface="Calibri" pitchFamily="34" charset="-122"/>
                <a:cs typeface="Calibri" pitchFamily="34" charset="-120"/>
              </a:rPr>
              <a:t>STEP 3</a:t>
            </a:r>
            <a:endParaRPr lang="en-US" sz="950" dirty="0"/>
          </a:p>
        </p:txBody>
      </p:sp>
      <p:sp>
        <p:nvSpPr>
          <p:cNvPr id="20" name="Shape 15"/>
          <p:cNvSpPr/>
          <p:nvPr/>
        </p:nvSpPr>
        <p:spPr>
          <a:xfrm>
            <a:off x="6556248" y="3017520"/>
            <a:ext cx="1051560" cy="1051560"/>
          </a:xfrm>
          <a:prstGeom prst="ellipse">
            <a:avLst/>
          </a:prstGeom>
          <a:solidFill>
            <a:srgbClr val="17C3E6"/>
          </a:solidFill>
          <a:ln/>
        </p:spPr>
      </p:sp>
      <p:pic>
        <p:nvPicPr>
          <p:cNvPr id="21" name="Image 3" descr="/home/claude/proj/icons/chartBar.png"/>
          <p:cNvPicPr>
            <a:picLocks noChangeAspect="1"/>
          </p:cNvPicPr>
          <p:nvPr/>
        </p:nvPicPr>
        <p:blipFill>
          <a:blip r:embed="rId6"/>
          <a:stretch>
            <a:fillRect/>
          </a:stretch>
        </p:blipFill>
        <p:spPr>
          <a:xfrm>
            <a:off x="6724498" y="3185770"/>
            <a:ext cx="715061" cy="715061"/>
          </a:xfrm>
          <a:prstGeom prst="rect">
            <a:avLst/>
          </a:prstGeom>
        </p:spPr>
      </p:pic>
      <p:sp>
        <p:nvSpPr>
          <p:cNvPr id="22" name="Text 16"/>
          <p:cNvSpPr/>
          <p:nvPr/>
        </p:nvSpPr>
        <p:spPr>
          <a:xfrm>
            <a:off x="6053328" y="4233672"/>
            <a:ext cx="2057400" cy="548640"/>
          </a:xfrm>
          <a:prstGeom prst="rect">
            <a:avLst/>
          </a:prstGeom>
          <a:noFill/>
          <a:ln/>
        </p:spPr>
        <p:txBody>
          <a:bodyPr wrap="square" rtlCol="0" anchor="ctr"/>
          <a:lstStyle/>
          <a:p>
            <a:pPr marL="0" indent="0" algn="ctr">
              <a:buNone/>
            </a:pPr>
            <a:r>
              <a:rPr lang="en-US" sz="1200" b="1" dirty="0">
                <a:solidFill>
                  <a:srgbClr val="151A45"/>
                </a:solidFill>
                <a:latin typeface="Calibri" pitchFamily="34" charset="0"/>
                <a:ea typeface="Calibri" pitchFamily="34" charset="-122"/>
                <a:cs typeface="Calibri" pitchFamily="34" charset="-120"/>
              </a:rPr>
              <a:t>Visualization</a:t>
            </a:r>
            <a:endParaRPr lang="en-US" sz="1200" dirty="0"/>
          </a:p>
        </p:txBody>
      </p:sp>
      <p:sp>
        <p:nvSpPr>
          <p:cNvPr id="23" name="Shape 17"/>
          <p:cNvSpPr/>
          <p:nvPr/>
        </p:nvSpPr>
        <p:spPr>
          <a:xfrm>
            <a:off x="6419088" y="2514600"/>
            <a:ext cx="1325880" cy="365760"/>
          </a:xfrm>
          <a:prstGeom prst="roundRect">
            <a:avLst>
              <a:gd name="adj" fmla="val 20000"/>
            </a:avLst>
          </a:prstGeom>
          <a:solidFill>
            <a:srgbClr val="F4F6FB"/>
          </a:solidFill>
          <a:ln/>
        </p:spPr>
      </p:sp>
      <p:sp>
        <p:nvSpPr>
          <p:cNvPr id="24" name="Text 18"/>
          <p:cNvSpPr/>
          <p:nvPr/>
        </p:nvSpPr>
        <p:spPr>
          <a:xfrm>
            <a:off x="6419088" y="2514600"/>
            <a:ext cx="1325880" cy="365760"/>
          </a:xfrm>
          <a:prstGeom prst="rect">
            <a:avLst/>
          </a:prstGeom>
          <a:noFill/>
          <a:ln/>
        </p:spPr>
        <p:txBody>
          <a:bodyPr wrap="square" rtlCol="0" anchor="ctr"/>
          <a:lstStyle/>
          <a:p>
            <a:pPr marL="0" indent="0" algn="ctr">
              <a:buNone/>
            </a:pPr>
            <a:r>
              <a:rPr lang="en-US" sz="950" b="1" dirty="0">
                <a:solidFill>
                  <a:srgbClr val="17C3E6"/>
                </a:solidFill>
                <a:latin typeface="Calibri" pitchFamily="34" charset="0"/>
                <a:ea typeface="Calibri" pitchFamily="34" charset="-122"/>
                <a:cs typeface="Calibri" pitchFamily="34" charset="-120"/>
              </a:rPr>
              <a:t>STEP 4</a:t>
            </a:r>
            <a:endParaRPr lang="en-US" sz="950" dirty="0"/>
          </a:p>
        </p:txBody>
      </p:sp>
      <p:sp>
        <p:nvSpPr>
          <p:cNvPr id="25" name="Shape 19"/>
          <p:cNvSpPr/>
          <p:nvPr/>
        </p:nvSpPr>
        <p:spPr>
          <a:xfrm>
            <a:off x="8558784" y="3017520"/>
            <a:ext cx="1051560" cy="1051560"/>
          </a:xfrm>
          <a:prstGeom prst="ellipse">
            <a:avLst/>
          </a:prstGeom>
          <a:solidFill>
            <a:srgbClr val="12B5A6"/>
          </a:solidFill>
          <a:ln/>
        </p:spPr>
      </p:sp>
      <p:pic>
        <p:nvPicPr>
          <p:cNvPr id="26" name="Image 4" descr="/home/claude/proj/icons/bulb.png"/>
          <p:cNvPicPr>
            <a:picLocks noChangeAspect="1"/>
          </p:cNvPicPr>
          <p:nvPr/>
        </p:nvPicPr>
        <p:blipFill>
          <a:blip r:embed="rId7"/>
          <a:stretch>
            <a:fillRect/>
          </a:stretch>
        </p:blipFill>
        <p:spPr>
          <a:xfrm>
            <a:off x="8825645" y="3173425"/>
            <a:ext cx="715061" cy="715061"/>
          </a:xfrm>
          <a:prstGeom prst="rect">
            <a:avLst/>
          </a:prstGeom>
        </p:spPr>
      </p:pic>
      <p:sp>
        <p:nvSpPr>
          <p:cNvPr id="27" name="Text 20"/>
          <p:cNvSpPr/>
          <p:nvPr/>
        </p:nvSpPr>
        <p:spPr>
          <a:xfrm>
            <a:off x="8055864" y="4233672"/>
            <a:ext cx="2057400" cy="548640"/>
          </a:xfrm>
          <a:prstGeom prst="rect">
            <a:avLst/>
          </a:prstGeom>
          <a:noFill/>
          <a:ln/>
        </p:spPr>
        <p:txBody>
          <a:bodyPr wrap="square" rtlCol="0" anchor="ctr"/>
          <a:lstStyle/>
          <a:p>
            <a:pPr marL="0" indent="0" algn="ctr">
              <a:buNone/>
            </a:pPr>
            <a:r>
              <a:rPr lang="en-US" sz="1200" b="1" dirty="0">
                <a:solidFill>
                  <a:srgbClr val="151A45"/>
                </a:solidFill>
                <a:latin typeface="Calibri" pitchFamily="34" charset="0"/>
                <a:ea typeface="Calibri" pitchFamily="34" charset="-122"/>
                <a:cs typeface="Calibri" pitchFamily="34" charset="-120"/>
              </a:rPr>
              <a:t>Insights</a:t>
            </a:r>
            <a:endParaRPr lang="en-US" sz="1200" dirty="0"/>
          </a:p>
        </p:txBody>
      </p:sp>
      <p:sp>
        <p:nvSpPr>
          <p:cNvPr id="28" name="Shape 21"/>
          <p:cNvSpPr/>
          <p:nvPr/>
        </p:nvSpPr>
        <p:spPr>
          <a:xfrm>
            <a:off x="8421624" y="2514600"/>
            <a:ext cx="1325880" cy="365760"/>
          </a:xfrm>
          <a:prstGeom prst="roundRect">
            <a:avLst>
              <a:gd name="adj" fmla="val 20000"/>
            </a:avLst>
          </a:prstGeom>
          <a:solidFill>
            <a:srgbClr val="F4F6FB"/>
          </a:solidFill>
          <a:ln/>
        </p:spPr>
      </p:sp>
      <p:sp>
        <p:nvSpPr>
          <p:cNvPr id="29" name="Text 22"/>
          <p:cNvSpPr/>
          <p:nvPr/>
        </p:nvSpPr>
        <p:spPr>
          <a:xfrm>
            <a:off x="8421624" y="2514600"/>
            <a:ext cx="1325880" cy="365760"/>
          </a:xfrm>
          <a:prstGeom prst="rect">
            <a:avLst/>
          </a:prstGeom>
          <a:noFill/>
          <a:ln/>
        </p:spPr>
        <p:txBody>
          <a:bodyPr wrap="square" rtlCol="0" anchor="ctr"/>
          <a:lstStyle/>
          <a:p>
            <a:pPr marL="0" indent="0" algn="ctr">
              <a:buNone/>
            </a:pPr>
            <a:r>
              <a:rPr lang="en-US" sz="950" b="1" dirty="0">
                <a:solidFill>
                  <a:srgbClr val="12B5A6"/>
                </a:solidFill>
                <a:latin typeface="Calibri" pitchFamily="34" charset="0"/>
                <a:ea typeface="Calibri" pitchFamily="34" charset="-122"/>
                <a:cs typeface="Calibri" pitchFamily="34" charset="-120"/>
              </a:rPr>
              <a:t>STEP 5</a:t>
            </a:r>
            <a:endParaRPr lang="en-US" sz="950" dirty="0"/>
          </a:p>
        </p:txBody>
      </p:sp>
      <p:sp>
        <p:nvSpPr>
          <p:cNvPr id="30" name="Shape 23"/>
          <p:cNvSpPr/>
          <p:nvPr/>
        </p:nvSpPr>
        <p:spPr>
          <a:xfrm>
            <a:off x="10561320" y="3017520"/>
            <a:ext cx="1051560" cy="1051560"/>
          </a:xfrm>
          <a:prstGeom prst="ellipse">
            <a:avLst/>
          </a:prstGeom>
          <a:solidFill>
            <a:srgbClr val="FF7A33"/>
          </a:solidFill>
          <a:ln/>
        </p:spPr>
      </p:sp>
      <p:pic>
        <p:nvPicPr>
          <p:cNvPr id="31" name="Image 5" descr="/home/claude/proj/icons/flag.png"/>
          <p:cNvPicPr>
            <a:picLocks noChangeAspect="1"/>
          </p:cNvPicPr>
          <p:nvPr/>
        </p:nvPicPr>
        <p:blipFill>
          <a:blip r:embed="rId8"/>
          <a:stretch>
            <a:fillRect/>
          </a:stretch>
        </p:blipFill>
        <p:spPr>
          <a:xfrm>
            <a:off x="10729570" y="3185770"/>
            <a:ext cx="715061" cy="715061"/>
          </a:xfrm>
          <a:prstGeom prst="rect">
            <a:avLst/>
          </a:prstGeom>
        </p:spPr>
      </p:pic>
      <p:sp>
        <p:nvSpPr>
          <p:cNvPr id="32" name="Text 24"/>
          <p:cNvSpPr/>
          <p:nvPr/>
        </p:nvSpPr>
        <p:spPr>
          <a:xfrm>
            <a:off x="10058400" y="4233672"/>
            <a:ext cx="2057400" cy="548640"/>
          </a:xfrm>
          <a:prstGeom prst="rect">
            <a:avLst/>
          </a:prstGeom>
          <a:noFill/>
          <a:ln/>
        </p:spPr>
        <p:txBody>
          <a:bodyPr wrap="square" rtlCol="0" anchor="ctr"/>
          <a:lstStyle/>
          <a:p>
            <a:pPr marL="0" indent="0" algn="ctr">
              <a:buNone/>
            </a:pPr>
            <a:r>
              <a:rPr lang="en-US" sz="1200" b="1" dirty="0">
                <a:solidFill>
                  <a:srgbClr val="151A45"/>
                </a:solidFill>
                <a:latin typeface="Calibri" pitchFamily="34" charset="0"/>
                <a:ea typeface="Calibri" pitchFamily="34" charset="-122"/>
                <a:cs typeface="Calibri" pitchFamily="34" charset="-120"/>
              </a:rPr>
              <a:t>Conclusion</a:t>
            </a:r>
            <a:endParaRPr lang="en-US" sz="1200" dirty="0"/>
          </a:p>
        </p:txBody>
      </p:sp>
      <p:sp>
        <p:nvSpPr>
          <p:cNvPr id="33" name="Shape 25"/>
          <p:cNvSpPr/>
          <p:nvPr/>
        </p:nvSpPr>
        <p:spPr>
          <a:xfrm>
            <a:off x="10424160" y="2514600"/>
            <a:ext cx="1325880" cy="365760"/>
          </a:xfrm>
          <a:prstGeom prst="roundRect">
            <a:avLst>
              <a:gd name="adj" fmla="val 20000"/>
            </a:avLst>
          </a:prstGeom>
          <a:solidFill>
            <a:srgbClr val="F4F6FB"/>
          </a:solidFill>
          <a:ln/>
        </p:spPr>
      </p:sp>
      <p:sp>
        <p:nvSpPr>
          <p:cNvPr id="34" name="Text 26"/>
          <p:cNvSpPr/>
          <p:nvPr/>
        </p:nvSpPr>
        <p:spPr>
          <a:xfrm>
            <a:off x="10424160" y="2514600"/>
            <a:ext cx="1325880" cy="365760"/>
          </a:xfrm>
          <a:prstGeom prst="rect">
            <a:avLst/>
          </a:prstGeom>
          <a:noFill/>
          <a:ln/>
        </p:spPr>
        <p:txBody>
          <a:bodyPr wrap="square" rtlCol="0" anchor="ctr"/>
          <a:lstStyle/>
          <a:p>
            <a:pPr marL="0" indent="0" algn="ctr">
              <a:buNone/>
            </a:pPr>
            <a:r>
              <a:rPr lang="en-US" sz="950" b="1" dirty="0">
                <a:solidFill>
                  <a:srgbClr val="FF7A33"/>
                </a:solidFill>
                <a:latin typeface="Calibri" pitchFamily="34" charset="0"/>
                <a:ea typeface="Calibri" pitchFamily="34" charset="-122"/>
                <a:cs typeface="Calibri" pitchFamily="34" charset="-120"/>
              </a:rPr>
              <a:t>STEP 6</a:t>
            </a:r>
            <a:endParaRPr lang="en-US" sz="950" dirty="0"/>
          </a:p>
        </p:txBody>
      </p:sp>
      <p:sp>
        <p:nvSpPr>
          <p:cNvPr id="35" name="Text 27"/>
          <p:cNvSpPr/>
          <p:nvPr/>
        </p:nvSpPr>
        <p:spPr>
          <a:xfrm>
            <a:off x="548640" y="5120640"/>
            <a:ext cx="11064240" cy="731520"/>
          </a:xfrm>
          <a:prstGeom prst="rect">
            <a:avLst/>
          </a:prstGeom>
          <a:noFill/>
          <a:ln/>
        </p:spPr>
        <p:txBody>
          <a:bodyPr wrap="square" rtlCol="0" anchor="ctr"/>
          <a:lstStyle/>
          <a:p>
            <a:pPr marL="0" indent="0" algn="ctr">
              <a:buNone/>
            </a:pPr>
            <a:r>
              <a:rPr lang="en-US" sz="1300" i="1" dirty="0">
                <a:solidFill>
                  <a:srgbClr val="3A4266"/>
                </a:solidFill>
                <a:latin typeface="Calibri" pitchFamily="34" charset="0"/>
                <a:ea typeface="Calibri" pitchFamily="34" charset="-122"/>
                <a:cs typeface="Calibri" pitchFamily="34" charset="-120"/>
              </a:rPr>
              <a:t>Every stage — from raw CSV ingestion through cleaning, exploration, visualization and insight generation — was executed sequentially in a single reproducible Jupyter notebook.</a:t>
            </a:r>
            <a:endParaRPr lang="en-US" sz="1300" dirty="0"/>
          </a:p>
        </p:txBody>
      </p:sp>
      <p:sp>
        <p:nvSpPr>
          <p:cNvPr id="36" name="Text 28"/>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892B0"/>
                </a:solidFill>
                <a:latin typeface="Calibri" pitchFamily="34" charset="0"/>
                <a:ea typeface="Calibri" pitchFamily="34" charset="-122"/>
                <a:cs typeface="Calibri" pitchFamily="34" charset="-120"/>
              </a:rPr>
              <a:t>07</a:t>
            </a:r>
            <a:endParaRPr lang="en-US" sz="900" dirty="0"/>
          </a:p>
        </p:txBody>
      </p:sp>
      <p:sp>
        <p:nvSpPr>
          <p:cNvPr id="37" name="Text 29"/>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SmartBasket Analysis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50" b="1" kern="0" spc="200" dirty="0">
                <a:solidFill>
                  <a:srgbClr val="12B5A6"/>
                </a:solidFill>
                <a:latin typeface="Calibri" pitchFamily="34" charset="0"/>
                <a:ea typeface="Calibri" pitchFamily="34" charset="-122"/>
                <a:cs typeface="Calibri" pitchFamily="34" charset="-120"/>
              </a:rPr>
              <a:t>SLIDE 09</a:t>
            </a:r>
            <a:endParaRPr lang="en-US" sz="125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51A45"/>
                </a:solidFill>
                <a:latin typeface="Cambria" pitchFamily="34" charset="0"/>
                <a:ea typeface="Cambria" pitchFamily="34" charset="-122"/>
                <a:cs typeface="Cambria" pitchFamily="34" charset="-120"/>
              </a:rPr>
              <a:t>Data Cleaning Process</a:t>
            </a:r>
            <a:endParaRPr lang="en-US" sz="3000" dirty="0"/>
          </a:p>
        </p:txBody>
      </p:sp>
      <p:sp>
        <p:nvSpPr>
          <p:cNvPr id="4" name="Shape 2"/>
          <p:cNvSpPr/>
          <p:nvPr/>
        </p:nvSpPr>
        <p:spPr>
          <a:xfrm>
            <a:off x="548640" y="1691640"/>
            <a:ext cx="5120640" cy="4206240"/>
          </a:xfrm>
          <a:prstGeom prst="roundRect">
            <a:avLst>
              <a:gd name="adj" fmla="val 2174"/>
            </a:avLst>
          </a:prstGeom>
          <a:solidFill>
            <a:srgbClr val="FFF1EB"/>
          </a:solidFill>
          <a:ln/>
        </p:spPr>
      </p:sp>
      <p:sp>
        <p:nvSpPr>
          <p:cNvPr id="5" name="Text 3"/>
          <p:cNvSpPr/>
          <p:nvPr/>
        </p:nvSpPr>
        <p:spPr>
          <a:xfrm>
            <a:off x="822960" y="1920240"/>
            <a:ext cx="4572000" cy="365760"/>
          </a:xfrm>
          <a:prstGeom prst="rect">
            <a:avLst/>
          </a:prstGeom>
          <a:noFill/>
          <a:ln/>
        </p:spPr>
        <p:txBody>
          <a:bodyPr wrap="square" rtlCol="0" anchor="ctr"/>
          <a:lstStyle/>
          <a:p>
            <a:pPr marL="0" indent="0">
              <a:buNone/>
            </a:pPr>
            <a:r>
              <a:rPr lang="en-US" sz="1400" b="1" kern="0" spc="150" dirty="0">
                <a:solidFill>
                  <a:srgbClr val="FF7A33"/>
                </a:solidFill>
                <a:latin typeface="Calibri" pitchFamily="34" charset="0"/>
                <a:ea typeface="Calibri" pitchFamily="34" charset="-122"/>
                <a:cs typeface="Calibri" pitchFamily="34" charset="-120"/>
              </a:rPr>
              <a:t>BEFORE CLEANING</a:t>
            </a:r>
            <a:endParaRPr lang="en-US" sz="1400" dirty="0"/>
          </a:p>
        </p:txBody>
      </p:sp>
      <p:sp>
        <p:nvSpPr>
          <p:cNvPr id="6" name="Shape 4"/>
          <p:cNvSpPr/>
          <p:nvPr/>
        </p:nvSpPr>
        <p:spPr>
          <a:xfrm>
            <a:off x="822960" y="2514600"/>
            <a:ext cx="128016" cy="128016"/>
          </a:xfrm>
          <a:prstGeom prst="ellipse">
            <a:avLst/>
          </a:prstGeom>
          <a:solidFill>
            <a:srgbClr val="FF7A33"/>
          </a:solidFill>
          <a:ln/>
        </p:spPr>
      </p:sp>
      <p:sp>
        <p:nvSpPr>
          <p:cNvPr id="7" name="Text 5"/>
          <p:cNvSpPr/>
          <p:nvPr/>
        </p:nvSpPr>
        <p:spPr>
          <a:xfrm>
            <a:off x="1097280" y="2395728"/>
            <a:ext cx="4206240" cy="365760"/>
          </a:xfrm>
          <a:prstGeom prst="rect">
            <a:avLst/>
          </a:prstGeom>
          <a:noFill/>
          <a:ln/>
        </p:spPr>
        <p:txBody>
          <a:bodyPr wrap="square" rtlCol="0" anchor="ctr"/>
          <a:lstStyle/>
          <a:p>
            <a:pPr marL="0" indent="0">
              <a:buNone/>
            </a:pPr>
            <a:r>
              <a:rPr lang="en-US" sz="1200" dirty="0">
                <a:solidFill>
                  <a:srgbClr val="5A3A2A"/>
                </a:solidFill>
                <a:latin typeface="Calibri" pitchFamily="34" charset="0"/>
                <a:ea typeface="Calibri" pitchFamily="34" charset="-122"/>
                <a:cs typeface="Calibri" pitchFamily="34" charset="-120"/>
              </a:rPr>
              <a:t>1 missing product_name</a:t>
            </a:r>
            <a:endParaRPr lang="en-US" sz="1200" dirty="0"/>
          </a:p>
        </p:txBody>
      </p:sp>
      <p:sp>
        <p:nvSpPr>
          <p:cNvPr id="8" name="Shape 6"/>
          <p:cNvSpPr/>
          <p:nvPr/>
        </p:nvSpPr>
        <p:spPr>
          <a:xfrm>
            <a:off x="822960" y="2971800"/>
            <a:ext cx="128016" cy="128016"/>
          </a:xfrm>
          <a:prstGeom prst="ellipse">
            <a:avLst/>
          </a:prstGeom>
          <a:solidFill>
            <a:srgbClr val="FF7A33"/>
          </a:solidFill>
          <a:ln/>
        </p:spPr>
      </p:sp>
      <p:sp>
        <p:nvSpPr>
          <p:cNvPr id="9" name="Text 7"/>
          <p:cNvSpPr/>
          <p:nvPr/>
        </p:nvSpPr>
        <p:spPr>
          <a:xfrm>
            <a:off x="1097280" y="2852928"/>
            <a:ext cx="4206240" cy="365760"/>
          </a:xfrm>
          <a:prstGeom prst="rect">
            <a:avLst/>
          </a:prstGeom>
          <a:noFill/>
          <a:ln/>
        </p:spPr>
        <p:txBody>
          <a:bodyPr wrap="square" rtlCol="0" anchor="ctr"/>
          <a:lstStyle/>
          <a:p>
            <a:pPr marL="0" indent="0">
              <a:buNone/>
            </a:pPr>
            <a:r>
              <a:rPr lang="en-US" sz="1200" dirty="0">
                <a:solidFill>
                  <a:srgbClr val="5A3A2A"/>
                </a:solidFill>
                <a:latin typeface="Calibri" pitchFamily="34" charset="0"/>
                <a:ea typeface="Calibri" pitchFamily="34" charset="-122"/>
                <a:cs typeface="Calibri" pitchFamily="34" charset="-120"/>
              </a:rPr>
              <a:t>6,199 missing sub_category</a:t>
            </a:r>
            <a:endParaRPr lang="en-US" sz="1200" dirty="0"/>
          </a:p>
        </p:txBody>
      </p:sp>
      <p:sp>
        <p:nvSpPr>
          <p:cNvPr id="10" name="Shape 8"/>
          <p:cNvSpPr/>
          <p:nvPr/>
        </p:nvSpPr>
        <p:spPr>
          <a:xfrm>
            <a:off x="822960" y="3429000"/>
            <a:ext cx="128016" cy="128016"/>
          </a:xfrm>
          <a:prstGeom prst="ellipse">
            <a:avLst/>
          </a:prstGeom>
          <a:solidFill>
            <a:srgbClr val="FF7A33"/>
          </a:solidFill>
          <a:ln/>
        </p:spPr>
      </p:sp>
      <p:sp>
        <p:nvSpPr>
          <p:cNvPr id="11" name="Text 9"/>
          <p:cNvSpPr/>
          <p:nvPr/>
        </p:nvSpPr>
        <p:spPr>
          <a:xfrm>
            <a:off x="1097280" y="3310128"/>
            <a:ext cx="4206240" cy="365760"/>
          </a:xfrm>
          <a:prstGeom prst="rect">
            <a:avLst/>
          </a:prstGeom>
          <a:noFill/>
          <a:ln/>
        </p:spPr>
        <p:txBody>
          <a:bodyPr wrap="square" rtlCol="0" anchor="ctr"/>
          <a:lstStyle/>
          <a:p>
            <a:pPr marL="0" indent="0">
              <a:buNone/>
            </a:pPr>
            <a:r>
              <a:rPr lang="en-US" sz="1200" dirty="0">
                <a:solidFill>
                  <a:srgbClr val="5A3A2A"/>
                </a:solidFill>
                <a:latin typeface="Calibri" pitchFamily="34" charset="0"/>
                <a:ea typeface="Calibri" pitchFamily="34" charset="-122"/>
                <a:cs typeface="Calibri" pitchFamily="34" charset="-120"/>
              </a:rPr>
              <a:t>309 missing / zero MRP values</a:t>
            </a:r>
            <a:endParaRPr lang="en-US" sz="1200" dirty="0"/>
          </a:p>
        </p:txBody>
      </p:sp>
      <p:sp>
        <p:nvSpPr>
          <p:cNvPr id="12" name="Shape 10"/>
          <p:cNvSpPr/>
          <p:nvPr/>
        </p:nvSpPr>
        <p:spPr>
          <a:xfrm>
            <a:off x="822960" y="3886200"/>
            <a:ext cx="128016" cy="128016"/>
          </a:xfrm>
          <a:prstGeom prst="ellipse">
            <a:avLst/>
          </a:prstGeom>
          <a:solidFill>
            <a:srgbClr val="FF7A33"/>
          </a:solidFill>
          <a:ln/>
        </p:spPr>
      </p:sp>
      <p:sp>
        <p:nvSpPr>
          <p:cNvPr id="13" name="Text 11"/>
          <p:cNvSpPr/>
          <p:nvPr/>
        </p:nvSpPr>
        <p:spPr>
          <a:xfrm>
            <a:off x="1097280" y="3767328"/>
            <a:ext cx="4206240" cy="365760"/>
          </a:xfrm>
          <a:prstGeom prst="rect">
            <a:avLst/>
          </a:prstGeom>
          <a:noFill/>
          <a:ln/>
        </p:spPr>
        <p:txBody>
          <a:bodyPr wrap="square" rtlCol="0" anchor="ctr"/>
          <a:lstStyle/>
          <a:p>
            <a:pPr marL="0" indent="0">
              <a:buNone/>
            </a:pPr>
            <a:r>
              <a:rPr lang="en-US" sz="1200" dirty="0">
                <a:solidFill>
                  <a:srgbClr val="5A3A2A"/>
                </a:solidFill>
                <a:latin typeface="Calibri" pitchFamily="34" charset="0"/>
                <a:ea typeface="Calibri" pitchFamily="34" charset="-122"/>
                <a:cs typeface="Calibri" pitchFamily="34" charset="-120"/>
              </a:rPr>
              <a:t>1 missing sale_price</a:t>
            </a:r>
            <a:endParaRPr lang="en-US" sz="1200" dirty="0"/>
          </a:p>
        </p:txBody>
      </p:sp>
      <p:sp>
        <p:nvSpPr>
          <p:cNvPr id="14" name="Shape 12"/>
          <p:cNvSpPr/>
          <p:nvPr/>
        </p:nvSpPr>
        <p:spPr>
          <a:xfrm>
            <a:off x="822960" y="4343400"/>
            <a:ext cx="128016" cy="128016"/>
          </a:xfrm>
          <a:prstGeom prst="ellipse">
            <a:avLst/>
          </a:prstGeom>
          <a:solidFill>
            <a:srgbClr val="FF7A33"/>
          </a:solidFill>
          <a:ln/>
        </p:spPr>
      </p:sp>
      <p:sp>
        <p:nvSpPr>
          <p:cNvPr id="15" name="Text 13"/>
          <p:cNvSpPr/>
          <p:nvPr/>
        </p:nvSpPr>
        <p:spPr>
          <a:xfrm>
            <a:off x="1097280" y="4224528"/>
            <a:ext cx="4206240" cy="365760"/>
          </a:xfrm>
          <a:prstGeom prst="rect">
            <a:avLst/>
          </a:prstGeom>
          <a:noFill/>
          <a:ln/>
        </p:spPr>
        <p:txBody>
          <a:bodyPr wrap="square" rtlCol="0" anchor="ctr"/>
          <a:lstStyle/>
          <a:p>
            <a:pPr marL="0" indent="0">
              <a:buNone/>
            </a:pPr>
            <a:r>
              <a:rPr lang="en-US" sz="1200" dirty="0">
                <a:solidFill>
                  <a:srgbClr val="5A3A2A"/>
                </a:solidFill>
                <a:latin typeface="Calibri" pitchFamily="34" charset="0"/>
                <a:ea typeface="Calibri" pitchFamily="34" charset="-122"/>
                <a:cs typeface="Calibri" pitchFamily="34" charset="-120"/>
              </a:rPr>
              <a:t>214 exact duplicate rows</a:t>
            </a:r>
            <a:endParaRPr lang="en-US" sz="1200" dirty="0"/>
          </a:p>
        </p:txBody>
      </p:sp>
      <p:sp>
        <p:nvSpPr>
          <p:cNvPr id="16" name="Shape 14"/>
          <p:cNvSpPr/>
          <p:nvPr/>
        </p:nvSpPr>
        <p:spPr>
          <a:xfrm>
            <a:off x="822960" y="4800600"/>
            <a:ext cx="128016" cy="128016"/>
          </a:xfrm>
          <a:prstGeom prst="ellipse">
            <a:avLst/>
          </a:prstGeom>
          <a:solidFill>
            <a:srgbClr val="FF7A33"/>
          </a:solidFill>
          <a:ln/>
        </p:spPr>
      </p:sp>
      <p:sp>
        <p:nvSpPr>
          <p:cNvPr id="17" name="Text 15"/>
          <p:cNvSpPr/>
          <p:nvPr/>
        </p:nvSpPr>
        <p:spPr>
          <a:xfrm>
            <a:off x="1097280" y="4681728"/>
            <a:ext cx="4206240" cy="365760"/>
          </a:xfrm>
          <a:prstGeom prst="rect">
            <a:avLst/>
          </a:prstGeom>
          <a:noFill/>
          <a:ln/>
        </p:spPr>
        <p:txBody>
          <a:bodyPr wrap="square" rtlCol="0" anchor="ctr"/>
          <a:lstStyle/>
          <a:p>
            <a:pPr marL="0" indent="0">
              <a:buNone/>
            </a:pPr>
            <a:r>
              <a:rPr lang="en-US" sz="1200" dirty="0">
                <a:solidFill>
                  <a:srgbClr val="5A3A2A"/>
                </a:solidFill>
                <a:latin typeface="Calibri" pitchFamily="34" charset="0"/>
                <a:ea typeface="Calibri" pitchFamily="34" charset="-122"/>
                <a:cs typeface="Calibri" pitchFamily="34" charset="-120"/>
              </a:rPr>
              <a:t>Encoding artifacts ( ï»¿ ) in text fields</a:t>
            </a:r>
            <a:endParaRPr lang="en-US" sz="1200" dirty="0"/>
          </a:p>
        </p:txBody>
      </p:sp>
      <p:sp>
        <p:nvSpPr>
          <p:cNvPr id="18" name="Shape 16"/>
          <p:cNvSpPr/>
          <p:nvPr/>
        </p:nvSpPr>
        <p:spPr>
          <a:xfrm>
            <a:off x="822960" y="5257800"/>
            <a:ext cx="128016" cy="128016"/>
          </a:xfrm>
          <a:prstGeom prst="ellipse">
            <a:avLst/>
          </a:prstGeom>
          <a:solidFill>
            <a:srgbClr val="FF7A33"/>
          </a:solidFill>
          <a:ln/>
        </p:spPr>
      </p:sp>
      <p:sp>
        <p:nvSpPr>
          <p:cNvPr id="19" name="Text 17"/>
          <p:cNvSpPr/>
          <p:nvPr/>
        </p:nvSpPr>
        <p:spPr>
          <a:xfrm>
            <a:off x="1097280" y="5138928"/>
            <a:ext cx="4206240" cy="365760"/>
          </a:xfrm>
          <a:prstGeom prst="rect">
            <a:avLst/>
          </a:prstGeom>
          <a:noFill/>
          <a:ln/>
        </p:spPr>
        <p:txBody>
          <a:bodyPr wrap="square" rtlCol="0" anchor="ctr"/>
          <a:lstStyle/>
          <a:p>
            <a:pPr marL="0" indent="0">
              <a:buNone/>
            </a:pPr>
            <a:r>
              <a:rPr lang="en-US" sz="1200" dirty="0">
                <a:solidFill>
                  <a:srgbClr val="5A3A2A"/>
                </a:solidFill>
                <a:latin typeface="Calibri" pitchFamily="34" charset="0"/>
                <a:ea typeface="Calibri" pitchFamily="34" charset="-122"/>
                <a:cs typeface="Calibri" pitchFamily="34" charset="-120"/>
              </a:rPr>
              <a:t>Corrupted category value ( " )</a:t>
            </a:r>
            <a:endParaRPr lang="en-US" sz="1200" dirty="0"/>
          </a:p>
        </p:txBody>
      </p:sp>
      <p:sp>
        <p:nvSpPr>
          <p:cNvPr id="20" name="Shape 18"/>
          <p:cNvSpPr/>
          <p:nvPr/>
        </p:nvSpPr>
        <p:spPr>
          <a:xfrm>
            <a:off x="5780483" y="3440807"/>
            <a:ext cx="731520" cy="731520"/>
          </a:xfrm>
          <a:prstGeom prst="ellipse">
            <a:avLst/>
          </a:prstGeom>
          <a:solidFill>
            <a:srgbClr val="7B2FF7"/>
          </a:solidFill>
          <a:ln/>
        </p:spPr>
      </p:sp>
      <p:pic>
        <p:nvPicPr>
          <p:cNvPr id="21" name="Image 0" descr="/home/claude/proj/icons/arrow.png"/>
          <p:cNvPicPr>
            <a:picLocks noChangeAspect="1"/>
          </p:cNvPicPr>
          <p:nvPr/>
        </p:nvPicPr>
        <p:blipFill>
          <a:blip r:embed="rId3"/>
          <a:stretch>
            <a:fillRect/>
          </a:stretch>
        </p:blipFill>
        <p:spPr>
          <a:xfrm>
            <a:off x="5921141" y="3543220"/>
            <a:ext cx="526694" cy="526694"/>
          </a:xfrm>
          <a:prstGeom prst="rect">
            <a:avLst/>
          </a:prstGeom>
        </p:spPr>
      </p:pic>
      <p:sp>
        <p:nvSpPr>
          <p:cNvPr id="22" name="Shape 19"/>
          <p:cNvSpPr/>
          <p:nvPr/>
        </p:nvSpPr>
        <p:spPr>
          <a:xfrm>
            <a:off x="6623206" y="1703447"/>
            <a:ext cx="5120640" cy="4206240"/>
          </a:xfrm>
          <a:prstGeom prst="roundRect">
            <a:avLst>
              <a:gd name="adj" fmla="val 2174"/>
            </a:avLst>
          </a:prstGeom>
          <a:solidFill>
            <a:srgbClr val="E9FBF6"/>
          </a:solidFill>
          <a:ln/>
        </p:spPr>
      </p:sp>
      <p:sp>
        <p:nvSpPr>
          <p:cNvPr id="23" name="Text 20"/>
          <p:cNvSpPr/>
          <p:nvPr/>
        </p:nvSpPr>
        <p:spPr>
          <a:xfrm>
            <a:off x="6629400" y="1920240"/>
            <a:ext cx="4572000" cy="365760"/>
          </a:xfrm>
          <a:prstGeom prst="rect">
            <a:avLst/>
          </a:prstGeom>
          <a:noFill/>
          <a:ln/>
        </p:spPr>
        <p:txBody>
          <a:bodyPr wrap="square" rtlCol="0" anchor="ctr"/>
          <a:lstStyle/>
          <a:p>
            <a:pPr marL="0" indent="0">
              <a:buNone/>
            </a:pPr>
            <a:r>
              <a:rPr lang="en-US" sz="1400" b="1" kern="0" spc="150" dirty="0">
                <a:solidFill>
                  <a:srgbClr val="12B5A6"/>
                </a:solidFill>
                <a:latin typeface="Calibri" pitchFamily="34" charset="0"/>
                <a:ea typeface="Calibri" pitchFamily="34" charset="-122"/>
                <a:cs typeface="Calibri" pitchFamily="34" charset="-120"/>
              </a:rPr>
              <a:t>AFTER CLEANING</a:t>
            </a:r>
            <a:endParaRPr lang="en-US" sz="1400" dirty="0"/>
          </a:p>
        </p:txBody>
      </p:sp>
      <p:sp>
        <p:nvSpPr>
          <p:cNvPr id="24" name="Shape 21"/>
          <p:cNvSpPr/>
          <p:nvPr/>
        </p:nvSpPr>
        <p:spPr>
          <a:xfrm>
            <a:off x="6629400" y="2487168"/>
            <a:ext cx="182880" cy="182880"/>
          </a:xfrm>
          <a:prstGeom prst="ellipse">
            <a:avLst/>
          </a:prstGeom>
          <a:solidFill>
            <a:srgbClr val="12B5A6"/>
          </a:solidFill>
          <a:ln/>
        </p:spPr>
      </p:sp>
      <p:pic>
        <p:nvPicPr>
          <p:cNvPr id="25" name="Image 1" descr="/home/claude/proj/icons/checkCircle.png"/>
          <p:cNvPicPr>
            <a:picLocks noChangeAspect="1"/>
          </p:cNvPicPr>
          <p:nvPr/>
        </p:nvPicPr>
        <p:blipFill>
          <a:blip r:embed="rId4"/>
          <a:stretch>
            <a:fillRect/>
          </a:stretch>
        </p:blipFill>
        <p:spPr>
          <a:xfrm>
            <a:off x="6656832" y="2514600"/>
            <a:ext cx="128016" cy="128016"/>
          </a:xfrm>
          <a:prstGeom prst="rect">
            <a:avLst/>
          </a:prstGeom>
        </p:spPr>
      </p:pic>
      <p:sp>
        <p:nvSpPr>
          <p:cNvPr id="26" name="Text 22"/>
          <p:cNvSpPr/>
          <p:nvPr/>
        </p:nvSpPr>
        <p:spPr>
          <a:xfrm>
            <a:off x="6949440" y="2395728"/>
            <a:ext cx="4206240" cy="365760"/>
          </a:xfrm>
          <a:prstGeom prst="rect">
            <a:avLst/>
          </a:prstGeom>
          <a:noFill/>
          <a:ln/>
        </p:spPr>
        <p:txBody>
          <a:bodyPr wrap="square" rtlCol="0" anchor="ctr"/>
          <a:lstStyle/>
          <a:p>
            <a:pPr marL="0" indent="0">
              <a:buNone/>
            </a:pPr>
            <a:r>
              <a:rPr lang="en-US" sz="1200" dirty="0">
                <a:solidFill>
                  <a:srgbClr val="1E4A3E"/>
                </a:solidFill>
                <a:latin typeface="Calibri" pitchFamily="34" charset="0"/>
                <a:ea typeface="Calibri" pitchFamily="34" charset="-122"/>
                <a:cs typeface="Calibri" pitchFamily="34" charset="-120"/>
              </a:rPr>
              <a:t>product_name filled from brand + price match</a:t>
            </a:r>
            <a:endParaRPr lang="en-US" sz="1200" dirty="0"/>
          </a:p>
        </p:txBody>
      </p:sp>
      <p:sp>
        <p:nvSpPr>
          <p:cNvPr id="27" name="Shape 23"/>
          <p:cNvSpPr/>
          <p:nvPr/>
        </p:nvSpPr>
        <p:spPr>
          <a:xfrm>
            <a:off x="6629400" y="2944368"/>
            <a:ext cx="182880" cy="182880"/>
          </a:xfrm>
          <a:prstGeom prst="ellipse">
            <a:avLst/>
          </a:prstGeom>
          <a:solidFill>
            <a:srgbClr val="12B5A6"/>
          </a:solidFill>
          <a:ln/>
        </p:spPr>
      </p:sp>
      <p:pic>
        <p:nvPicPr>
          <p:cNvPr id="28" name="Image 2" descr="/home/claude/proj/icons/checkCircle.png"/>
          <p:cNvPicPr>
            <a:picLocks noChangeAspect="1"/>
          </p:cNvPicPr>
          <p:nvPr/>
        </p:nvPicPr>
        <p:blipFill>
          <a:blip r:embed="rId4"/>
          <a:stretch>
            <a:fillRect/>
          </a:stretch>
        </p:blipFill>
        <p:spPr>
          <a:xfrm>
            <a:off x="6656832" y="2971800"/>
            <a:ext cx="128016" cy="128016"/>
          </a:xfrm>
          <a:prstGeom prst="rect">
            <a:avLst/>
          </a:prstGeom>
        </p:spPr>
      </p:pic>
      <p:sp>
        <p:nvSpPr>
          <p:cNvPr id="29" name="Text 24"/>
          <p:cNvSpPr/>
          <p:nvPr/>
        </p:nvSpPr>
        <p:spPr>
          <a:xfrm>
            <a:off x="6949440" y="2852928"/>
            <a:ext cx="4206240" cy="365760"/>
          </a:xfrm>
          <a:prstGeom prst="rect">
            <a:avLst/>
          </a:prstGeom>
          <a:noFill/>
          <a:ln/>
        </p:spPr>
        <p:txBody>
          <a:bodyPr wrap="square" rtlCol="0" anchor="ctr"/>
          <a:lstStyle/>
          <a:p>
            <a:pPr marL="0" indent="0">
              <a:buNone/>
            </a:pPr>
            <a:r>
              <a:rPr lang="en-US" sz="1200" dirty="0">
                <a:solidFill>
                  <a:srgbClr val="1E4A3E"/>
                </a:solidFill>
                <a:latin typeface="Calibri" pitchFamily="34" charset="0"/>
                <a:ea typeface="Calibri" pitchFamily="34" charset="-122"/>
                <a:cs typeface="Calibri" pitchFamily="34" charset="-120"/>
              </a:rPr>
              <a:t>sub_category mapped via category dictionary</a:t>
            </a:r>
            <a:endParaRPr lang="en-US" sz="1200" dirty="0"/>
          </a:p>
        </p:txBody>
      </p:sp>
      <p:sp>
        <p:nvSpPr>
          <p:cNvPr id="30" name="Shape 25"/>
          <p:cNvSpPr/>
          <p:nvPr/>
        </p:nvSpPr>
        <p:spPr>
          <a:xfrm>
            <a:off x="6629400" y="3401568"/>
            <a:ext cx="182880" cy="182880"/>
          </a:xfrm>
          <a:prstGeom prst="ellipse">
            <a:avLst/>
          </a:prstGeom>
          <a:solidFill>
            <a:srgbClr val="12B5A6"/>
          </a:solidFill>
          <a:ln/>
        </p:spPr>
      </p:sp>
      <p:pic>
        <p:nvPicPr>
          <p:cNvPr id="31" name="Image 3" descr="/home/claude/proj/icons/checkCircle.png"/>
          <p:cNvPicPr>
            <a:picLocks noChangeAspect="1"/>
          </p:cNvPicPr>
          <p:nvPr/>
        </p:nvPicPr>
        <p:blipFill>
          <a:blip r:embed="rId4"/>
          <a:stretch>
            <a:fillRect/>
          </a:stretch>
        </p:blipFill>
        <p:spPr>
          <a:xfrm>
            <a:off x="6656832" y="3429000"/>
            <a:ext cx="128016" cy="128016"/>
          </a:xfrm>
          <a:prstGeom prst="rect">
            <a:avLst/>
          </a:prstGeom>
        </p:spPr>
      </p:pic>
      <p:sp>
        <p:nvSpPr>
          <p:cNvPr id="32" name="Text 26"/>
          <p:cNvSpPr/>
          <p:nvPr/>
        </p:nvSpPr>
        <p:spPr>
          <a:xfrm>
            <a:off x="6949440" y="3310128"/>
            <a:ext cx="4206240" cy="365760"/>
          </a:xfrm>
          <a:prstGeom prst="rect">
            <a:avLst/>
          </a:prstGeom>
          <a:noFill/>
          <a:ln/>
        </p:spPr>
        <p:txBody>
          <a:bodyPr wrap="square" rtlCol="0" anchor="ctr"/>
          <a:lstStyle/>
          <a:p>
            <a:pPr marL="0" indent="0">
              <a:buNone/>
            </a:pPr>
            <a:r>
              <a:rPr lang="en-US" sz="1200" dirty="0">
                <a:solidFill>
                  <a:srgbClr val="1E4A3E"/>
                </a:solidFill>
                <a:latin typeface="Calibri" pitchFamily="34" charset="0"/>
                <a:ea typeface="Calibri" pitchFamily="34" charset="-122"/>
                <a:cs typeface="Calibri" pitchFamily="34" charset="-120"/>
              </a:rPr>
              <a:t>MRP reconstructed from sale price ÷ (1 − discount)</a:t>
            </a:r>
            <a:endParaRPr lang="en-US" sz="1200" dirty="0"/>
          </a:p>
        </p:txBody>
      </p:sp>
      <p:sp>
        <p:nvSpPr>
          <p:cNvPr id="33" name="Shape 27"/>
          <p:cNvSpPr/>
          <p:nvPr/>
        </p:nvSpPr>
        <p:spPr>
          <a:xfrm>
            <a:off x="6629400" y="3858768"/>
            <a:ext cx="182880" cy="182880"/>
          </a:xfrm>
          <a:prstGeom prst="ellipse">
            <a:avLst/>
          </a:prstGeom>
          <a:solidFill>
            <a:srgbClr val="12B5A6"/>
          </a:solidFill>
          <a:ln/>
        </p:spPr>
      </p:sp>
      <p:pic>
        <p:nvPicPr>
          <p:cNvPr id="34" name="Image 4" descr="/home/claude/proj/icons/checkCircle.png"/>
          <p:cNvPicPr>
            <a:picLocks noChangeAspect="1"/>
          </p:cNvPicPr>
          <p:nvPr/>
        </p:nvPicPr>
        <p:blipFill>
          <a:blip r:embed="rId4"/>
          <a:stretch>
            <a:fillRect/>
          </a:stretch>
        </p:blipFill>
        <p:spPr>
          <a:xfrm>
            <a:off x="6656832" y="3886200"/>
            <a:ext cx="128016" cy="128016"/>
          </a:xfrm>
          <a:prstGeom prst="rect">
            <a:avLst/>
          </a:prstGeom>
        </p:spPr>
      </p:pic>
      <p:sp>
        <p:nvSpPr>
          <p:cNvPr id="35" name="Text 28"/>
          <p:cNvSpPr/>
          <p:nvPr/>
        </p:nvSpPr>
        <p:spPr>
          <a:xfrm>
            <a:off x="6949440" y="3767328"/>
            <a:ext cx="4206240" cy="365760"/>
          </a:xfrm>
          <a:prstGeom prst="rect">
            <a:avLst/>
          </a:prstGeom>
          <a:noFill/>
          <a:ln/>
        </p:spPr>
        <p:txBody>
          <a:bodyPr wrap="square" rtlCol="0" anchor="ctr"/>
          <a:lstStyle/>
          <a:p>
            <a:pPr marL="0" indent="0">
              <a:buNone/>
            </a:pPr>
            <a:r>
              <a:rPr lang="en-US" sz="1200" dirty="0">
                <a:solidFill>
                  <a:srgbClr val="1E4A3E"/>
                </a:solidFill>
                <a:latin typeface="Calibri" pitchFamily="34" charset="0"/>
                <a:ea typeface="Calibri" pitchFamily="34" charset="-122"/>
                <a:cs typeface="Calibri" pitchFamily="34" charset="-120"/>
              </a:rPr>
              <a:t>sale_price filled using MRP (0% discount rows)</a:t>
            </a:r>
            <a:endParaRPr lang="en-US" sz="1200" dirty="0"/>
          </a:p>
        </p:txBody>
      </p:sp>
      <p:sp>
        <p:nvSpPr>
          <p:cNvPr id="36" name="Shape 29"/>
          <p:cNvSpPr/>
          <p:nvPr/>
        </p:nvSpPr>
        <p:spPr>
          <a:xfrm>
            <a:off x="6629400" y="4315968"/>
            <a:ext cx="182880" cy="182880"/>
          </a:xfrm>
          <a:prstGeom prst="ellipse">
            <a:avLst/>
          </a:prstGeom>
          <a:solidFill>
            <a:srgbClr val="12B5A6"/>
          </a:solidFill>
          <a:ln/>
        </p:spPr>
      </p:sp>
      <p:pic>
        <p:nvPicPr>
          <p:cNvPr id="37" name="Image 5" descr="/home/claude/proj/icons/checkCircle.png"/>
          <p:cNvPicPr>
            <a:picLocks noChangeAspect="1"/>
          </p:cNvPicPr>
          <p:nvPr/>
        </p:nvPicPr>
        <p:blipFill>
          <a:blip r:embed="rId4"/>
          <a:stretch>
            <a:fillRect/>
          </a:stretch>
        </p:blipFill>
        <p:spPr>
          <a:xfrm>
            <a:off x="6656832" y="4343400"/>
            <a:ext cx="128016" cy="128016"/>
          </a:xfrm>
          <a:prstGeom prst="rect">
            <a:avLst/>
          </a:prstGeom>
        </p:spPr>
      </p:pic>
      <p:sp>
        <p:nvSpPr>
          <p:cNvPr id="38" name="Text 30"/>
          <p:cNvSpPr/>
          <p:nvPr/>
        </p:nvSpPr>
        <p:spPr>
          <a:xfrm>
            <a:off x="6949440" y="4224528"/>
            <a:ext cx="4206240" cy="365760"/>
          </a:xfrm>
          <a:prstGeom prst="rect">
            <a:avLst/>
          </a:prstGeom>
          <a:noFill/>
          <a:ln/>
        </p:spPr>
        <p:txBody>
          <a:bodyPr wrap="square" rtlCol="0" anchor="ctr"/>
          <a:lstStyle/>
          <a:p>
            <a:pPr marL="0" indent="0">
              <a:buNone/>
            </a:pPr>
            <a:r>
              <a:rPr lang="en-US" sz="1200" dirty="0">
                <a:solidFill>
                  <a:srgbClr val="1E4A3E"/>
                </a:solidFill>
                <a:latin typeface="Calibri" pitchFamily="34" charset="0"/>
                <a:ea typeface="Calibri" pitchFamily="34" charset="-122"/>
                <a:cs typeface="Calibri" pitchFamily="34" charset="-120"/>
              </a:rPr>
              <a:t>Duplicates dropped with drop_duplicates()</a:t>
            </a:r>
            <a:endParaRPr lang="en-US" sz="1200" dirty="0"/>
          </a:p>
        </p:txBody>
      </p:sp>
      <p:sp>
        <p:nvSpPr>
          <p:cNvPr id="39" name="Shape 31"/>
          <p:cNvSpPr/>
          <p:nvPr/>
        </p:nvSpPr>
        <p:spPr>
          <a:xfrm>
            <a:off x="6629400" y="4773168"/>
            <a:ext cx="182880" cy="182880"/>
          </a:xfrm>
          <a:prstGeom prst="ellipse">
            <a:avLst/>
          </a:prstGeom>
          <a:solidFill>
            <a:srgbClr val="12B5A6"/>
          </a:solidFill>
          <a:ln/>
        </p:spPr>
      </p:sp>
      <p:pic>
        <p:nvPicPr>
          <p:cNvPr id="40" name="Image 6" descr="/home/claude/proj/icons/checkCircle.png"/>
          <p:cNvPicPr>
            <a:picLocks noChangeAspect="1"/>
          </p:cNvPicPr>
          <p:nvPr/>
        </p:nvPicPr>
        <p:blipFill>
          <a:blip r:embed="rId4"/>
          <a:stretch>
            <a:fillRect/>
          </a:stretch>
        </p:blipFill>
        <p:spPr>
          <a:xfrm>
            <a:off x="6656832" y="4800600"/>
            <a:ext cx="128016" cy="128016"/>
          </a:xfrm>
          <a:prstGeom prst="rect">
            <a:avLst/>
          </a:prstGeom>
        </p:spPr>
      </p:pic>
      <p:sp>
        <p:nvSpPr>
          <p:cNvPr id="41" name="Text 32"/>
          <p:cNvSpPr/>
          <p:nvPr/>
        </p:nvSpPr>
        <p:spPr>
          <a:xfrm>
            <a:off x="6949440" y="4681728"/>
            <a:ext cx="4206240" cy="365760"/>
          </a:xfrm>
          <a:prstGeom prst="rect">
            <a:avLst/>
          </a:prstGeom>
          <a:noFill/>
          <a:ln/>
        </p:spPr>
        <p:txBody>
          <a:bodyPr wrap="square" rtlCol="0" anchor="ctr"/>
          <a:lstStyle/>
          <a:p>
            <a:pPr marL="0" indent="0">
              <a:buNone/>
            </a:pPr>
            <a:r>
              <a:rPr lang="en-US" sz="1200" dirty="0">
                <a:solidFill>
                  <a:srgbClr val="1E4A3E"/>
                </a:solidFill>
                <a:latin typeface="Calibri" pitchFamily="34" charset="0"/>
                <a:ea typeface="Calibri" pitchFamily="34" charset="-122"/>
                <a:cs typeface="Calibri" pitchFamily="34" charset="-120"/>
              </a:rPr>
              <a:t>Encoding artifacts &amp; quotes stripped from text</a:t>
            </a:r>
            <a:endParaRPr lang="en-US" sz="1200" dirty="0"/>
          </a:p>
        </p:txBody>
      </p:sp>
      <p:sp>
        <p:nvSpPr>
          <p:cNvPr id="42" name="Shape 33"/>
          <p:cNvSpPr/>
          <p:nvPr/>
        </p:nvSpPr>
        <p:spPr>
          <a:xfrm>
            <a:off x="6629400" y="5230368"/>
            <a:ext cx="182880" cy="182880"/>
          </a:xfrm>
          <a:prstGeom prst="ellipse">
            <a:avLst/>
          </a:prstGeom>
          <a:solidFill>
            <a:srgbClr val="12B5A6"/>
          </a:solidFill>
          <a:ln/>
        </p:spPr>
      </p:sp>
      <p:pic>
        <p:nvPicPr>
          <p:cNvPr id="43" name="Image 7" descr="/home/claude/proj/icons/checkCircle.png"/>
          <p:cNvPicPr>
            <a:picLocks noChangeAspect="1"/>
          </p:cNvPicPr>
          <p:nvPr/>
        </p:nvPicPr>
        <p:blipFill>
          <a:blip r:embed="rId4"/>
          <a:stretch>
            <a:fillRect/>
          </a:stretch>
        </p:blipFill>
        <p:spPr>
          <a:xfrm>
            <a:off x="6656832" y="5257800"/>
            <a:ext cx="128016" cy="128016"/>
          </a:xfrm>
          <a:prstGeom prst="rect">
            <a:avLst/>
          </a:prstGeom>
        </p:spPr>
      </p:pic>
      <p:sp>
        <p:nvSpPr>
          <p:cNvPr id="44" name="Text 34"/>
          <p:cNvSpPr/>
          <p:nvPr/>
        </p:nvSpPr>
        <p:spPr>
          <a:xfrm>
            <a:off x="6949440" y="5138928"/>
            <a:ext cx="4206240" cy="365760"/>
          </a:xfrm>
          <a:prstGeom prst="rect">
            <a:avLst/>
          </a:prstGeom>
          <a:noFill/>
          <a:ln/>
        </p:spPr>
        <p:txBody>
          <a:bodyPr wrap="square" rtlCol="0" anchor="ctr"/>
          <a:lstStyle/>
          <a:p>
            <a:pPr marL="0" indent="0">
              <a:buNone/>
            </a:pPr>
            <a:r>
              <a:rPr lang="en-US" sz="1200" dirty="0">
                <a:solidFill>
                  <a:srgbClr val="1E4A3E"/>
                </a:solidFill>
                <a:latin typeface="Calibri" pitchFamily="34" charset="0"/>
                <a:ea typeface="Calibri" pitchFamily="34" charset="-122"/>
                <a:cs typeface="Calibri" pitchFamily="34" charset="-120"/>
              </a:rPr>
              <a:t>Category corrected to 'Personal Care'</a:t>
            </a:r>
            <a:endParaRPr lang="en-US" sz="1200" dirty="0"/>
          </a:p>
        </p:txBody>
      </p:sp>
      <p:sp>
        <p:nvSpPr>
          <p:cNvPr id="45" name="Text 35"/>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892B0"/>
                </a:solidFill>
                <a:latin typeface="Calibri" pitchFamily="34" charset="0"/>
                <a:ea typeface="Calibri" pitchFamily="34" charset="-122"/>
                <a:cs typeface="Calibri" pitchFamily="34" charset="-120"/>
              </a:rPr>
              <a:t>08</a:t>
            </a:r>
            <a:endParaRPr lang="en-US" sz="900" dirty="0"/>
          </a:p>
        </p:txBody>
      </p:sp>
      <p:sp>
        <p:nvSpPr>
          <p:cNvPr id="46" name="Text 36"/>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SmartBasket Analysis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50" b="1" kern="0" spc="200" dirty="0">
                <a:solidFill>
                  <a:srgbClr val="FF7A33"/>
                </a:solidFill>
                <a:latin typeface="Calibri" pitchFamily="34" charset="0"/>
                <a:ea typeface="Calibri" pitchFamily="34" charset="-122"/>
                <a:cs typeface="Calibri" pitchFamily="34" charset="-120"/>
              </a:rPr>
              <a:t>SLIDE 10</a:t>
            </a:r>
            <a:endParaRPr lang="en-US" sz="125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51A45"/>
                </a:solidFill>
                <a:latin typeface="Cambria" pitchFamily="34" charset="0"/>
                <a:ea typeface="Cambria" pitchFamily="34" charset="-122"/>
                <a:cs typeface="Cambria" pitchFamily="34" charset="-120"/>
              </a:rPr>
              <a:t>Outlier Detection</a:t>
            </a:r>
            <a:endParaRPr lang="en-US" sz="3000" dirty="0"/>
          </a:p>
        </p:txBody>
      </p:sp>
      <p:sp>
        <p:nvSpPr>
          <p:cNvPr id="4" name="Shape 2"/>
          <p:cNvSpPr/>
          <p:nvPr/>
        </p:nvSpPr>
        <p:spPr>
          <a:xfrm>
            <a:off x="548640" y="1691640"/>
            <a:ext cx="3931920" cy="4206240"/>
          </a:xfrm>
          <a:prstGeom prst="roundRect">
            <a:avLst>
              <a:gd name="adj" fmla="val 2326"/>
            </a:avLst>
          </a:prstGeom>
          <a:solidFill>
            <a:srgbClr val="F4F6FB"/>
          </a:solidFill>
          <a:ln/>
        </p:spPr>
      </p:sp>
      <p:sp>
        <p:nvSpPr>
          <p:cNvPr id="5" name="Shape 3"/>
          <p:cNvSpPr/>
          <p:nvPr/>
        </p:nvSpPr>
        <p:spPr>
          <a:xfrm>
            <a:off x="822960" y="1920240"/>
            <a:ext cx="685800" cy="685800"/>
          </a:xfrm>
          <a:prstGeom prst="ellipse">
            <a:avLst/>
          </a:prstGeom>
          <a:solidFill>
            <a:srgbClr val="FF7A33"/>
          </a:solidFill>
          <a:ln/>
        </p:spPr>
      </p:sp>
      <p:pic>
        <p:nvPicPr>
          <p:cNvPr id="6" name="Image 0" descr="/home/claude/proj/icons/ruler.png"/>
          <p:cNvPicPr>
            <a:picLocks noChangeAspect="1"/>
          </p:cNvPicPr>
          <p:nvPr/>
        </p:nvPicPr>
        <p:blipFill>
          <a:blip r:embed="rId3"/>
          <a:stretch>
            <a:fillRect/>
          </a:stretch>
        </p:blipFill>
        <p:spPr>
          <a:xfrm>
            <a:off x="918972" y="2016252"/>
            <a:ext cx="493776" cy="493776"/>
          </a:xfrm>
          <a:prstGeom prst="rect">
            <a:avLst/>
          </a:prstGeom>
        </p:spPr>
      </p:pic>
      <p:sp>
        <p:nvSpPr>
          <p:cNvPr id="7" name="Text 4"/>
          <p:cNvSpPr/>
          <p:nvPr/>
        </p:nvSpPr>
        <p:spPr>
          <a:xfrm>
            <a:off x="777240" y="2697480"/>
            <a:ext cx="3474720" cy="365760"/>
          </a:xfrm>
          <a:prstGeom prst="rect">
            <a:avLst/>
          </a:prstGeom>
          <a:noFill/>
          <a:ln/>
        </p:spPr>
        <p:txBody>
          <a:bodyPr wrap="square" rtlCol="0" anchor="ctr"/>
          <a:lstStyle/>
          <a:p>
            <a:pPr marL="0" indent="0">
              <a:buNone/>
            </a:pPr>
            <a:r>
              <a:rPr lang="en-US" sz="1600" b="1" dirty="0">
                <a:solidFill>
                  <a:srgbClr val="151A45"/>
                </a:solidFill>
                <a:latin typeface="Cambria" pitchFamily="34" charset="0"/>
                <a:ea typeface="Cambria" pitchFamily="34" charset="-122"/>
                <a:cs typeface="Cambria" pitchFamily="34" charset="-120"/>
              </a:rPr>
              <a:t>The IQR Method</a:t>
            </a:r>
            <a:endParaRPr lang="en-US" sz="1600" dirty="0"/>
          </a:p>
        </p:txBody>
      </p:sp>
      <p:sp>
        <p:nvSpPr>
          <p:cNvPr id="8" name="Text 5"/>
          <p:cNvSpPr/>
          <p:nvPr/>
        </p:nvSpPr>
        <p:spPr>
          <a:xfrm>
            <a:off x="777240" y="3108960"/>
            <a:ext cx="3429000" cy="1097280"/>
          </a:xfrm>
          <a:prstGeom prst="rect">
            <a:avLst/>
          </a:prstGeom>
          <a:noFill/>
          <a:ln/>
        </p:spPr>
        <p:txBody>
          <a:bodyPr wrap="square" rtlCol="0" anchor="ctr"/>
          <a:lstStyle/>
          <a:p>
            <a:pPr marL="0" indent="0">
              <a:lnSpc>
                <a:spcPct val="125000"/>
              </a:lnSpc>
              <a:buNone/>
            </a:pPr>
            <a:r>
              <a:rPr lang="en-US" sz="1200" dirty="0">
                <a:solidFill>
                  <a:srgbClr val="3A4266"/>
                </a:solidFill>
                <a:latin typeface="Calibri" pitchFamily="34" charset="0"/>
                <a:ea typeface="Calibri" pitchFamily="34" charset="-122"/>
                <a:cs typeface="Calibri" pitchFamily="34" charset="-120"/>
              </a:rPr>
              <a:t>For mrp, sale_price and discount_pct, we computed Q1 and Q3, then flagged any value beyond Q1 − 1.5×IQR or Q3 + 1.5×IQR as a statistical outlier.</a:t>
            </a:r>
            <a:endParaRPr lang="en-US" sz="1200" dirty="0"/>
          </a:p>
        </p:txBody>
      </p:sp>
      <p:sp>
        <p:nvSpPr>
          <p:cNvPr id="9" name="Shape 6"/>
          <p:cNvSpPr/>
          <p:nvPr/>
        </p:nvSpPr>
        <p:spPr>
          <a:xfrm>
            <a:off x="777240" y="4343400"/>
            <a:ext cx="3429000" cy="402336"/>
          </a:xfrm>
          <a:prstGeom prst="roundRect">
            <a:avLst>
              <a:gd name="adj" fmla="val 13636"/>
            </a:avLst>
          </a:prstGeom>
          <a:solidFill>
            <a:srgbClr val="FFFFFF"/>
          </a:solidFill>
          <a:ln/>
        </p:spPr>
      </p:sp>
      <p:sp>
        <p:nvSpPr>
          <p:cNvPr id="10" name="Text 7"/>
          <p:cNvSpPr/>
          <p:nvPr/>
        </p:nvSpPr>
        <p:spPr>
          <a:xfrm>
            <a:off x="914400" y="4343400"/>
            <a:ext cx="1645920" cy="402336"/>
          </a:xfrm>
          <a:prstGeom prst="rect">
            <a:avLst/>
          </a:prstGeom>
          <a:noFill/>
          <a:ln/>
        </p:spPr>
        <p:txBody>
          <a:bodyPr wrap="square" rtlCol="0" anchor="ctr"/>
          <a:lstStyle/>
          <a:p>
            <a:pPr marL="0" indent="0">
              <a:buNone/>
            </a:pPr>
            <a:r>
              <a:rPr lang="en-US" sz="1200" b="1" dirty="0">
                <a:solidFill>
                  <a:srgbClr val="151A45"/>
                </a:solidFill>
                <a:latin typeface="Calibri" pitchFamily="34" charset="0"/>
                <a:ea typeface="Calibri" pitchFamily="34" charset="-122"/>
                <a:cs typeface="Calibri" pitchFamily="34" charset="-120"/>
              </a:rPr>
              <a:t>mrp</a:t>
            </a:r>
            <a:endParaRPr lang="en-US" sz="1200" dirty="0"/>
          </a:p>
        </p:txBody>
      </p:sp>
      <p:sp>
        <p:nvSpPr>
          <p:cNvPr id="11" name="Text 8"/>
          <p:cNvSpPr/>
          <p:nvPr/>
        </p:nvSpPr>
        <p:spPr>
          <a:xfrm>
            <a:off x="2377440" y="4343400"/>
            <a:ext cx="1737360" cy="402336"/>
          </a:xfrm>
          <a:prstGeom prst="rect">
            <a:avLst/>
          </a:prstGeom>
          <a:noFill/>
          <a:ln/>
        </p:spPr>
        <p:txBody>
          <a:bodyPr wrap="square" rtlCol="0" anchor="ctr"/>
          <a:lstStyle/>
          <a:p>
            <a:pPr marL="0" indent="0" algn="r">
              <a:buNone/>
            </a:pPr>
            <a:r>
              <a:rPr lang="en-US" sz="1150" b="1" dirty="0">
                <a:solidFill>
                  <a:srgbClr val="FF7A33"/>
                </a:solidFill>
                <a:latin typeface="Calibri" pitchFamily="34" charset="0"/>
                <a:ea typeface="Calibri" pitchFamily="34" charset="-122"/>
                <a:cs typeface="Calibri" pitchFamily="34" charset="-120"/>
              </a:rPr>
              <a:t>3,117 outliers</a:t>
            </a:r>
            <a:endParaRPr lang="en-US" sz="1150" dirty="0"/>
          </a:p>
        </p:txBody>
      </p:sp>
      <p:sp>
        <p:nvSpPr>
          <p:cNvPr id="12" name="Shape 9"/>
          <p:cNvSpPr/>
          <p:nvPr/>
        </p:nvSpPr>
        <p:spPr>
          <a:xfrm>
            <a:off x="777240" y="4846320"/>
            <a:ext cx="3429000" cy="402336"/>
          </a:xfrm>
          <a:prstGeom prst="roundRect">
            <a:avLst>
              <a:gd name="adj" fmla="val 13636"/>
            </a:avLst>
          </a:prstGeom>
          <a:solidFill>
            <a:srgbClr val="FFFFFF"/>
          </a:solidFill>
          <a:ln/>
        </p:spPr>
      </p:sp>
      <p:sp>
        <p:nvSpPr>
          <p:cNvPr id="13" name="Text 10"/>
          <p:cNvSpPr/>
          <p:nvPr/>
        </p:nvSpPr>
        <p:spPr>
          <a:xfrm>
            <a:off x="914400" y="4846320"/>
            <a:ext cx="1645920" cy="402336"/>
          </a:xfrm>
          <a:prstGeom prst="rect">
            <a:avLst/>
          </a:prstGeom>
          <a:noFill/>
          <a:ln/>
        </p:spPr>
        <p:txBody>
          <a:bodyPr wrap="square" rtlCol="0" anchor="ctr"/>
          <a:lstStyle/>
          <a:p>
            <a:pPr marL="0" indent="0">
              <a:buNone/>
            </a:pPr>
            <a:r>
              <a:rPr lang="en-US" sz="1200" b="1" dirty="0">
                <a:solidFill>
                  <a:srgbClr val="151A45"/>
                </a:solidFill>
                <a:latin typeface="Calibri" pitchFamily="34" charset="0"/>
                <a:ea typeface="Calibri" pitchFamily="34" charset="-122"/>
                <a:cs typeface="Calibri" pitchFamily="34" charset="-120"/>
              </a:rPr>
              <a:t>sale_price</a:t>
            </a:r>
            <a:endParaRPr lang="en-US" sz="1200" dirty="0"/>
          </a:p>
        </p:txBody>
      </p:sp>
      <p:sp>
        <p:nvSpPr>
          <p:cNvPr id="14" name="Text 11"/>
          <p:cNvSpPr/>
          <p:nvPr/>
        </p:nvSpPr>
        <p:spPr>
          <a:xfrm>
            <a:off x="2377440" y="4846320"/>
            <a:ext cx="1737360" cy="402336"/>
          </a:xfrm>
          <a:prstGeom prst="rect">
            <a:avLst/>
          </a:prstGeom>
          <a:noFill/>
          <a:ln/>
        </p:spPr>
        <p:txBody>
          <a:bodyPr wrap="square" rtlCol="0" anchor="ctr"/>
          <a:lstStyle/>
          <a:p>
            <a:pPr marL="0" indent="0" algn="r">
              <a:buNone/>
            </a:pPr>
            <a:r>
              <a:rPr lang="en-US" sz="1150" b="1" dirty="0">
                <a:solidFill>
                  <a:srgbClr val="FF7A33"/>
                </a:solidFill>
                <a:latin typeface="Calibri" pitchFamily="34" charset="0"/>
                <a:ea typeface="Calibri" pitchFamily="34" charset="-122"/>
                <a:cs typeface="Calibri" pitchFamily="34" charset="-120"/>
              </a:rPr>
              <a:t>3,237 outliers</a:t>
            </a:r>
            <a:endParaRPr lang="en-US" sz="1150" dirty="0"/>
          </a:p>
        </p:txBody>
      </p:sp>
      <p:sp>
        <p:nvSpPr>
          <p:cNvPr id="15" name="Shape 12"/>
          <p:cNvSpPr/>
          <p:nvPr/>
        </p:nvSpPr>
        <p:spPr>
          <a:xfrm>
            <a:off x="777240" y="5349240"/>
            <a:ext cx="3429000" cy="402336"/>
          </a:xfrm>
          <a:prstGeom prst="roundRect">
            <a:avLst>
              <a:gd name="adj" fmla="val 13636"/>
            </a:avLst>
          </a:prstGeom>
          <a:solidFill>
            <a:srgbClr val="FFFFFF"/>
          </a:solidFill>
          <a:ln/>
        </p:spPr>
      </p:sp>
      <p:sp>
        <p:nvSpPr>
          <p:cNvPr id="16" name="Text 13"/>
          <p:cNvSpPr/>
          <p:nvPr/>
        </p:nvSpPr>
        <p:spPr>
          <a:xfrm>
            <a:off x="914400" y="5349240"/>
            <a:ext cx="1645920" cy="402336"/>
          </a:xfrm>
          <a:prstGeom prst="rect">
            <a:avLst/>
          </a:prstGeom>
          <a:noFill/>
          <a:ln/>
        </p:spPr>
        <p:txBody>
          <a:bodyPr wrap="square" rtlCol="0" anchor="ctr"/>
          <a:lstStyle/>
          <a:p>
            <a:pPr marL="0" indent="0">
              <a:buNone/>
            </a:pPr>
            <a:r>
              <a:rPr lang="en-US" sz="1200" b="1" dirty="0">
                <a:solidFill>
                  <a:srgbClr val="151A45"/>
                </a:solidFill>
                <a:latin typeface="Calibri" pitchFamily="34" charset="0"/>
                <a:ea typeface="Calibri" pitchFamily="34" charset="-122"/>
                <a:cs typeface="Calibri" pitchFamily="34" charset="-120"/>
              </a:rPr>
              <a:t>discount_pct</a:t>
            </a:r>
            <a:endParaRPr lang="en-US" sz="1200" dirty="0"/>
          </a:p>
        </p:txBody>
      </p:sp>
      <p:sp>
        <p:nvSpPr>
          <p:cNvPr id="17" name="Text 14"/>
          <p:cNvSpPr/>
          <p:nvPr/>
        </p:nvSpPr>
        <p:spPr>
          <a:xfrm>
            <a:off x="2377440" y="5349240"/>
            <a:ext cx="1737360" cy="402336"/>
          </a:xfrm>
          <a:prstGeom prst="rect">
            <a:avLst/>
          </a:prstGeom>
          <a:noFill/>
          <a:ln/>
        </p:spPr>
        <p:txBody>
          <a:bodyPr wrap="square" rtlCol="0" anchor="ctr"/>
          <a:lstStyle/>
          <a:p>
            <a:pPr marL="0" indent="0" algn="r">
              <a:buNone/>
            </a:pPr>
            <a:r>
              <a:rPr lang="en-US" sz="1150" b="1" dirty="0">
                <a:solidFill>
                  <a:srgbClr val="FF7A33"/>
                </a:solidFill>
                <a:latin typeface="Calibri" pitchFamily="34" charset="0"/>
                <a:ea typeface="Calibri" pitchFamily="34" charset="-122"/>
                <a:cs typeface="Calibri" pitchFamily="34" charset="-120"/>
              </a:rPr>
              <a:t>615 outliers</a:t>
            </a:r>
            <a:endParaRPr lang="en-US" sz="1150" dirty="0"/>
          </a:p>
        </p:txBody>
      </p:sp>
      <p:sp>
        <p:nvSpPr>
          <p:cNvPr id="18" name="Text 15"/>
          <p:cNvSpPr/>
          <p:nvPr/>
        </p:nvSpPr>
        <p:spPr>
          <a:xfrm>
            <a:off x="754380" y="5897880"/>
            <a:ext cx="3474720" cy="502920"/>
          </a:xfrm>
          <a:prstGeom prst="rect">
            <a:avLst/>
          </a:prstGeom>
          <a:noFill/>
          <a:ln/>
        </p:spPr>
        <p:txBody>
          <a:bodyPr wrap="square" rtlCol="0" anchor="ctr"/>
          <a:lstStyle/>
          <a:p>
            <a:pPr marL="0" indent="0">
              <a:lnSpc>
                <a:spcPct val="120000"/>
              </a:lnSpc>
              <a:buNone/>
            </a:pPr>
            <a:r>
              <a:rPr lang="en-US" sz="1050" i="1" dirty="0">
                <a:solidFill>
                  <a:srgbClr val="5A6285"/>
                </a:solidFill>
                <a:latin typeface="Calibri" pitchFamily="34" charset="0"/>
                <a:ea typeface="Calibri" pitchFamily="34" charset="-122"/>
                <a:cs typeface="Calibri" pitchFamily="34" charset="-120"/>
              </a:rPr>
              <a:t>Outliers were kept — they represent genuine premium products (e.g. ₹39,900 air purifier), not data errors.</a:t>
            </a:r>
            <a:endParaRPr lang="en-US" sz="1050" dirty="0"/>
          </a:p>
        </p:txBody>
      </p:sp>
      <p:pic>
        <p:nvPicPr>
          <p:cNvPr id="19" name="Image 1" descr="/home/claude/proj/charts/04_boxplot_platform.png"/>
          <p:cNvPicPr>
            <a:picLocks noChangeAspect="1"/>
          </p:cNvPicPr>
          <p:nvPr/>
        </p:nvPicPr>
        <p:blipFill>
          <a:blip r:embed="rId4"/>
          <a:stretch>
            <a:fillRect/>
          </a:stretch>
        </p:blipFill>
        <p:spPr>
          <a:xfrm>
            <a:off x="4709160" y="1691640"/>
            <a:ext cx="6949440" cy="4343400"/>
          </a:xfrm>
          <a:prstGeom prst="rect">
            <a:avLst/>
          </a:prstGeom>
        </p:spPr>
      </p:pic>
      <p:sp>
        <p:nvSpPr>
          <p:cNvPr id="20" name="Text 16"/>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892B0"/>
                </a:solidFill>
                <a:latin typeface="Calibri" pitchFamily="34" charset="0"/>
                <a:ea typeface="Calibri" pitchFamily="34" charset="-122"/>
                <a:cs typeface="Calibri" pitchFamily="34" charset="-120"/>
              </a:rPr>
              <a:t>09</a:t>
            </a:r>
            <a:endParaRPr lang="en-US" sz="900" dirty="0"/>
          </a:p>
        </p:txBody>
      </p:sp>
      <p:sp>
        <p:nvSpPr>
          <p:cNvPr id="21" name="Text 17"/>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SmartBasket Analysis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50" b="1" kern="0" spc="200" dirty="0">
                <a:solidFill>
                  <a:srgbClr val="7B2FF7"/>
                </a:solidFill>
                <a:latin typeface="Calibri" pitchFamily="34" charset="0"/>
                <a:ea typeface="Calibri" pitchFamily="34" charset="-122"/>
                <a:cs typeface="Calibri" pitchFamily="34" charset="-120"/>
              </a:rPr>
              <a:t>SLIDE 11</a:t>
            </a:r>
            <a:endParaRPr lang="en-US" sz="125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51A45"/>
                </a:solidFill>
                <a:latin typeface="Cambria" pitchFamily="34" charset="0"/>
                <a:ea typeface="Cambria" pitchFamily="34" charset="-122"/>
                <a:cs typeface="Cambria" pitchFamily="34" charset="-120"/>
              </a:rPr>
              <a:t>Exploratory Data Analysis — Q1 to Q5</a:t>
            </a:r>
            <a:endParaRPr lang="en-US" sz="3000" dirty="0"/>
          </a:p>
        </p:txBody>
      </p:sp>
      <p:pic>
        <p:nvPicPr>
          <p:cNvPr id="4" name="Image 0" descr="/home/claude/proj/charts/01_price_dist_platform.png"/>
          <p:cNvPicPr>
            <a:picLocks noChangeAspect="1"/>
          </p:cNvPicPr>
          <p:nvPr/>
        </p:nvPicPr>
        <p:blipFill>
          <a:blip r:embed="rId3"/>
          <a:stretch>
            <a:fillRect/>
          </a:stretch>
        </p:blipFill>
        <p:spPr>
          <a:xfrm>
            <a:off x="502920" y="1645920"/>
            <a:ext cx="6492240" cy="4526280"/>
          </a:xfrm>
          <a:prstGeom prst="rect">
            <a:avLst/>
          </a:prstGeom>
        </p:spPr>
      </p:pic>
      <p:sp>
        <p:nvSpPr>
          <p:cNvPr id="5" name="Shape 2"/>
          <p:cNvSpPr/>
          <p:nvPr/>
        </p:nvSpPr>
        <p:spPr>
          <a:xfrm>
            <a:off x="7269480" y="1783080"/>
            <a:ext cx="4389120" cy="713232"/>
          </a:xfrm>
          <a:prstGeom prst="roundRect">
            <a:avLst>
              <a:gd name="adj" fmla="val 10256"/>
            </a:avLst>
          </a:prstGeom>
          <a:solidFill>
            <a:srgbClr val="F4F6FB"/>
          </a:solidFill>
          <a:ln/>
        </p:spPr>
      </p:sp>
      <p:sp>
        <p:nvSpPr>
          <p:cNvPr id="6" name="Text 3"/>
          <p:cNvSpPr/>
          <p:nvPr/>
        </p:nvSpPr>
        <p:spPr>
          <a:xfrm>
            <a:off x="7452360" y="1783080"/>
            <a:ext cx="4069080" cy="713232"/>
          </a:xfrm>
          <a:prstGeom prst="rect">
            <a:avLst/>
          </a:prstGeom>
          <a:noFill/>
          <a:ln/>
        </p:spPr>
        <p:txBody>
          <a:bodyPr wrap="square" rtlCol="0" anchor="ctr"/>
          <a:lstStyle/>
          <a:p>
            <a:pPr marL="0" indent="0">
              <a:lnSpc>
                <a:spcPct val="115000"/>
              </a:lnSpc>
              <a:buNone/>
            </a:pPr>
            <a:r>
              <a:rPr lang="en-US" sz="1080" dirty="0">
                <a:solidFill>
                  <a:srgbClr val="2A3358"/>
                </a:solidFill>
                <a:latin typeface="Calibri" pitchFamily="34" charset="0"/>
                <a:ea typeface="Calibri" pitchFamily="34" charset="-122"/>
                <a:cs typeface="Calibri" pitchFamily="34" charset="-120"/>
              </a:rPr>
              <a:t>Q1  BigBasket spans the widest price range; Zepto &amp; Blinkit skew low-to-medium.</a:t>
            </a:r>
            <a:endParaRPr lang="en-US" sz="1080" dirty="0"/>
          </a:p>
        </p:txBody>
      </p:sp>
      <p:sp>
        <p:nvSpPr>
          <p:cNvPr id="7" name="Shape 4"/>
          <p:cNvSpPr/>
          <p:nvPr/>
        </p:nvSpPr>
        <p:spPr>
          <a:xfrm>
            <a:off x="7269480" y="2624328"/>
            <a:ext cx="4389120" cy="713232"/>
          </a:xfrm>
          <a:prstGeom prst="roundRect">
            <a:avLst>
              <a:gd name="adj" fmla="val 10256"/>
            </a:avLst>
          </a:prstGeom>
          <a:solidFill>
            <a:srgbClr val="F4F6FB"/>
          </a:solidFill>
          <a:ln/>
        </p:spPr>
      </p:sp>
      <p:sp>
        <p:nvSpPr>
          <p:cNvPr id="8" name="Text 5"/>
          <p:cNvSpPr/>
          <p:nvPr/>
        </p:nvSpPr>
        <p:spPr>
          <a:xfrm>
            <a:off x="7452360" y="2624328"/>
            <a:ext cx="4069080" cy="713232"/>
          </a:xfrm>
          <a:prstGeom prst="rect">
            <a:avLst/>
          </a:prstGeom>
          <a:noFill/>
          <a:ln/>
        </p:spPr>
        <p:txBody>
          <a:bodyPr wrap="square" rtlCol="0" anchor="ctr"/>
          <a:lstStyle/>
          <a:p>
            <a:pPr marL="0" indent="0">
              <a:lnSpc>
                <a:spcPct val="115000"/>
              </a:lnSpc>
              <a:buNone/>
            </a:pPr>
            <a:r>
              <a:rPr lang="en-US" sz="1080" dirty="0">
                <a:solidFill>
                  <a:srgbClr val="2A3358"/>
                </a:solidFill>
                <a:latin typeface="Calibri" pitchFamily="34" charset="0"/>
                <a:ea typeface="Calibri" pitchFamily="34" charset="-122"/>
                <a:cs typeface="Calibri" pitchFamily="34" charset="-120"/>
              </a:rPr>
              <a:t>Q2  Beauty &amp; Hygiene drives the highest total sales value, followed by Kitchen, Garden &amp; Pets.</a:t>
            </a:r>
            <a:endParaRPr lang="en-US" sz="1080" dirty="0"/>
          </a:p>
        </p:txBody>
      </p:sp>
      <p:sp>
        <p:nvSpPr>
          <p:cNvPr id="9" name="Shape 6"/>
          <p:cNvSpPr/>
          <p:nvPr/>
        </p:nvSpPr>
        <p:spPr>
          <a:xfrm>
            <a:off x="7269480" y="3465576"/>
            <a:ext cx="4389120" cy="713232"/>
          </a:xfrm>
          <a:prstGeom prst="roundRect">
            <a:avLst>
              <a:gd name="adj" fmla="val 10256"/>
            </a:avLst>
          </a:prstGeom>
          <a:solidFill>
            <a:srgbClr val="F4F6FB"/>
          </a:solidFill>
          <a:ln/>
        </p:spPr>
      </p:sp>
      <p:sp>
        <p:nvSpPr>
          <p:cNvPr id="10" name="Text 7"/>
          <p:cNvSpPr/>
          <p:nvPr/>
        </p:nvSpPr>
        <p:spPr>
          <a:xfrm>
            <a:off x="7452360" y="3465576"/>
            <a:ext cx="4069080" cy="713232"/>
          </a:xfrm>
          <a:prstGeom prst="rect">
            <a:avLst/>
          </a:prstGeom>
          <a:noFill/>
          <a:ln/>
        </p:spPr>
        <p:txBody>
          <a:bodyPr wrap="square" rtlCol="0" anchor="ctr"/>
          <a:lstStyle/>
          <a:p>
            <a:pPr marL="0" indent="0">
              <a:lnSpc>
                <a:spcPct val="115000"/>
              </a:lnSpc>
              <a:buNone/>
            </a:pPr>
            <a:r>
              <a:rPr lang="en-US" sz="1080" dirty="0">
                <a:solidFill>
                  <a:srgbClr val="2A3358"/>
                </a:solidFill>
                <a:latin typeface="Calibri" pitchFamily="34" charset="0"/>
                <a:ea typeface="Calibri" pitchFamily="34" charset="-122"/>
                <a:cs typeface="Calibri" pitchFamily="34" charset="-120"/>
              </a:rPr>
              <a:t>Q3  Sale prices are heavily right-skewed (skew = 13.2) — most products are budget-priced.</a:t>
            </a:r>
            <a:endParaRPr lang="en-US" sz="1080" dirty="0"/>
          </a:p>
        </p:txBody>
      </p:sp>
      <p:sp>
        <p:nvSpPr>
          <p:cNvPr id="11" name="Shape 8"/>
          <p:cNvSpPr/>
          <p:nvPr/>
        </p:nvSpPr>
        <p:spPr>
          <a:xfrm>
            <a:off x="7269480" y="4306824"/>
            <a:ext cx="4389120" cy="713232"/>
          </a:xfrm>
          <a:prstGeom prst="roundRect">
            <a:avLst>
              <a:gd name="adj" fmla="val 10256"/>
            </a:avLst>
          </a:prstGeom>
          <a:solidFill>
            <a:srgbClr val="F4F6FB"/>
          </a:solidFill>
          <a:ln/>
        </p:spPr>
      </p:sp>
      <p:sp>
        <p:nvSpPr>
          <p:cNvPr id="12" name="Text 9"/>
          <p:cNvSpPr/>
          <p:nvPr/>
        </p:nvSpPr>
        <p:spPr>
          <a:xfrm>
            <a:off x="7452360" y="4306824"/>
            <a:ext cx="4069080" cy="713232"/>
          </a:xfrm>
          <a:prstGeom prst="rect">
            <a:avLst/>
          </a:prstGeom>
          <a:noFill/>
          <a:ln/>
        </p:spPr>
        <p:txBody>
          <a:bodyPr wrap="square" rtlCol="0" anchor="ctr"/>
          <a:lstStyle/>
          <a:p>
            <a:pPr marL="0" indent="0">
              <a:lnSpc>
                <a:spcPct val="115000"/>
              </a:lnSpc>
              <a:buNone/>
            </a:pPr>
            <a:r>
              <a:rPr lang="en-US" sz="1080" dirty="0">
                <a:solidFill>
                  <a:srgbClr val="2A3358"/>
                </a:solidFill>
                <a:latin typeface="Calibri" pitchFamily="34" charset="0"/>
                <a:ea typeface="Calibri" pitchFamily="34" charset="-122"/>
                <a:cs typeface="Calibri" pitchFamily="34" charset="-120"/>
              </a:rPr>
              <a:t>Q4  BigBasket shows the widest price variation (σ = ₹487); Zepto is the most consistent.</a:t>
            </a:r>
            <a:endParaRPr lang="en-US" sz="1080" dirty="0"/>
          </a:p>
        </p:txBody>
      </p:sp>
      <p:sp>
        <p:nvSpPr>
          <p:cNvPr id="13" name="Shape 10"/>
          <p:cNvSpPr/>
          <p:nvPr/>
        </p:nvSpPr>
        <p:spPr>
          <a:xfrm>
            <a:off x="7269480" y="5148072"/>
            <a:ext cx="4389120" cy="713232"/>
          </a:xfrm>
          <a:prstGeom prst="roundRect">
            <a:avLst>
              <a:gd name="adj" fmla="val 10256"/>
            </a:avLst>
          </a:prstGeom>
          <a:solidFill>
            <a:srgbClr val="F4F6FB"/>
          </a:solidFill>
          <a:ln/>
        </p:spPr>
      </p:sp>
      <p:sp>
        <p:nvSpPr>
          <p:cNvPr id="14" name="Text 11"/>
          <p:cNvSpPr/>
          <p:nvPr/>
        </p:nvSpPr>
        <p:spPr>
          <a:xfrm>
            <a:off x="7452360" y="5148072"/>
            <a:ext cx="4069080" cy="713232"/>
          </a:xfrm>
          <a:prstGeom prst="rect">
            <a:avLst/>
          </a:prstGeom>
          <a:noFill/>
          <a:ln/>
        </p:spPr>
        <p:txBody>
          <a:bodyPr wrap="square" rtlCol="0" anchor="ctr"/>
          <a:lstStyle/>
          <a:p>
            <a:pPr marL="0" indent="0">
              <a:lnSpc>
                <a:spcPct val="115000"/>
              </a:lnSpc>
              <a:buNone/>
            </a:pPr>
            <a:r>
              <a:rPr lang="en-US" sz="1080" dirty="0">
                <a:solidFill>
                  <a:srgbClr val="2A3358"/>
                </a:solidFill>
                <a:latin typeface="Calibri" pitchFamily="34" charset="0"/>
                <a:ea typeface="Calibri" pitchFamily="34" charset="-122"/>
                <a:cs typeface="Calibri" pitchFamily="34" charset="-120"/>
              </a:rPr>
              <a:t>Q5  Zepto leads average rating (4.30), followed by Blinkit (4.20); JioMart trails (3.90).</a:t>
            </a:r>
            <a:endParaRPr lang="en-US" sz="1080" dirty="0"/>
          </a:p>
        </p:txBody>
      </p:sp>
      <p:sp>
        <p:nvSpPr>
          <p:cNvPr id="15" name="Text 12"/>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892B0"/>
                </a:solidFill>
                <a:latin typeface="Calibri" pitchFamily="34" charset="0"/>
                <a:ea typeface="Calibri" pitchFamily="34" charset="-122"/>
                <a:cs typeface="Calibri" pitchFamily="34" charset="-120"/>
              </a:rPr>
              <a:t>10</a:t>
            </a:r>
            <a:endParaRPr lang="en-US" sz="900" dirty="0"/>
          </a:p>
        </p:txBody>
      </p:sp>
      <p:sp>
        <p:nvSpPr>
          <p:cNvPr id="16" name="Text 13"/>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SmartBasket Analysis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50" b="1" kern="0" spc="200" dirty="0">
                <a:solidFill>
                  <a:srgbClr val="17C3E6"/>
                </a:solidFill>
                <a:latin typeface="Calibri" pitchFamily="34" charset="0"/>
                <a:ea typeface="Calibri" pitchFamily="34" charset="-122"/>
                <a:cs typeface="Calibri" pitchFamily="34" charset="-120"/>
              </a:rPr>
              <a:t>SLIDE 12</a:t>
            </a:r>
            <a:endParaRPr lang="en-US" sz="125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51A45"/>
                </a:solidFill>
                <a:latin typeface="Cambria" pitchFamily="34" charset="0"/>
                <a:ea typeface="Cambria" pitchFamily="34" charset="-122"/>
                <a:cs typeface="Cambria" pitchFamily="34" charset="-120"/>
              </a:rPr>
              <a:t>Exploratory Data Analysis — Q6 to Q10</a:t>
            </a:r>
            <a:endParaRPr lang="en-US" sz="3000" dirty="0"/>
          </a:p>
        </p:txBody>
      </p:sp>
      <p:pic>
        <p:nvPicPr>
          <p:cNvPr id="4" name="Image 0" descr="/home/claude/proj/charts/06_scatter_mrp_sale.png"/>
          <p:cNvPicPr>
            <a:picLocks noChangeAspect="1"/>
          </p:cNvPicPr>
          <p:nvPr/>
        </p:nvPicPr>
        <p:blipFill>
          <a:blip r:embed="rId3"/>
          <a:stretch>
            <a:fillRect/>
          </a:stretch>
        </p:blipFill>
        <p:spPr>
          <a:xfrm>
            <a:off x="502920" y="1645920"/>
            <a:ext cx="5486400" cy="3931920"/>
          </a:xfrm>
          <a:prstGeom prst="rect">
            <a:avLst/>
          </a:prstGeom>
        </p:spPr>
      </p:pic>
      <p:pic>
        <p:nvPicPr>
          <p:cNvPr id="5" name="Image 1" descr="/home/claude/proj/charts/08_corr_heatmap.png"/>
          <p:cNvPicPr>
            <a:picLocks noChangeAspect="1"/>
          </p:cNvPicPr>
          <p:nvPr/>
        </p:nvPicPr>
        <p:blipFill>
          <a:blip r:embed="rId4"/>
          <a:stretch>
            <a:fillRect/>
          </a:stretch>
        </p:blipFill>
        <p:spPr>
          <a:xfrm>
            <a:off x="6172200" y="1645920"/>
            <a:ext cx="5486400" cy="3931920"/>
          </a:xfrm>
          <a:prstGeom prst="rect">
            <a:avLst/>
          </a:prstGeom>
        </p:spPr>
      </p:pic>
      <p:sp>
        <p:nvSpPr>
          <p:cNvPr id="6" name="Text 2"/>
          <p:cNvSpPr/>
          <p:nvPr/>
        </p:nvSpPr>
        <p:spPr>
          <a:xfrm>
            <a:off x="502920" y="5715000"/>
            <a:ext cx="11155680" cy="731520"/>
          </a:xfrm>
          <a:prstGeom prst="rect">
            <a:avLst/>
          </a:prstGeom>
          <a:noFill/>
          <a:ln/>
        </p:spPr>
        <p:txBody>
          <a:bodyPr wrap="square" rtlCol="0" anchor="ctr"/>
          <a:lstStyle/>
          <a:p>
            <a:pPr marL="0" indent="0">
              <a:lnSpc>
                <a:spcPct val="120000"/>
              </a:lnSpc>
              <a:buNone/>
            </a:pPr>
            <a:r>
              <a:rPr lang="en-US" sz="1080" dirty="0">
                <a:solidFill>
                  <a:srgbClr val="2A3358"/>
                </a:solidFill>
                <a:latin typeface="Calibri" pitchFamily="34" charset="0"/>
                <a:ea typeface="Calibri" pitchFamily="34" charset="-122"/>
                <a:cs typeface="Calibri" pitchFamily="34" charset="-120"/>
              </a:rPr>
              <a:t>Q6  MRP and Sale Price correlate strongly (r = 0.96) — pricing is consistent across the funnel.     |     Q7  Discount % barely tracks Sale Price (r = 0.036); premium items get large discounts too.     |     Q8–9  Rating is essentially independent of price and discount — quality perception isn't price-driven.     |     Q10  Ratings stay high across price bands — premium items don't earn better reviews.</a:t>
            </a:r>
            <a:endParaRPr lang="en-US" sz="1080" dirty="0"/>
          </a:p>
        </p:txBody>
      </p:sp>
      <p:sp>
        <p:nvSpPr>
          <p:cNvPr id="7" name="Text 3"/>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892B0"/>
                </a:solidFill>
                <a:latin typeface="Calibri" pitchFamily="34" charset="0"/>
                <a:ea typeface="Calibri" pitchFamily="34" charset="-122"/>
                <a:cs typeface="Calibri" pitchFamily="34" charset="-120"/>
              </a:rPr>
              <a:t>11</a:t>
            </a:r>
            <a:endParaRPr lang="en-US" sz="900" dirty="0"/>
          </a:p>
        </p:txBody>
      </p:sp>
      <p:sp>
        <p:nvSpPr>
          <p:cNvPr id="8" name="Text 4"/>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SmartBasket Analysis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50" b="1" kern="0" spc="200" dirty="0">
                <a:solidFill>
                  <a:srgbClr val="12B5A6"/>
                </a:solidFill>
                <a:latin typeface="Calibri" pitchFamily="34" charset="0"/>
                <a:ea typeface="Calibri" pitchFamily="34" charset="-122"/>
                <a:cs typeface="Calibri" pitchFamily="34" charset="-120"/>
              </a:rPr>
              <a:t>SLIDE 13</a:t>
            </a:r>
            <a:endParaRPr lang="en-US" sz="125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51A45"/>
                </a:solidFill>
                <a:latin typeface="Cambria" pitchFamily="34" charset="0"/>
                <a:ea typeface="Cambria" pitchFamily="34" charset="-122"/>
                <a:cs typeface="Cambria" pitchFamily="34" charset="-120"/>
              </a:rPr>
              <a:t>Exploratory Data Analysis — Q11 to Q15</a:t>
            </a:r>
            <a:endParaRPr lang="en-US" sz="3000" dirty="0"/>
          </a:p>
        </p:txBody>
      </p:sp>
      <p:pic>
        <p:nvPicPr>
          <p:cNvPr id="4" name="Image 0" descr="/home/claude/proj/charts/13_stacked_category_platform.png"/>
          <p:cNvPicPr>
            <a:picLocks noChangeAspect="1"/>
          </p:cNvPicPr>
          <p:nvPr/>
        </p:nvPicPr>
        <p:blipFill>
          <a:blip r:embed="rId3"/>
          <a:stretch>
            <a:fillRect/>
          </a:stretch>
        </p:blipFill>
        <p:spPr>
          <a:xfrm>
            <a:off x="502920" y="1645920"/>
            <a:ext cx="6537960" cy="4434840"/>
          </a:xfrm>
          <a:prstGeom prst="rect">
            <a:avLst/>
          </a:prstGeom>
        </p:spPr>
      </p:pic>
      <p:sp>
        <p:nvSpPr>
          <p:cNvPr id="5" name="Shape 2"/>
          <p:cNvSpPr/>
          <p:nvPr/>
        </p:nvSpPr>
        <p:spPr>
          <a:xfrm>
            <a:off x="7269480" y="1783080"/>
            <a:ext cx="4389120" cy="713232"/>
          </a:xfrm>
          <a:prstGeom prst="roundRect">
            <a:avLst>
              <a:gd name="adj" fmla="val 10256"/>
            </a:avLst>
          </a:prstGeom>
          <a:solidFill>
            <a:srgbClr val="F4F6FB"/>
          </a:solidFill>
          <a:ln/>
        </p:spPr>
      </p:sp>
      <p:sp>
        <p:nvSpPr>
          <p:cNvPr id="6" name="Text 3"/>
          <p:cNvSpPr/>
          <p:nvPr/>
        </p:nvSpPr>
        <p:spPr>
          <a:xfrm>
            <a:off x="7452360" y="1783080"/>
            <a:ext cx="4069080" cy="713232"/>
          </a:xfrm>
          <a:prstGeom prst="rect">
            <a:avLst/>
          </a:prstGeom>
          <a:noFill/>
          <a:ln/>
        </p:spPr>
        <p:txBody>
          <a:bodyPr wrap="square" rtlCol="0" anchor="ctr"/>
          <a:lstStyle/>
          <a:p>
            <a:pPr marL="0" indent="0">
              <a:lnSpc>
                <a:spcPct val="115000"/>
              </a:lnSpc>
              <a:buNone/>
            </a:pPr>
            <a:r>
              <a:rPr lang="en-US" sz="1080" dirty="0">
                <a:solidFill>
                  <a:srgbClr val="2A3358"/>
                </a:solidFill>
                <a:latin typeface="Calibri" pitchFamily="34" charset="0"/>
                <a:ea typeface="Calibri" pitchFamily="34" charset="-122"/>
                <a:cs typeface="Calibri" pitchFamily="34" charset="-120"/>
              </a:rPr>
              <a:t>Q11  BigBasket contributes 69.7% of the entire product catalogue.</a:t>
            </a:r>
            <a:endParaRPr lang="en-US" sz="1080" dirty="0"/>
          </a:p>
        </p:txBody>
      </p:sp>
      <p:sp>
        <p:nvSpPr>
          <p:cNvPr id="7" name="Shape 4"/>
          <p:cNvSpPr/>
          <p:nvPr/>
        </p:nvSpPr>
        <p:spPr>
          <a:xfrm>
            <a:off x="7269480" y="2624328"/>
            <a:ext cx="4389120" cy="713232"/>
          </a:xfrm>
          <a:prstGeom prst="roundRect">
            <a:avLst>
              <a:gd name="adj" fmla="val 10256"/>
            </a:avLst>
          </a:prstGeom>
          <a:solidFill>
            <a:srgbClr val="F4F6FB"/>
          </a:solidFill>
          <a:ln/>
        </p:spPr>
      </p:sp>
      <p:sp>
        <p:nvSpPr>
          <p:cNvPr id="8" name="Text 5"/>
          <p:cNvSpPr/>
          <p:nvPr/>
        </p:nvSpPr>
        <p:spPr>
          <a:xfrm>
            <a:off x="7452360" y="2624328"/>
            <a:ext cx="4069080" cy="713232"/>
          </a:xfrm>
          <a:prstGeom prst="rect">
            <a:avLst/>
          </a:prstGeom>
          <a:noFill/>
          <a:ln/>
        </p:spPr>
        <p:txBody>
          <a:bodyPr wrap="square" rtlCol="0" anchor="ctr"/>
          <a:lstStyle/>
          <a:p>
            <a:pPr marL="0" indent="0">
              <a:lnSpc>
                <a:spcPct val="115000"/>
              </a:lnSpc>
              <a:buNone/>
            </a:pPr>
            <a:r>
              <a:rPr lang="en-US" sz="1080" dirty="0">
                <a:solidFill>
                  <a:srgbClr val="2A3358"/>
                </a:solidFill>
                <a:latin typeface="Calibri" pitchFamily="34" charset="0"/>
                <a:ea typeface="Calibri" pitchFamily="34" charset="-122"/>
                <a:cs typeface="Calibri" pitchFamily="34" charset="-120"/>
              </a:rPr>
              <a:t>Q12  General Grocery &amp; Kitchen/Garden/Pets show the widest price variability.</a:t>
            </a:r>
            <a:endParaRPr lang="en-US" sz="1080" dirty="0"/>
          </a:p>
        </p:txBody>
      </p:sp>
      <p:sp>
        <p:nvSpPr>
          <p:cNvPr id="9" name="Shape 6"/>
          <p:cNvSpPr/>
          <p:nvPr/>
        </p:nvSpPr>
        <p:spPr>
          <a:xfrm>
            <a:off x="7269480" y="3465576"/>
            <a:ext cx="4389120" cy="713232"/>
          </a:xfrm>
          <a:prstGeom prst="roundRect">
            <a:avLst>
              <a:gd name="adj" fmla="val 10256"/>
            </a:avLst>
          </a:prstGeom>
          <a:solidFill>
            <a:srgbClr val="F4F6FB"/>
          </a:solidFill>
          <a:ln/>
        </p:spPr>
      </p:sp>
      <p:sp>
        <p:nvSpPr>
          <p:cNvPr id="10" name="Text 7"/>
          <p:cNvSpPr/>
          <p:nvPr/>
        </p:nvSpPr>
        <p:spPr>
          <a:xfrm>
            <a:off x="7452360" y="3465576"/>
            <a:ext cx="4069080" cy="713232"/>
          </a:xfrm>
          <a:prstGeom prst="rect">
            <a:avLst/>
          </a:prstGeom>
          <a:noFill/>
          <a:ln/>
        </p:spPr>
        <p:txBody>
          <a:bodyPr wrap="square" rtlCol="0" anchor="ctr"/>
          <a:lstStyle/>
          <a:p>
            <a:pPr marL="0" indent="0">
              <a:lnSpc>
                <a:spcPct val="115000"/>
              </a:lnSpc>
              <a:buNone/>
            </a:pPr>
            <a:r>
              <a:rPr lang="en-US" sz="1080" dirty="0">
                <a:solidFill>
                  <a:srgbClr val="2A3358"/>
                </a:solidFill>
                <a:latin typeface="Calibri" pitchFamily="34" charset="0"/>
                <a:ea typeface="Calibri" pitchFamily="34" charset="-122"/>
                <a:cs typeface="Calibri" pitchFamily="34" charset="-120"/>
              </a:rPr>
              <a:t>Q13  Most categories are dominated by a single platform, not evenly spread.</a:t>
            </a:r>
            <a:endParaRPr lang="en-US" sz="1080" dirty="0"/>
          </a:p>
        </p:txBody>
      </p:sp>
      <p:sp>
        <p:nvSpPr>
          <p:cNvPr id="11" name="Shape 8"/>
          <p:cNvSpPr/>
          <p:nvPr/>
        </p:nvSpPr>
        <p:spPr>
          <a:xfrm>
            <a:off x="7269480" y="4306824"/>
            <a:ext cx="4389120" cy="713232"/>
          </a:xfrm>
          <a:prstGeom prst="roundRect">
            <a:avLst>
              <a:gd name="adj" fmla="val 10256"/>
            </a:avLst>
          </a:prstGeom>
          <a:solidFill>
            <a:srgbClr val="F4F6FB"/>
          </a:solidFill>
          <a:ln/>
        </p:spPr>
      </p:sp>
      <p:sp>
        <p:nvSpPr>
          <p:cNvPr id="12" name="Text 9"/>
          <p:cNvSpPr/>
          <p:nvPr/>
        </p:nvSpPr>
        <p:spPr>
          <a:xfrm>
            <a:off x="7452360" y="4306824"/>
            <a:ext cx="4069080" cy="713232"/>
          </a:xfrm>
          <a:prstGeom prst="rect">
            <a:avLst/>
          </a:prstGeom>
          <a:noFill/>
          <a:ln/>
        </p:spPr>
        <p:txBody>
          <a:bodyPr wrap="square" rtlCol="0" anchor="ctr"/>
          <a:lstStyle/>
          <a:p>
            <a:pPr marL="0" indent="0">
              <a:lnSpc>
                <a:spcPct val="115000"/>
              </a:lnSpc>
              <a:buNone/>
            </a:pPr>
            <a:r>
              <a:rPr lang="en-US" sz="1080" dirty="0">
                <a:solidFill>
                  <a:srgbClr val="2A3358"/>
                </a:solidFill>
                <a:latin typeface="Calibri" pitchFamily="34" charset="0"/>
                <a:ea typeface="Calibri" pitchFamily="34" charset="-122"/>
                <a:cs typeface="Calibri" pitchFamily="34" charset="-120"/>
              </a:rPr>
              <a:t>Q14  Brands like Amul &amp; Ching's pair strong ratings with modest discounting.</a:t>
            </a:r>
            <a:endParaRPr lang="en-US" sz="1080" dirty="0"/>
          </a:p>
        </p:txBody>
      </p:sp>
      <p:sp>
        <p:nvSpPr>
          <p:cNvPr id="13" name="Shape 10"/>
          <p:cNvSpPr/>
          <p:nvPr/>
        </p:nvSpPr>
        <p:spPr>
          <a:xfrm>
            <a:off x="7269480" y="5148072"/>
            <a:ext cx="4389120" cy="713232"/>
          </a:xfrm>
          <a:prstGeom prst="roundRect">
            <a:avLst>
              <a:gd name="adj" fmla="val 10256"/>
            </a:avLst>
          </a:prstGeom>
          <a:solidFill>
            <a:srgbClr val="F4F6FB"/>
          </a:solidFill>
          <a:ln/>
        </p:spPr>
      </p:sp>
      <p:sp>
        <p:nvSpPr>
          <p:cNvPr id="14" name="Text 11"/>
          <p:cNvSpPr/>
          <p:nvPr/>
        </p:nvSpPr>
        <p:spPr>
          <a:xfrm>
            <a:off x="7452360" y="5148072"/>
            <a:ext cx="4069080" cy="713232"/>
          </a:xfrm>
          <a:prstGeom prst="rect">
            <a:avLst/>
          </a:prstGeom>
          <a:noFill/>
          <a:ln/>
        </p:spPr>
        <p:txBody>
          <a:bodyPr wrap="square" rtlCol="0" anchor="ctr"/>
          <a:lstStyle/>
          <a:p>
            <a:pPr marL="0" indent="0">
              <a:lnSpc>
                <a:spcPct val="115000"/>
              </a:lnSpc>
              <a:buNone/>
            </a:pPr>
            <a:r>
              <a:rPr lang="en-US" sz="1080" dirty="0">
                <a:solidFill>
                  <a:srgbClr val="2A3358"/>
                </a:solidFill>
                <a:latin typeface="Calibri" pitchFamily="34" charset="0"/>
                <a:ea typeface="Calibri" pitchFamily="34" charset="-122"/>
                <a:cs typeface="Calibri" pitchFamily="34" charset="-120"/>
              </a:rPr>
              <a:t>Q15  Ratings are left-skewed (skew = −2.07) — concentrated between 4.0 and 5.0.</a:t>
            </a:r>
            <a:endParaRPr lang="en-US" sz="1080" dirty="0"/>
          </a:p>
        </p:txBody>
      </p:sp>
      <p:sp>
        <p:nvSpPr>
          <p:cNvPr id="15" name="Text 12"/>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892B0"/>
                </a:solidFill>
                <a:latin typeface="Calibri" pitchFamily="34" charset="0"/>
                <a:ea typeface="Calibri" pitchFamily="34" charset="-122"/>
                <a:cs typeface="Calibri" pitchFamily="34" charset="-120"/>
              </a:rPr>
              <a:t>12</a:t>
            </a:r>
            <a:endParaRPr lang="en-US" sz="900" dirty="0"/>
          </a:p>
        </p:txBody>
      </p:sp>
      <p:sp>
        <p:nvSpPr>
          <p:cNvPr id="16" name="Text 13"/>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SmartBasket Analysis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50" b="1" kern="0" spc="200" dirty="0">
                <a:solidFill>
                  <a:srgbClr val="7B2FF7"/>
                </a:solidFill>
                <a:latin typeface="Calibri" pitchFamily="34" charset="0"/>
                <a:ea typeface="Calibri" pitchFamily="34" charset="-122"/>
                <a:cs typeface="Calibri" pitchFamily="34" charset="-120"/>
              </a:rPr>
              <a:t>SLIDE 14</a:t>
            </a:r>
            <a:endParaRPr lang="en-US" sz="125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51A45"/>
                </a:solidFill>
                <a:latin typeface="Cambria" pitchFamily="34" charset="0"/>
                <a:ea typeface="Cambria" pitchFamily="34" charset="-122"/>
                <a:cs typeface="Cambria" pitchFamily="34" charset="-120"/>
              </a:rPr>
              <a:t>Correlation Analysis</a:t>
            </a:r>
            <a:endParaRPr lang="en-US" sz="3000" dirty="0"/>
          </a:p>
        </p:txBody>
      </p:sp>
      <p:pic>
        <p:nvPicPr>
          <p:cNvPr id="4" name="Image 0" descr="/home/claude/proj/charts/09_pairplot.png"/>
          <p:cNvPicPr>
            <a:picLocks noChangeAspect="1"/>
          </p:cNvPicPr>
          <p:nvPr/>
        </p:nvPicPr>
        <p:blipFill>
          <a:blip r:embed="rId3"/>
          <a:stretch>
            <a:fillRect/>
          </a:stretch>
        </p:blipFill>
        <p:spPr>
          <a:xfrm>
            <a:off x="457200" y="1645920"/>
            <a:ext cx="5806440" cy="4572000"/>
          </a:xfrm>
          <a:prstGeom prst="rect">
            <a:avLst/>
          </a:prstGeom>
        </p:spPr>
      </p:pic>
      <p:pic>
        <p:nvPicPr>
          <p:cNvPr id="5" name="Image 1" descr="/home/claude/proj/charts/07_discount_vs_price.png"/>
          <p:cNvPicPr>
            <a:picLocks noChangeAspect="1"/>
          </p:cNvPicPr>
          <p:nvPr/>
        </p:nvPicPr>
        <p:blipFill>
          <a:blip r:embed="rId4"/>
          <a:stretch>
            <a:fillRect/>
          </a:stretch>
        </p:blipFill>
        <p:spPr>
          <a:xfrm>
            <a:off x="6400800" y="1645920"/>
            <a:ext cx="5257800" cy="3291840"/>
          </a:xfrm>
          <a:prstGeom prst="rect">
            <a:avLst/>
          </a:prstGeom>
        </p:spPr>
      </p:pic>
      <p:sp>
        <p:nvSpPr>
          <p:cNvPr id="6" name="Shape 2"/>
          <p:cNvSpPr/>
          <p:nvPr/>
        </p:nvSpPr>
        <p:spPr>
          <a:xfrm>
            <a:off x="6400800" y="5074920"/>
            <a:ext cx="5257800" cy="1051560"/>
          </a:xfrm>
          <a:prstGeom prst="roundRect">
            <a:avLst>
              <a:gd name="adj" fmla="val 6957"/>
            </a:avLst>
          </a:prstGeom>
          <a:solidFill>
            <a:srgbClr val="F4F6FB"/>
          </a:solidFill>
          <a:ln/>
        </p:spPr>
      </p:sp>
      <p:sp>
        <p:nvSpPr>
          <p:cNvPr id="7" name="Text 3"/>
          <p:cNvSpPr/>
          <p:nvPr/>
        </p:nvSpPr>
        <p:spPr>
          <a:xfrm>
            <a:off x="6583680" y="5074920"/>
            <a:ext cx="4892040" cy="1051560"/>
          </a:xfrm>
          <a:prstGeom prst="rect">
            <a:avLst/>
          </a:prstGeom>
          <a:noFill/>
          <a:ln/>
        </p:spPr>
        <p:txBody>
          <a:bodyPr wrap="square" rtlCol="0" anchor="ctr"/>
          <a:lstStyle/>
          <a:p>
            <a:pPr marL="0" indent="0">
              <a:lnSpc>
                <a:spcPct val="125000"/>
              </a:lnSpc>
              <a:buNone/>
            </a:pPr>
            <a:r>
              <a:rPr lang="en-US" sz="1100" b="1" dirty="0">
                <a:solidFill>
                  <a:srgbClr val="2A3358"/>
                </a:solidFill>
                <a:latin typeface="Calibri" pitchFamily="34" charset="0"/>
                <a:ea typeface="Calibri" pitchFamily="34" charset="-122"/>
                <a:cs typeface="Calibri" pitchFamily="34" charset="-120"/>
              </a:rPr>
              <a:t>MRP ↔ Sale Price: r = 0.96 (very strong)     Discount ↔ Sale Price: r = 0.04 (negligible)     Rating is nearly uncorrelated with every pricing variable.</a:t>
            </a:r>
            <a:endParaRPr lang="en-US" sz="1100" dirty="0"/>
          </a:p>
        </p:txBody>
      </p:sp>
      <p:sp>
        <p:nvSpPr>
          <p:cNvPr id="8" name="Text 4"/>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892B0"/>
                </a:solidFill>
                <a:latin typeface="Calibri" pitchFamily="34" charset="0"/>
                <a:ea typeface="Calibri" pitchFamily="34" charset="-122"/>
                <a:cs typeface="Calibri" pitchFamily="34" charset="-120"/>
              </a:rPr>
              <a:t>13</a:t>
            </a:r>
            <a:endParaRPr lang="en-US" sz="900" dirty="0"/>
          </a:p>
        </p:txBody>
      </p:sp>
      <p:sp>
        <p:nvSpPr>
          <p:cNvPr id="9"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SmartBasket Analysis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50" b="1" kern="0" spc="200" dirty="0">
                <a:solidFill>
                  <a:srgbClr val="FF7A33"/>
                </a:solidFill>
                <a:latin typeface="Calibri" pitchFamily="34" charset="0"/>
                <a:ea typeface="Calibri" pitchFamily="34" charset="-122"/>
                <a:cs typeface="Calibri" pitchFamily="34" charset="-120"/>
              </a:rPr>
              <a:t>SLIDE 15</a:t>
            </a:r>
            <a:endParaRPr lang="en-US" sz="125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51A45"/>
                </a:solidFill>
                <a:latin typeface="Cambria" pitchFamily="34" charset="0"/>
                <a:ea typeface="Cambria" pitchFamily="34" charset="-122"/>
                <a:cs typeface="Cambria" pitchFamily="34" charset="-120"/>
              </a:rPr>
              <a:t>Platform Comparison</a:t>
            </a:r>
            <a:endParaRPr lang="en-US" sz="3000" dirty="0"/>
          </a:p>
        </p:txBody>
      </p:sp>
      <p:sp>
        <p:nvSpPr>
          <p:cNvPr id="4" name="Shape 2"/>
          <p:cNvSpPr/>
          <p:nvPr/>
        </p:nvSpPr>
        <p:spPr>
          <a:xfrm>
            <a:off x="548640" y="1691640"/>
            <a:ext cx="2606040" cy="4160520"/>
          </a:xfrm>
          <a:prstGeom prst="roundRect">
            <a:avLst>
              <a:gd name="adj" fmla="val 3509"/>
            </a:avLst>
          </a:prstGeom>
          <a:solidFill>
            <a:srgbClr val="F4F6FB"/>
          </a:solidFill>
          <a:ln/>
        </p:spPr>
      </p:sp>
      <p:sp>
        <p:nvSpPr>
          <p:cNvPr id="5" name="Shape 3"/>
          <p:cNvSpPr/>
          <p:nvPr/>
        </p:nvSpPr>
        <p:spPr>
          <a:xfrm>
            <a:off x="548640" y="1691640"/>
            <a:ext cx="2606040" cy="1051560"/>
          </a:xfrm>
          <a:prstGeom prst="roundRect">
            <a:avLst>
              <a:gd name="adj" fmla="val 8696"/>
            </a:avLst>
          </a:prstGeom>
          <a:solidFill>
            <a:srgbClr val="12B5A6"/>
          </a:solidFill>
          <a:ln/>
        </p:spPr>
      </p:sp>
      <p:sp>
        <p:nvSpPr>
          <p:cNvPr id="6" name="Shape 4"/>
          <p:cNvSpPr/>
          <p:nvPr/>
        </p:nvSpPr>
        <p:spPr>
          <a:xfrm>
            <a:off x="548640" y="2240280"/>
            <a:ext cx="2606040" cy="502920"/>
          </a:xfrm>
          <a:prstGeom prst="rect">
            <a:avLst/>
          </a:prstGeom>
          <a:solidFill>
            <a:srgbClr val="12B5A6"/>
          </a:solidFill>
          <a:ln/>
        </p:spPr>
      </p:sp>
      <p:pic>
        <p:nvPicPr>
          <p:cNvPr id="7" name="Image 0" descr="/home/claude/proj/icons/shoppingBag.png"/>
          <p:cNvPicPr>
            <a:picLocks noChangeAspect="1"/>
          </p:cNvPicPr>
          <p:nvPr/>
        </p:nvPicPr>
        <p:blipFill>
          <a:blip r:embed="rId3"/>
          <a:stretch>
            <a:fillRect/>
          </a:stretch>
        </p:blipFill>
        <p:spPr>
          <a:xfrm>
            <a:off x="1668780" y="1874520"/>
            <a:ext cx="365760" cy="365760"/>
          </a:xfrm>
          <a:prstGeom prst="rect">
            <a:avLst/>
          </a:prstGeom>
        </p:spPr>
      </p:pic>
      <p:sp>
        <p:nvSpPr>
          <p:cNvPr id="8" name="Text 5"/>
          <p:cNvSpPr/>
          <p:nvPr/>
        </p:nvSpPr>
        <p:spPr>
          <a:xfrm>
            <a:off x="548640" y="2404872"/>
            <a:ext cx="260604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BigBasket</a:t>
            </a:r>
            <a:endParaRPr lang="en-US" sz="1400" dirty="0"/>
          </a:p>
        </p:txBody>
      </p:sp>
      <p:sp>
        <p:nvSpPr>
          <p:cNvPr id="9" name="Text 6"/>
          <p:cNvSpPr/>
          <p:nvPr/>
        </p:nvSpPr>
        <p:spPr>
          <a:xfrm>
            <a:off x="731520" y="2926080"/>
            <a:ext cx="2240280" cy="256032"/>
          </a:xfrm>
          <a:prstGeom prst="rect">
            <a:avLst/>
          </a:prstGeom>
          <a:noFill/>
          <a:ln/>
        </p:spPr>
        <p:txBody>
          <a:bodyPr wrap="square" rtlCol="0" anchor="ctr"/>
          <a:lstStyle/>
          <a:p>
            <a:pPr marL="0" indent="0">
              <a:buNone/>
            </a:pPr>
            <a:r>
              <a:rPr lang="en-US" sz="850" b="1" kern="0" spc="100" dirty="0">
                <a:solidFill>
                  <a:srgbClr val="8892B0"/>
                </a:solidFill>
                <a:latin typeface="Calibri" pitchFamily="34" charset="0"/>
                <a:ea typeface="Calibri" pitchFamily="34" charset="-122"/>
                <a:cs typeface="Calibri" pitchFamily="34" charset="-120"/>
              </a:rPr>
              <a:t>AVG. PRICE</a:t>
            </a:r>
            <a:endParaRPr lang="en-US" sz="850" dirty="0"/>
          </a:p>
        </p:txBody>
      </p:sp>
      <p:sp>
        <p:nvSpPr>
          <p:cNvPr id="10" name="Text 7"/>
          <p:cNvSpPr/>
          <p:nvPr/>
        </p:nvSpPr>
        <p:spPr>
          <a:xfrm>
            <a:off x="731520" y="3145536"/>
            <a:ext cx="2240280" cy="384048"/>
          </a:xfrm>
          <a:prstGeom prst="rect">
            <a:avLst/>
          </a:prstGeom>
          <a:noFill/>
          <a:ln/>
        </p:spPr>
        <p:txBody>
          <a:bodyPr wrap="square" rtlCol="0" anchor="ctr"/>
          <a:lstStyle/>
          <a:p>
            <a:pPr marL="0" indent="0">
              <a:buNone/>
            </a:pPr>
            <a:r>
              <a:rPr lang="en-US" sz="1700" b="1" dirty="0">
                <a:solidFill>
                  <a:srgbClr val="151A45"/>
                </a:solidFill>
                <a:latin typeface="Cambria" pitchFamily="34" charset="0"/>
                <a:ea typeface="Cambria" pitchFamily="34" charset="-122"/>
                <a:cs typeface="Cambria" pitchFamily="34" charset="-120"/>
              </a:rPr>
              <a:t>₹322</a:t>
            </a:r>
            <a:endParaRPr lang="en-US" sz="1700" dirty="0"/>
          </a:p>
        </p:txBody>
      </p:sp>
      <p:sp>
        <p:nvSpPr>
          <p:cNvPr id="11" name="Text 8"/>
          <p:cNvSpPr/>
          <p:nvPr/>
        </p:nvSpPr>
        <p:spPr>
          <a:xfrm>
            <a:off x="731520" y="3639312"/>
            <a:ext cx="2240280" cy="256032"/>
          </a:xfrm>
          <a:prstGeom prst="rect">
            <a:avLst/>
          </a:prstGeom>
          <a:noFill/>
          <a:ln/>
        </p:spPr>
        <p:txBody>
          <a:bodyPr wrap="square" rtlCol="0" anchor="ctr"/>
          <a:lstStyle/>
          <a:p>
            <a:pPr marL="0" indent="0">
              <a:buNone/>
            </a:pPr>
            <a:r>
              <a:rPr lang="en-US" sz="850" b="1" kern="0" spc="100" dirty="0">
                <a:solidFill>
                  <a:srgbClr val="8892B0"/>
                </a:solidFill>
                <a:latin typeface="Calibri" pitchFamily="34" charset="0"/>
                <a:ea typeface="Calibri" pitchFamily="34" charset="-122"/>
                <a:cs typeface="Calibri" pitchFamily="34" charset="-120"/>
              </a:rPr>
              <a:t>AVG. DISCOUNT</a:t>
            </a:r>
            <a:endParaRPr lang="en-US" sz="850" dirty="0"/>
          </a:p>
        </p:txBody>
      </p:sp>
      <p:sp>
        <p:nvSpPr>
          <p:cNvPr id="12" name="Text 9"/>
          <p:cNvSpPr/>
          <p:nvPr/>
        </p:nvSpPr>
        <p:spPr>
          <a:xfrm>
            <a:off x="731520" y="3858768"/>
            <a:ext cx="2240280" cy="384048"/>
          </a:xfrm>
          <a:prstGeom prst="rect">
            <a:avLst/>
          </a:prstGeom>
          <a:noFill/>
          <a:ln/>
        </p:spPr>
        <p:txBody>
          <a:bodyPr wrap="square" rtlCol="0" anchor="ctr"/>
          <a:lstStyle/>
          <a:p>
            <a:pPr marL="0" indent="0">
              <a:buNone/>
            </a:pPr>
            <a:r>
              <a:rPr lang="en-US" sz="1700" b="1" dirty="0">
                <a:solidFill>
                  <a:srgbClr val="151A45"/>
                </a:solidFill>
                <a:latin typeface="Cambria" pitchFamily="34" charset="0"/>
                <a:ea typeface="Cambria" pitchFamily="34" charset="-122"/>
                <a:cs typeface="Cambria" pitchFamily="34" charset="-120"/>
              </a:rPr>
              <a:t>11.8%</a:t>
            </a:r>
            <a:endParaRPr lang="en-US" sz="1700" dirty="0"/>
          </a:p>
        </p:txBody>
      </p:sp>
      <p:sp>
        <p:nvSpPr>
          <p:cNvPr id="13" name="Text 10"/>
          <p:cNvSpPr/>
          <p:nvPr/>
        </p:nvSpPr>
        <p:spPr>
          <a:xfrm>
            <a:off x="731520" y="4352544"/>
            <a:ext cx="2240280" cy="256032"/>
          </a:xfrm>
          <a:prstGeom prst="rect">
            <a:avLst/>
          </a:prstGeom>
          <a:noFill/>
          <a:ln/>
        </p:spPr>
        <p:txBody>
          <a:bodyPr wrap="square" rtlCol="0" anchor="ctr"/>
          <a:lstStyle/>
          <a:p>
            <a:pPr marL="0" indent="0">
              <a:buNone/>
            </a:pPr>
            <a:r>
              <a:rPr lang="en-US" sz="850" b="1" kern="0" spc="100" dirty="0">
                <a:solidFill>
                  <a:srgbClr val="8892B0"/>
                </a:solidFill>
                <a:latin typeface="Calibri" pitchFamily="34" charset="0"/>
                <a:ea typeface="Calibri" pitchFamily="34" charset="-122"/>
                <a:cs typeface="Calibri" pitchFamily="34" charset="-120"/>
              </a:rPr>
              <a:t>AVG. RATING</a:t>
            </a:r>
            <a:endParaRPr lang="en-US" sz="850" dirty="0"/>
          </a:p>
        </p:txBody>
      </p:sp>
      <p:sp>
        <p:nvSpPr>
          <p:cNvPr id="14" name="Text 11"/>
          <p:cNvSpPr/>
          <p:nvPr/>
        </p:nvSpPr>
        <p:spPr>
          <a:xfrm>
            <a:off x="731520" y="4572000"/>
            <a:ext cx="2240280" cy="384048"/>
          </a:xfrm>
          <a:prstGeom prst="rect">
            <a:avLst/>
          </a:prstGeom>
          <a:noFill/>
          <a:ln/>
        </p:spPr>
        <p:txBody>
          <a:bodyPr wrap="square" rtlCol="0" anchor="ctr"/>
          <a:lstStyle/>
          <a:p>
            <a:pPr marL="0" indent="0">
              <a:buNone/>
            </a:pPr>
            <a:r>
              <a:rPr lang="en-US" sz="1700" b="1" dirty="0">
                <a:solidFill>
                  <a:srgbClr val="151A45"/>
                </a:solidFill>
                <a:latin typeface="Cambria" pitchFamily="34" charset="0"/>
                <a:ea typeface="Cambria" pitchFamily="34" charset="-122"/>
                <a:cs typeface="Cambria" pitchFamily="34" charset="-120"/>
              </a:rPr>
              <a:t>3.99 ★</a:t>
            </a:r>
            <a:endParaRPr lang="en-US" sz="1700" dirty="0"/>
          </a:p>
        </p:txBody>
      </p:sp>
      <p:sp>
        <p:nvSpPr>
          <p:cNvPr id="15" name="Text 12"/>
          <p:cNvSpPr/>
          <p:nvPr/>
        </p:nvSpPr>
        <p:spPr>
          <a:xfrm>
            <a:off x="731520" y="5065776"/>
            <a:ext cx="2240280" cy="256032"/>
          </a:xfrm>
          <a:prstGeom prst="rect">
            <a:avLst/>
          </a:prstGeom>
          <a:noFill/>
          <a:ln/>
        </p:spPr>
        <p:txBody>
          <a:bodyPr wrap="square" rtlCol="0" anchor="ctr"/>
          <a:lstStyle/>
          <a:p>
            <a:pPr marL="0" indent="0">
              <a:buNone/>
            </a:pPr>
            <a:r>
              <a:rPr lang="en-US" sz="850" b="1" kern="0" spc="100" dirty="0">
                <a:solidFill>
                  <a:srgbClr val="8892B0"/>
                </a:solidFill>
                <a:latin typeface="Calibri" pitchFamily="34" charset="0"/>
                <a:ea typeface="Calibri" pitchFamily="34" charset="-122"/>
                <a:cs typeface="Calibri" pitchFamily="34" charset="-120"/>
              </a:rPr>
              <a:t>CATALOGUE SIZE</a:t>
            </a:r>
            <a:endParaRPr lang="en-US" sz="850" dirty="0"/>
          </a:p>
        </p:txBody>
      </p:sp>
      <p:sp>
        <p:nvSpPr>
          <p:cNvPr id="16" name="Text 13"/>
          <p:cNvSpPr/>
          <p:nvPr/>
        </p:nvSpPr>
        <p:spPr>
          <a:xfrm>
            <a:off x="731520" y="5285232"/>
            <a:ext cx="2240280" cy="384048"/>
          </a:xfrm>
          <a:prstGeom prst="rect">
            <a:avLst/>
          </a:prstGeom>
          <a:noFill/>
          <a:ln/>
        </p:spPr>
        <p:txBody>
          <a:bodyPr wrap="square" rtlCol="0" anchor="ctr"/>
          <a:lstStyle/>
          <a:p>
            <a:pPr marL="0" indent="0">
              <a:buNone/>
            </a:pPr>
            <a:r>
              <a:rPr lang="en-US" sz="1700" b="1" dirty="0">
                <a:solidFill>
                  <a:srgbClr val="151A45"/>
                </a:solidFill>
                <a:latin typeface="Cambria" pitchFamily="34" charset="0"/>
                <a:ea typeface="Cambria" pitchFamily="34" charset="-122"/>
                <a:cs typeface="Cambria" pitchFamily="34" charset="-120"/>
              </a:rPr>
              <a:t>27,342</a:t>
            </a:r>
            <a:endParaRPr lang="en-US" sz="1700" dirty="0"/>
          </a:p>
        </p:txBody>
      </p:sp>
      <p:sp>
        <p:nvSpPr>
          <p:cNvPr id="17" name="Shape 14"/>
          <p:cNvSpPr/>
          <p:nvPr/>
        </p:nvSpPr>
        <p:spPr>
          <a:xfrm>
            <a:off x="3383280" y="1691640"/>
            <a:ext cx="2606040" cy="4160520"/>
          </a:xfrm>
          <a:prstGeom prst="roundRect">
            <a:avLst>
              <a:gd name="adj" fmla="val 3509"/>
            </a:avLst>
          </a:prstGeom>
          <a:solidFill>
            <a:srgbClr val="F4F6FB"/>
          </a:solidFill>
          <a:ln/>
        </p:spPr>
      </p:sp>
      <p:sp>
        <p:nvSpPr>
          <p:cNvPr id="18" name="Shape 15"/>
          <p:cNvSpPr/>
          <p:nvPr/>
        </p:nvSpPr>
        <p:spPr>
          <a:xfrm>
            <a:off x="3383280" y="1691640"/>
            <a:ext cx="2606040" cy="1051560"/>
          </a:xfrm>
          <a:prstGeom prst="roundRect">
            <a:avLst>
              <a:gd name="adj" fmla="val 8696"/>
            </a:avLst>
          </a:prstGeom>
          <a:solidFill>
            <a:srgbClr val="FF7A33"/>
          </a:solidFill>
          <a:ln/>
        </p:spPr>
      </p:sp>
      <p:sp>
        <p:nvSpPr>
          <p:cNvPr id="19" name="Shape 16"/>
          <p:cNvSpPr/>
          <p:nvPr/>
        </p:nvSpPr>
        <p:spPr>
          <a:xfrm>
            <a:off x="3383280" y="2240280"/>
            <a:ext cx="2606040" cy="502920"/>
          </a:xfrm>
          <a:prstGeom prst="rect">
            <a:avLst/>
          </a:prstGeom>
          <a:solidFill>
            <a:srgbClr val="FF7A33"/>
          </a:solidFill>
          <a:ln/>
        </p:spPr>
      </p:sp>
      <p:pic>
        <p:nvPicPr>
          <p:cNvPr id="20" name="Image 1" descr="/home/claude/proj/icons/bolt.png"/>
          <p:cNvPicPr>
            <a:picLocks noChangeAspect="1"/>
          </p:cNvPicPr>
          <p:nvPr/>
        </p:nvPicPr>
        <p:blipFill>
          <a:blip r:embed="rId4"/>
          <a:stretch>
            <a:fillRect/>
          </a:stretch>
        </p:blipFill>
        <p:spPr>
          <a:xfrm>
            <a:off x="4503420" y="1874520"/>
            <a:ext cx="365760" cy="365760"/>
          </a:xfrm>
          <a:prstGeom prst="rect">
            <a:avLst/>
          </a:prstGeom>
        </p:spPr>
      </p:pic>
      <p:sp>
        <p:nvSpPr>
          <p:cNvPr id="21" name="Text 17"/>
          <p:cNvSpPr/>
          <p:nvPr/>
        </p:nvSpPr>
        <p:spPr>
          <a:xfrm>
            <a:off x="3383280" y="2404872"/>
            <a:ext cx="260604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Blinkit</a:t>
            </a:r>
            <a:endParaRPr lang="en-US" sz="1400" dirty="0"/>
          </a:p>
        </p:txBody>
      </p:sp>
      <p:sp>
        <p:nvSpPr>
          <p:cNvPr id="22" name="Text 18"/>
          <p:cNvSpPr/>
          <p:nvPr/>
        </p:nvSpPr>
        <p:spPr>
          <a:xfrm>
            <a:off x="3566160" y="2926080"/>
            <a:ext cx="2240280" cy="256032"/>
          </a:xfrm>
          <a:prstGeom prst="rect">
            <a:avLst/>
          </a:prstGeom>
          <a:noFill/>
          <a:ln/>
        </p:spPr>
        <p:txBody>
          <a:bodyPr wrap="square" rtlCol="0" anchor="ctr"/>
          <a:lstStyle/>
          <a:p>
            <a:pPr marL="0" indent="0">
              <a:buNone/>
            </a:pPr>
            <a:r>
              <a:rPr lang="en-US" sz="850" b="1" kern="0" spc="100" dirty="0">
                <a:solidFill>
                  <a:srgbClr val="8892B0"/>
                </a:solidFill>
                <a:latin typeface="Calibri" pitchFamily="34" charset="0"/>
                <a:ea typeface="Calibri" pitchFamily="34" charset="-122"/>
                <a:cs typeface="Calibri" pitchFamily="34" charset="-120"/>
              </a:rPr>
              <a:t>AVG. PRICE</a:t>
            </a:r>
            <a:endParaRPr lang="en-US" sz="850" dirty="0"/>
          </a:p>
        </p:txBody>
      </p:sp>
      <p:sp>
        <p:nvSpPr>
          <p:cNvPr id="23" name="Text 19"/>
          <p:cNvSpPr/>
          <p:nvPr/>
        </p:nvSpPr>
        <p:spPr>
          <a:xfrm>
            <a:off x="3566160" y="3145536"/>
            <a:ext cx="2240280" cy="384048"/>
          </a:xfrm>
          <a:prstGeom prst="rect">
            <a:avLst/>
          </a:prstGeom>
          <a:noFill/>
          <a:ln/>
        </p:spPr>
        <p:txBody>
          <a:bodyPr wrap="square" rtlCol="0" anchor="ctr"/>
          <a:lstStyle/>
          <a:p>
            <a:pPr marL="0" indent="0">
              <a:buNone/>
            </a:pPr>
            <a:r>
              <a:rPr lang="en-US" sz="1700" b="1" dirty="0">
                <a:solidFill>
                  <a:srgbClr val="151A45"/>
                </a:solidFill>
                <a:latin typeface="Cambria" pitchFamily="34" charset="0"/>
                <a:ea typeface="Cambria" pitchFamily="34" charset="-122"/>
                <a:cs typeface="Cambria" pitchFamily="34" charset="-120"/>
              </a:rPr>
              <a:t>₹425</a:t>
            </a:r>
            <a:endParaRPr lang="en-US" sz="1700" dirty="0"/>
          </a:p>
        </p:txBody>
      </p:sp>
      <p:sp>
        <p:nvSpPr>
          <p:cNvPr id="24" name="Text 20"/>
          <p:cNvSpPr/>
          <p:nvPr/>
        </p:nvSpPr>
        <p:spPr>
          <a:xfrm>
            <a:off x="3566160" y="3639312"/>
            <a:ext cx="2240280" cy="256032"/>
          </a:xfrm>
          <a:prstGeom prst="rect">
            <a:avLst/>
          </a:prstGeom>
          <a:noFill/>
          <a:ln/>
        </p:spPr>
        <p:txBody>
          <a:bodyPr wrap="square" rtlCol="0" anchor="ctr"/>
          <a:lstStyle/>
          <a:p>
            <a:pPr marL="0" indent="0">
              <a:buNone/>
            </a:pPr>
            <a:r>
              <a:rPr lang="en-US" sz="850" b="1" kern="0" spc="100" dirty="0">
                <a:solidFill>
                  <a:srgbClr val="8892B0"/>
                </a:solidFill>
                <a:latin typeface="Calibri" pitchFamily="34" charset="0"/>
                <a:ea typeface="Calibri" pitchFamily="34" charset="-122"/>
                <a:cs typeface="Calibri" pitchFamily="34" charset="-120"/>
              </a:rPr>
              <a:t>AVG. DISCOUNT</a:t>
            </a:r>
            <a:endParaRPr lang="en-US" sz="850" dirty="0"/>
          </a:p>
        </p:txBody>
      </p:sp>
      <p:sp>
        <p:nvSpPr>
          <p:cNvPr id="25" name="Text 21"/>
          <p:cNvSpPr/>
          <p:nvPr/>
        </p:nvSpPr>
        <p:spPr>
          <a:xfrm>
            <a:off x="3566160" y="3858768"/>
            <a:ext cx="2240280" cy="384048"/>
          </a:xfrm>
          <a:prstGeom prst="rect">
            <a:avLst/>
          </a:prstGeom>
          <a:noFill/>
          <a:ln/>
        </p:spPr>
        <p:txBody>
          <a:bodyPr wrap="square" rtlCol="0" anchor="ctr"/>
          <a:lstStyle/>
          <a:p>
            <a:pPr marL="0" indent="0">
              <a:buNone/>
            </a:pPr>
            <a:r>
              <a:rPr lang="en-US" sz="1700" b="1" dirty="0">
                <a:solidFill>
                  <a:srgbClr val="151A45"/>
                </a:solidFill>
                <a:latin typeface="Cambria" pitchFamily="34" charset="0"/>
                <a:ea typeface="Cambria" pitchFamily="34" charset="-122"/>
                <a:cs typeface="Cambria" pitchFamily="34" charset="-120"/>
              </a:rPr>
              <a:t>21.0%</a:t>
            </a:r>
            <a:endParaRPr lang="en-US" sz="1700" dirty="0"/>
          </a:p>
        </p:txBody>
      </p:sp>
      <p:sp>
        <p:nvSpPr>
          <p:cNvPr id="26" name="Text 22"/>
          <p:cNvSpPr/>
          <p:nvPr/>
        </p:nvSpPr>
        <p:spPr>
          <a:xfrm>
            <a:off x="3566160" y="4352544"/>
            <a:ext cx="2240280" cy="256032"/>
          </a:xfrm>
          <a:prstGeom prst="rect">
            <a:avLst/>
          </a:prstGeom>
          <a:noFill/>
          <a:ln/>
        </p:spPr>
        <p:txBody>
          <a:bodyPr wrap="square" rtlCol="0" anchor="ctr"/>
          <a:lstStyle/>
          <a:p>
            <a:pPr marL="0" indent="0">
              <a:buNone/>
            </a:pPr>
            <a:r>
              <a:rPr lang="en-US" sz="850" b="1" kern="0" spc="100" dirty="0">
                <a:solidFill>
                  <a:srgbClr val="8892B0"/>
                </a:solidFill>
                <a:latin typeface="Calibri" pitchFamily="34" charset="0"/>
                <a:ea typeface="Calibri" pitchFamily="34" charset="-122"/>
                <a:cs typeface="Calibri" pitchFamily="34" charset="-120"/>
              </a:rPr>
              <a:t>AVG. RATING</a:t>
            </a:r>
            <a:endParaRPr lang="en-US" sz="850" dirty="0"/>
          </a:p>
        </p:txBody>
      </p:sp>
      <p:sp>
        <p:nvSpPr>
          <p:cNvPr id="27" name="Text 23"/>
          <p:cNvSpPr/>
          <p:nvPr/>
        </p:nvSpPr>
        <p:spPr>
          <a:xfrm>
            <a:off x="3566160" y="4572000"/>
            <a:ext cx="2240280" cy="384048"/>
          </a:xfrm>
          <a:prstGeom prst="rect">
            <a:avLst/>
          </a:prstGeom>
          <a:noFill/>
          <a:ln/>
        </p:spPr>
        <p:txBody>
          <a:bodyPr wrap="square" rtlCol="0" anchor="ctr"/>
          <a:lstStyle/>
          <a:p>
            <a:pPr marL="0" indent="0">
              <a:buNone/>
            </a:pPr>
            <a:r>
              <a:rPr lang="en-US" sz="1700" b="1" dirty="0">
                <a:solidFill>
                  <a:srgbClr val="151A45"/>
                </a:solidFill>
                <a:latin typeface="Cambria" pitchFamily="34" charset="0"/>
                <a:ea typeface="Cambria" pitchFamily="34" charset="-122"/>
                <a:cs typeface="Cambria" pitchFamily="34" charset="-120"/>
              </a:rPr>
              <a:t>4.20 ★</a:t>
            </a:r>
            <a:endParaRPr lang="en-US" sz="1700" dirty="0"/>
          </a:p>
        </p:txBody>
      </p:sp>
      <p:sp>
        <p:nvSpPr>
          <p:cNvPr id="28" name="Text 24"/>
          <p:cNvSpPr/>
          <p:nvPr/>
        </p:nvSpPr>
        <p:spPr>
          <a:xfrm>
            <a:off x="3566160" y="5065776"/>
            <a:ext cx="2240280" cy="256032"/>
          </a:xfrm>
          <a:prstGeom prst="rect">
            <a:avLst/>
          </a:prstGeom>
          <a:noFill/>
          <a:ln/>
        </p:spPr>
        <p:txBody>
          <a:bodyPr wrap="square" rtlCol="0" anchor="ctr"/>
          <a:lstStyle/>
          <a:p>
            <a:pPr marL="0" indent="0">
              <a:buNone/>
            </a:pPr>
            <a:r>
              <a:rPr lang="en-US" sz="850" b="1" kern="0" spc="100" dirty="0">
                <a:solidFill>
                  <a:srgbClr val="8892B0"/>
                </a:solidFill>
                <a:latin typeface="Calibri" pitchFamily="34" charset="0"/>
                <a:ea typeface="Calibri" pitchFamily="34" charset="-122"/>
                <a:cs typeface="Calibri" pitchFamily="34" charset="-120"/>
              </a:rPr>
              <a:t>CATALOGUE SIZE</a:t>
            </a:r>
            <a:endParaRPr lang="en-US" sz="850" dirty="0"/>
          </a:p>
        </p:txBody>
      </p:sp>
      <p:sp>
        <p:nvSpPr>
          <p:cNvPr id="29" name="Text 25"/>
          <p:cNvSpPr/>
          <p:nvPr/>
        </p:nvSpPr>
        <p:spPr>
          <a:xfrm>
            <a:off x="3566160" y="5285232"/>
            <a:ext cx="2240280" cy="384048"/>
          </a:xfrm>
          <a:prstGeom prst="rect">
            <a:avLst/>
          </a:prstGeom>
          <a:noFill/>
          <a:ln/>
        </p:spPr>
        <p:txBody>
          <a:bodyPr wrap="square" rtlCol="0" anchor="ctr"/>
          <a:lstStyle/>
          <a:p>
            <a:pPr marL="0" indent="0">
              <a:buNone/>
            </a:pPr>
            <a:r>
              <a:rPr lang="en-US" sz="1700" b="1" dirty="0">
                <a:solidFill>
                  <a:srgbClr val="151A45"/>
                </a:solidFill>
                <a:latin typeface="Cambria" pitchFamily="34" charset="0"/>
                <a:ea typeface="Cambria" pitchFamily="34" charset="-122"/>
                <a:cs typeface="Cambria" pitchFamily="34" charset="-120"/>
              </a:rPr>
              <a:t>2,467</a:t>
            </a:r>
            <a:endParaRPr lang="en-US" sz="1700" dirty="0"/>
          </a:p>
        </p:txBody>
      </p:sp>
      <p:sp>
        <p:nvSpPr>
          <p:cNvPr id="30" name="Shape 26"/>
          <p:cNvSpPr/>
          <p:nvPr/>
        </p:nvSpPr>
        <p:spPr>
          <a:xfrm>
            <a:off x="6217920" y="1691640"/>
            <a:ext cx="2606040" cy="4160520"/>
          </a:xfrm>
          <a:prstGeom prst="roundRect">
            <a:avLst>
              <a:gd name="adj" fmla="val 3509"/>
            </a:avLst>
          </a:prstGeom>
          <a:solidFill>
            <a:srgbClr val="F4F6FB"/>
          </a:solidFill>
          <a:ln/>
        </p:spPr>
      </p:sp>
      <p:sp>
        <p:nvSpPr>
          <p:cNvPr id="31" name="Shape 27"/>
          <p:cNvSpPr/>
          <p:nvPr/>
        </p:nvSpPr>
        <p:spPr>
          <a:xfrm>
            <a:off x="6217920" y="1691640"/>
            <a:ext cx="2606040" cy="1051560"/>
          </a:xfrm>
          <a:prstGeom prst="roundRect">
            <a:avLst>
              <a:gd name="adj" fmla="val 8696"/>
            </a:avLst>
          </a:prstGeom>
          <a:solidFill>
            <a:srgbClr val="7B2FF7"/>
          </a:solidFill>
          <a:ln/>
        </p:spPr>
      </p:sp>
      <p:sp>
        <p:nvSpPr>
          <p:cNvPr id="32" name="Shape 28"/>
          <p:cNvSpPr/>
          <p:nvPr/>
        </p:nvSpPr>
        <p:spPr>
          <a:xfrm>
            <a:off x="6217920" y="2240280"/>
            <a:ext cx="2606040" cy="502920"/>
          </a:xfrm>
          <a:prstGeom prst="rect">
            <a:avLst/>
          </a:prstGeom>
          <a:solidFill>
            <a:srgbClr val="7B2FF7"/>
          </a:solidFill>
          <a:ln/>
        </p:spPr>
      </p:sp>
      <p:pic>
        <p:nvPicPr>
          <p:cNvPr id="33" name="Image 2" descr="/home/claude/proj/icons/truck.png"/>
          <p:cNvPicPr>
            <a:picLocks noChangeAspect="1"/>
          </p:cNvPicPr>
          <p:nvPr/>
        </p:nvPicPr>
        <p:blipFill>
          <a:blip r:embed="rId5"/>
          <a:stretch>
            <a:fillRect/>
          </a:stretch>
        </p:blipFill>
        <p:spPr>
          <a:xfrm>
            <a:off x="7338060" y="1874520"/>
            <a:ext cx="365760" cy="365760"/>
          </a:xfrm>
          <a:prstGeom prst="rect">
            <a:avLst/>
          </a:prstGeom>
        </p:spPr>
      </p:pic>
      <p:sp>
        <p:nvSpPr>
          <p:cNvPr id="34" name="Text 29"/>
          <p:cNvSpPr/>
          <p:nvPr/>
        </p:nvSpPr>
        <p:spPr>
          <a:xfrm>
            <a:off x="6217920" y="2404872"/>
            <a:ext cx="260604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JioMart</a:t>
            </a:r>
            <a:endParaRPr lang="en-US" sz="1400" dirty="0"/>
          </a:p>
        </p:txBody>
      </p:sp>
      <p:sp>
        <p:nvSpPr>
          <p:cNvPr id="35" name="Text 30"/>
          <p:cNvSpPr/>
          <p:nvPr/>
        </p:nvSpPr>
        <p:spPr>
          <a:xfrm>
            <a:off x="6400800" y="2926080"/>
            <a:ext cx="2240280" cy="256032"/>
          </a:xfrm>
          <a:prstGeom prst="rect">
            <a:avLst/>
          </a:prstGeom>
          <a:noFill/>
          <a:ln/>
        </p:spPr>
        <p:txBody>
          <a:bodyPr wrap="square" rtlCol="0" anchor="ctr"/>
          <a:lstStyle/>
          <a:p>
            <a:pPr marL="0" indent="0">
              <a:buNone/>
            </a:pPr>
            <a:r>
              <a:rPr lang="en-US" sz="850" b="1" kern="0" spc="100" dirty="0">
                <a:solidFill>
                  <a:srgbClr val="8892B0"/>
                </a:solidFill>
                <a:latin typeface="Calibri" pitchFamily="34" charset="0"/>
                <a:ea typeface="Calibri" pitchFamily="34" charset="-122"/>
                <a:cs typeface="Calibri" pitchFamily="34" charset="-120"/>
              </a:rPr>
              <a:t>AVG. PRICE</a:t>
            </a:r>
            <a:endParaRPr lang="en-US" sz="850" dirty="0"/>
          </a:p>
        </p:txBody>
      </p:sp>
      <p:sp>
        <p:nvSpPr>
          <p:cNvPr id="36" name="Text 31"/>
          <p:cNvSpPr/>
          <p:nvPr/>
        </p:nvSpPr>
        <p:spPr>
          <a:xfrm>
            <a:off x="6400800" y="3145536"/>
            <a:ext cx="2240280" cy="384048"/>
          </a:xfrm>
          <a:prstGeom prst="rect">
            <a:avLst/>
          </a:prstGeom>
          <a:noFill/>
          <a:ln/>
        </p:spPr>
        <p:txBody>
          <a:bodyPr wrap="square" rtlCol="0" anchor="ctr"/>
          <a:lstStyle/>
          <a:p>
            <a:pPr marL="0" indent="0">
              <a:buNone/>
            </a:pPr>
            <a:r>
              <a:rPr lang="en-US" sz="1700" b="1" dirty="0">
                <a:solidFill>
                  <a:srgbClr val="151A45"/>
                </a:solidFill>
                <a:latin typeface="Cambria" pitchFamily="34" charset="0"/>
                <a:ea typeface="Cambria" pitchFamily="34" charset="-122"/>
                <a:cs typeface="Cambria" pitchFamily="34" charset="-120"/>
              </a:rPr>
              <a:t>₹174</a:t>
            </a:r>
            <a:endParaRPr lang="en-US" sz="1700" dirty="0"/>
          </a:p>
        </p:txBody>
      </p:sp>
      <p:sp>
        <p:nvSpPr>
          <p:cNvPr id="37" name="Text 32"/>
          <p:cNvSpPr/>
          <p:nvPr/>
        </p:nvSpPr>
        <p:spPr>
          <a:xfrm>
            <a:off x="6400800" y="3639312"/>
            <a:ext cx="2240280" cy="256032"/>
          </a:xfrm>
          <a:prstGeom prst="rect">
            <a:avLst/>
          </a:prstGeom>
          <a:noFill/>
          <a:ln/>
        </p:spPr>
        <p:txBody>
          <a:bodyPr wrap="square" rtlCol="0" anchor="ctr"/>
          <a:lstStyle/>
          <a:p>
            <a:pPr marL="0" indent="0">
              <a:buNone/>
            </a:pPr>
            <a:r>
              <a:rPr lang="en-US" sz="850" b="1" kern="0" spc="100" dirty="0">
                <a:solidFill>
                  <a:srgbClr val="8892B0"/>
                </a:solidFill>
                <a:latin typeface="Calibri" pitchFamily="34" charset="0"/>
                <a:ea typeface="Calibri" pitchFamily="34" charset="-122"/>
                <a:cs typeface="Calibri" pitchFamily="34" charset="-120"/>
              </a:rPr>
              <a:t>AVG. DISCOUNT</a:t>
            </a:r>
            <a:endParaRPr lang="en-US" sz="850" dirty="0"/>
          </a:p>
        </p:txBody>
      </p:sp>
      <p:sp>
        <p:nvSpPr>
          <p:cNvPr id="38" name="Text 33"/>
          <p:cNvSpPr/>
          <p:nvPr/>
        </p:nvSpPr>
        <p:spPr>
          <a:xfrm>
            <a:off x="6400800" y="3858768"/>
            <a:ext cx="2240280" cy="384048"/>
          </a:xfrm>
          <a:prstGeom prst="rect">
            <a:avLst/>
          </a:prstGeom>
          <a:noFill/>
          <a:ln/>
        </p:spPr>
        <p:txBody>
          <a:bodyPr wrap="square" rtlCol="0" anchor="ctr"/>
          <a:lstStyle/>
          <a:p>
            <a:pPr marL="0" indent="0">
              <a:buNone/>
            </a:pPr>
            <a:r>
              <a:rPr lang="en-US" sz="1700" b="1" dirty="0">
                <a:solidFill>
                  <a:srgbClr val="151A45"/>
                </a:solidFill>
                <a:latin typeface="Cambria" pitchFamily="34" charset="0"/>
                <a:ea typeface="Cambria" pitchFamily="34" charset="-122"/>
                <a:cs typeface="Cambria" pitchFamily="34" charset="-120"/>
              </a:rPr>
              <a:t>14.8%</a:t>
            </a:r>
            <a:endParaRPr lang="en-US" sz="1700" dirty="0"/>
          </a:p>
        </p:txBody>
      </p:sp>
      <p:sp>
        <p:nvSpPr>
          <p:cNvPr id="39" name="Text 34"/>
          <p:cNvSpPr/>
          <p:nvPr/>
        </p:nvSpPr>
        <p:spPr>
          <a:xfrm>
            <a:off x="6400800" y="4352544"/>
            <a:ext cx="2240280" cy="256032"/>
          </a:xfrm>
          <a:prstGeom prst="rect">
            <a:avLst/>
          </a:prstGeom>
          <a:noFill/>
          <a:ln/>
        </p:spPr>
        <p:txBody>
          <a:bodyPr wrap="square" rtlCol="0" anchor="ctr"/>
          <a:lstStyle/>
          <a:p>
            <a:pPr marL="0" indent="0">
              <a:buNone/>
            </a:pPr>
            <a:r>
              <a:rPr lang="en-US" sz="850" b="1" kern="0" spc="100" dirty="0">
                <a:solidFill>
                  <a:srgbClr val="8892B0"/>
                </a:solidFill>
                <a:latin typeface="Calibri" pitchFamily="34" charset="0"/>
                <a:ea typeface="Calibri" pitchFamily="34" charset="-122"/>
                <a:cs typeface="Calibri" pitchFamily="34" charset="-120"/>
              </a:rPr>
              <a:t>AVG. RATING</a:t>
            </a:r>
            <a:endParaRPr lang="en-US" sz="850" dirty="0"/>
          </a:p>
        </p:txBody>
      </p:sp>
      <p:sp>
        <p:nvSpPr>
          <p:cNvPr id="40" name="Text 35"/>
          <p:cNvSpPr/>
          <p:nvPr/>
        </p:nvSpPr>
        <p:spPr>
          <a:xfrm>
            <a:off x="6400800" y="4572000"/>
            <a:ext cx="2240280" cy="384048"/>
          </a:xfrm>
          <a:prstGeom prst="rect">
            <a:avLst/>
          </a:prstGeom>
          <a:noFill/>
          <a:ln/>
        </p:spPr>
        <p:txBody>
          <a:bodyPr wrap="square" rtlCol="0" anchor="ctr"/>
          <a:lstStyle/>
          <a:p>
            <a:pPr marL="0" indent="0">
              <a:buNone/>
            </a:pPr>
            <a:r>
              <a:rPr lang="en-US" sz="1700" b="1" dirty="0">
                <a:solidFill>
                  <a:srgbClr val="151A45"/>
                </a:solidFill>
                <a:latin typeface="Cambria" pitchFamily="34" charset="0"/>
                <a:ea typeface="Cambria" pitchFamily="34" charset="-122"/>
                <a:cs typeface="Cambria" pitchFamily="34" charset="-120"/>
              </a:rPr>
              <a:t>3.90 ★</a:t>
            </a:r>
            <a:endParaRPr lang="en-US" sz="1700" dirty="0"/>
          </a:p>
        </p:txBody>
      </p:sp>
      <p:sp>
        <p:nvSpPr>
          <p:cNvPr id="41" name="Text 36"/>
          <p:cNvSpPr/>
          <p:nvPr/>
        </p:nvSpPr>
        <p:spPr>
          <a:xfrm>
            <a:off x="6400800" y="5065776"/>
            <a:ext cx="2240280" cy="256032"/>
          </a:xfrm>
          <a:prstGeom prst="rect">
            <a:avLst/>
          </a:prstGeom>
          <a:noFill/>
          <a:ln/>
        </p:spPr>
        <p:txBody>
          <a:bodyPr wrap="square" rtlCol="0" anchor="ctr"/>
          <a:lstStyle/>
          <a:p>
            <a:pPr marL="0" indent="0">
              <a:buNone/>
            </a:pPr>
            <a:r>
              <a:rPr lang="en-US" sz="850" b="1" kern="0" spc="100" dirty="0">
                <a:solidFill>
                  <a:srgbClr val="8892B0"/>
                </a:solidFill>
                <a:latin typeface="Calibri" pitchFamily="34" charset="0"/>
                <a:ea typeface="Calibri" pitchFamily="34" charset="-122"/>
                <a:cs typeface="Calibri" pitchFamily="34" charset="-120"/>
              </a:rPr>
              <a:t>CATALOGUE SIZE</a:t>
            </a:r>
            <a:endParaRPr lang="en-US" sz="850" dirty="0"/>
          </a:p>
        </p:txBody>
      </p:sp>
      <p:sp>
        <p:nvSpPr>
          <p:cNvPr id="42" name="Text 37"/>
          <p:cNvSpPr/>
          <p:nvPr/>
        </p:nvSpPr>
        <p:spPr>
          <a:xfrm>
            <a:off x="6400800" y="5285232"/>
            <a:ext cx="2240280" cy="384048"/>
          </a:xfrm>
          <a:prstGeom prst="rect">
            <a:avLst/>
          </a:prstGeom>
          <a:noFill/>
          <a:ln/>
        </p:spPr>
        <p:txBody>
          <a:bodyPr wrap="square" rtlCol="0" anchor="ctr"/>
          <a:lstStyle/>
          <a:p>
            <a:pPr marL="0" indent="0">
              <a:buNone/>
            </a:pPr>
            <a:r>
              <a:rPr lang="en-US" sz="1700" b="1" dirty="0">
                <a:solidFill>
                  <a:srgbClr val="151A45"/>
                </a:solidFill>
                <a:latin typeface="Cambria" pitchFamily="34" charset="0"/>
                <a:ea typeface="Cambria" pitchFamily="34" charset="-122"/>
                <a:cs typeface="Cambria" pitchFamily="34" charset="-120"/>
              </a:rPr>
              <a:t>5,672</a:t>
            </a:r>
            <a:endParaRPr lang="en-US" sz="1700" dirty="0"/>
          </a:p>
        </p:txBody>
      </p:sp>
      <p:sp>
        <p:nvSpPr>
          <p:cNvPr id="43" name="Shape 38"/>
          <p:cNvSpPr/>
          <p:nvPr/>
        </p:nvSpPr>
        <p:spPr>
          <a:xfrm>
            <a:off x="9052560" y="1691640"/>
            <a:ext cx="2606040" cy="4160520"/>
          </a:xfrm>
          <a:prstGeom prst="roundRect">
            <a:avLst>
              <a:gd name="adj" fmla="val 3509"/>
            </a:avLst>
          </a:prstGeom>
          <a:solidFill>
            <a:srgbClr val="F4F6FB"/>
          </a:solidFill>
          <a:ln/>
        </p:spPr>
      </p:sp>
      <p:sp>
        <p:nvSpPr>
          <p:cNvPr id="44" name="Shape 39"/>
          <p:cNvSpPr/>
          <p:nvPr/>
        </p:nvSpPr>
        <p:spPr>
          <a:xfrm>
            <a:off x="9052560" y="1691640"/>
            <a:ext cx="2606040" cy="1051560"/>
          </a:xfrm>
          <a:prstGeom prst="roundRect">
            <a:avLst>
              <a:gd name="adj" fmla="val 8696"/>
            </a:avLst>
          </a:prstGeom>
          <a:solidFill>
            <a:srgbClr val="17C3E6"/>
          </a:solidFill>
          <a:ln/>
        </p:spPr>
      </p:sp>
      <p:sp>
        <p:nvSpPr>
          <p:cNvPr id="45" name="Shape 40"/>
          <p:cNvSpPr/>
          <p:nvPr/>
        </p:nvSpPr>
        <p:spPr>
          <a:xfrm>
            <a:off x="9052560" y="2240280"/>
            <a:ext cx="2606040" cy="502920"/>
          </a:xfrm>
          <a:prstGeom prst="rect">
            <a:avLst/>
          </a:prstGeom>
          <a:solidFill>
            <a:srgbClr val="17C3E6"/>
          </a:solidFill>
          <a:ln/>
        </p:spPr>
      </p:sp>
      <p:pic>
        <p:nvPicPr>
          <p:cNvPr id="46" name="Image 3" descr="/home/claude/proj/icons/mobile.png"/>
          <p:cNvPicPr>
            <a:picLocks noChangeAspect="1"/>
          </p:cNvPicPr>
          <p:nvPr/>
        </p:nvPicPr>
        <p:blipFill>
          <a:blip r:embed="rId6"/>
          <a:stretch>
            <a:fillRect/>
          </a:stretch>
        </p:blipFill>
        <p:spPr>
          <a:xfrm>
            <a:off x="10172700" y="1874520"/>
            <a:ext cx="365760" cy="365760"/>
          </a:xfrm>
          <a:prstGeom prst="rect">
            <a:avLst/>
          </a:prstGeom>
        </p:spPr>
      </p:pic>
      <p:sp>
        <p:nvSpPr>
          <p:cNvPr id="47" name="Text 41"/>
          <p:cNvSpPr/>
          <p:nvPr/>
        </p:nvSpPr>
        <p:spPr>
          <a:xfrm>
            <a:off x="9052560" y="2404872"/>
            <a:ext cx="260604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Zepto</a:t>
            </a:r>
            <a:endParaRPr lang="en-US" sz="1400" dirty="0"/>
          </a:p>
        </p:txBody>
      </p:sp>
      <p:sp>
        <p:nvSpPr>
          <p:cNvPr id="48" name="Text 42"/>
          <p:cNvSpPr/>
          <p:nvPr/>
        </p:nvSpPr>
        <p:spPr>
          <a:xfrm>
            <a:off x="9235440" y="2926080"/>
            <a:ext cx="2240280" cy="256032"/>
          </a:xfrm>
          <a:prstGeom prst="rect">
            <a:avLst/>
          </a:prstGeom>
          <a:noFill/>
          <a:ln/>
        </p:spPr>
        <p:txBody>
          <a:bodyPr wrap="square" rtlCol="0" anchor="ctr"/>
          <a:lstStyle/>
          <a:p>
            <a:pPr marL="0" indent="0">
              <a:buNone/>
            </a:pPr>
            <a:r>
              <a:rPr lang="en-US" sz="850" b="1" kern="0" spc="100" dirty="0">
                <a:solidFill>
                  <a:srgbClr val="8892B0"/>
                </a:solidFill>
                <a:latin typeface="Calibri" pitchFamily="34" charset="0"/>
                <a:ea typeface="Calibri" pitchFamily="34" charset="-122"/>
                <a:cs typeface="Calibri" pitchFamily="34" charset="-120"/>
              </a:rPr>
              <a:t>AVG. PRICE</a:t>
            </a:r>
            <a:endParaRPr lang="en-US" sz="850" dirty="0"/>
          </a:p>
        </p:txBody>
      </p:sp>
      <p:sp>
        <p:nvSpPr>
          <p:cNvPr id="49" name="Text 43"/>
          <p:cNvSpPr/>
          <p:nvPr/>
        </p:nvSpPr>
        <p:spPr>
          <a:xfrm>
            <a:off x="9235440" y="3145536"/>
            <a:ext cx="2240280" cy="384048"/>
          </a:xfrm>
          <a:prstGeom prst="rect">
            <a:avLst/>
          </a:prstGeom>
          <a:noFill/>
          <a:ln/>
        </p:spPr>
        <p:txBody>
          <a:bodyPr wrap="square" rtlCol="0" anchor="ctr"/>
          <a:lstStyle/>
          <a:p>
            <a:pPr marL="0" indent="0">
              <a:buNone/>
            </a:pPr>
            <a:r>
              <a:rPr lang="en-US" sz="1700" b="1" dirty="0">
                <a:solidFill>
                  <a:srgbClr val="151A45"/>
                </a:solidFill>
                <a:latin typeface="Cambria" pitchFamily="34" charset="0"/>
                <a:ea typeface="Cambria" pitchFamily="34" charset="-122"/>
                <a:cs typeface="Cambria" pitchFamily="34" charset="-120"/>
              </a:rPr>
              <a:t>₹142</a:t>
            </a:r>
            <a:endParaRPr lang="en-US" sz="1700" dirty="0"/>
          </a:p>
        </p:txBody>
      </p:sp>
      <p:sp>
        <p:nvSpPr>
          <p:cNvPr id="50" name="Text 44"/>
          <p:cNvSpPr/>
          <p:nvPr/>
        </p:nvSpPr>
        <p:spPr>
          <a:xfrm>
            <a:off x="9235440" y="3639312"/>
            <a:ext cx="2240280" cy="256032"/>
          </a:xfrm>
          <a:prstGeom prst="rect">
            <a:avLst/>
          </a:prstGeom>
          <a:noFill/>
          <a:ln/>
        </p:spPr>
        <p:txBody>
          <a:bodyPr wrap="square" rtlCol="0" anchor="ctr"/>
          <a:lstStyle/>
          <a:p>
            <a:pPr marL="0" indent="0">
              <a:buNone/>
            </a:pPr>
            <a:r>
              <a:rPr lang="en-US" sz="850" b="1" kern="0" spc="100" dirty="0">
                <a:solidFill>
                  <a:srgbClr val="8892B0"/>
                </a:solidFill>
                <a:latin typeface="Calibri" pitchFamily="34" charset="0"/>
                <a:ea typeface="Calibri" pitchFamily="34" charset="-122"/>
                <a:cs typeface="Calibri" pitchFamily="34" charset="-120"/>
              </a:rPr>
              <a:t>AVG. DISCOUNT</a:t>
            </a:r>
            <a:endParaRPr lang="en-US" sz="850" dirty="0"/>
          </a:p>
        </p:txBody>
      </p:sp>
      <p:sp>
        <p:nvSpPr>
          <p:cNvPr id="51" name="Text 45"/>
          <p:cNvSpPr/>
          <p:nvPr/>
        </p:nvSpPr>
        <p:spPr>
          <a:xfrm>
            <a:off x="9235440" y="3858768"/>
            <a:ext cx="2240280" cy="384048"/>
          </a:xfrm>
          <a:prstGeom prst="rect">
            <a:avLst/>
          </a:prstGeom>
          <a:noFill/>
          <a:ln/>
        </p:spPr>
        <p:txBody>
          <a:bodyPr wrap="square" rtlCol="0" anchor="ctr"/>
          <a:lstStyle/>
          <a:p>
            <a:pPr marL="0" indent="0">
              <a:buNone/>
            </a:pPr>
            <a:r>
              <a:rPr lang="en-US" sz="1700" b="1" dirty="0">
                <a:solidFill>
                  <a:srgbClr val="151A45"/>
                </a:solidFill>
                <a:latin typeface="Cambria" pitchFamily="34" charset="0"/>
                <a:ea typeface="Cambria" pitchFamily="34" charset="-122"/>
                <a:cs typeface="Cambria" pitchFamily="34" charset="-120"/>
              </a:rPr>
              <a:t>7.9%</a:t>
            </a:r>
            <a:endParaRPr lang="en-US" sz="1700" dirty="0"/>
          </a:p>
        </p:txBody>
      </p:sp>
      <p:sp>
        <p:nvSpPr>
          <p:cNvPr id="52" name="Text 46"/>
          <p:cNvSpPr/>
          <p:nvPr/>
        </p:nvSpPr>
        <p:spPr>
          <a:xfrm>
            <a:off x="9235440" y="4352544"/>
            <a:ext cx="2240280" cy="256032"/>
          </a:xfrm>
          <a:prstGeom prst="rect">
            <a:avLst/>
          </a:prstGeom>
          <a:noFill/>
          <a:ln/>
        </p:spPr>
        <p:txBody>
          <a:bodyPr wrap="square" rtlCol="0" anchor="ctr"/>
          <a:lstStyle/>
          <a:p>
            <a:pPr marL="0" indent="0">
              <a:buNone/>
            </a:pPr>
            <a:r>
              <a:rPr lang="en-US" sz="850" b="1" kern="0" spc="100" dirty="0">
                <a:solidFill>
                  <a:srgbClr val="8892B0"/>
                </a:solidFill>
                <a:latin typeface="Calibri" pitchFamily="34" charset="0"/>
                <a:ea typeface="Calibri" pitchFamily="34" charset="-122"/>
                <a:cs typeface="Calibri" pitchFamily="34" charset="-120"/>
              </a:rPr>
              <a:t>AVG. RATING</a:t>
            </a:r>
            <a:endParaRPr lang="en-US" sz="850" dirty="0"/>
          </a:p>
        </p:txBody>
      </p:sp>
      <p:sp>
        <p:nvSpPr>
          <p:cNvPr id="53" name="Text 47"/>
          <p:cNvSpPr/>
          <p:nvPr/>
        </p:nvSpPr>
        <p:spPr>
          <a:xfrm>
            <a:off x="9235440" y="4572000"/>
            <a:ext cx="2240280" cy="384048"/>
          </a:xfrm>
          <a:prstGeom prst="rect">
            <a:avLst/>
          </a:prstGeom>
          <a:noFill/>
          <a:ln/>
        </p:spPr>
        <p:txBody>
          <a:bodyPr wrap="square" rtlCol="0" anchor="ctr"/>
          <a:lstStyle/>
          <a:p>
            <a:pPr marL="0" indent="0">
              <a:buNone/>
            </a:pPr>
            <a:r>
              <a:rPr lang="en-US" sz="1700" b="1" dirty="0">
                <a:solidFill>
                  <a:srgbClr val="151A45"/>
                </a:solidFill>
                <a:latin typeface="Cambria" pitchFamily="34" charset="0"/>
                <a:ea typeface="Cambria" pitchFamily="34" charset="-122"/>
                <a:cs typeface="Cambria" pitchFamily="34" charset="-120"/>
              </a:rPr>
              <a:t>4.30 ★</a:t>
            </a:r>
            <a:endParaRPr lang="en-US" sz="1700" dirty="0"/>
          </a:p>
        </p:txBody>
      </p:sp>
      <p:sp>
        <p:nvSpPr>
          <p:cNvPr id="54" name="Text 48"/>
          <p:cNvSpPr/>
          <p:nvPr/>
        </p:nvSpPr>
        <p:spPr>
          <a:xfrm>
            <a:off x="9235440" y="5065776"/>
            <a:ext cx="2240280" cy="256032"/>
          </a:xfrm>
          <a:prstGeom prst="rect">
            <a:avLst/>
          </a:prstGeom>
          <a:noFill/>
          <a:ln/>
        </p:spPr>
        <p:txBody>
          <a:bodyPr wrap="square" rtlCol="0" anchor="ctr"/>
          <a:lstStyle/>
          <a:p>
            <a:pPr marL="0" indent="0">
              <a:buNone/>
            </a:pPr>
            <a:r>
              <a:rPr lang="en-US" sz="850" b="1" kern="0" spc="100" dirty="0">
                <a:solidFill>
                  <a:srgbClr val="8892B0"/>
                </a:solidFill>
                <a:latin typeface="Calibri" pitchFamily="34" charset="0"/>
                <a:ea typeface="Calibri" pitchFamily="34" charset="-122"/>
                <a:cs typeface="Calibri" pitchFamily="34" charset="-120"/>
              </a:rPr>
              <a:t>CATALOGUE SIZE</a:t>
            </a:r>
            <a:endParaRPr lang="en-US" sz="850" dirty="0"/>
          </a:p>
        </p:txBody>
      </p:sp>
      <p:sp>
        <p:nvSpPr>
          <p:cNvPr id="55" name="Text 49"/>
          <p:cNvSpPr/>
          <p:nvPr/>
        </p:nvSpPr>
        <p:spPr>
          <a:xfrm>
            <a:off x="9235440" y="5285232"/>
            <a:ext cx="2240280" cy="384048"/>
          </a:xfrm>
          <a:prstGeom prst="rect">
            <a:avLst/>
          </a:prstGeom>
          <a:noFill/>
          <a:ln/>
        </p:spPr>
        <p:txBody>
          <a:bodyPr wrap="square" rtlCol="0" anchor="ctr"/>
          <a:lstStyle/>
          <a:p>
            <a:pPr marL="0" indent="0">
              <a:buNone/>
            </a:pPr>
            <a:r>
              <a:rPr lang="en-US" sz="1700" b="1" dirty="0">
                <a:solidFill>
                  <a:srgbClr val="151A45"/>
                </a:solidFill>
                <a:latin typeface="Cambria" pitchFamily="34" charset="0"/>
                <a:ea typeface="Cambria" pitchFamily="34" charset="-122"/>
                <a:cs typeface="Cambria" pitchFamily="34" charset="-120"/>
              </a:rPr>
              <a:t>3,730</a:t>
            </a:r>
            <a:endParaRPr lang="en-US" sz="1700" dirty="0"/>
          </a:p>
        </p:txBody>
      </p:sp>
      <p:sp>
        <p:nvSpPr>
          <p:cNvPr id="56" name="Text 50"/>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892B0"/>
                </a:solidFill>
                <a:latin typeface="Calibri" pitchFamily="34" charset="0"/>
                <a:ea typeface="Calibri" pitchFamily="34" charset="-122"/>
                <a:cs typeface="Calibri" pitchFamily="34" charset="-120"/>
              </a:rPr>
              <a:t>14</a:t>
            </a:r>
            <a:endParaRPr lang="en-US" sz="900" dirty="0"/>
          </a:p>
        </p:txBody>
      </p:sp>
      <p:sp>
        <p:nvSpPr>
          <p:cNvPr id="57" name="Text 51"/>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SmartBasket Analysis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1A45"/>
        </a:solidFill>
        <a:effectLst/>
      </p:bgPr>
    </p:bg>
    <p:spTree>
      <p:nvGrpSpPr>
        <p:cNvPr id="1" name=""/>
        <p:cNvGrpSpPr/>
        <p:nvPr/>
      </p:nvGrpSpPr>
      <p:grpSpPr>
        <a:xfrm>
          <a:off x="0" y="0"/>
          <a:ext cx="0" cy="0"/>
          <a:chOff x="0" y="0"/>
          <a:chExt cx="0" cy="0"/>
        </a:xfrm>
      </p:grpSpPr>
      <p:sp>
        <p:nvSpPr>
          <p:cNvPr id="2" name="Shape 0"/>
          <p:cNvSpPr/>
          <p:nvPr/>
        </p:nvSpPr>
        <p:spPr>
          <a:xfrm>
            <a:off x="9601200" y="4389120"/>
            <a:ext cx="4572000" cy="4572000"/>
          </a:xfrm>
          <a:prstGeom prst="ellipse">
            <a:avLst/>
          </a:prstGeom>
          <a:solidFill>
            <a:srgbClr val="1E2761"/>
          </a:solidFill>
          <a:ln/>
        </p:spPr>
      </p:sp>
      <p:sp>
        <p:nvSpPr>
          <p:cNvPr id="3" name="Text 1"/>
          <p:cNvSpPr/>
          <p:nvPr/>
        </p:nvSpPr>
        <p:spPr>
          <a:xfrm>
            <a:off x="548640" y="384048"/>
            <a:ext cx="5486400" cy="320040"/>
          </a:xfrm>
          <a:prstGeom prst="rect">
            <a:avLst/>
          </a:prstGeom>
          <a:noFill/>
          <a:ln/>
        </p:spPr>
        <p:txBody>
          <a:bodyPr wrap="square" rtlCol="0" anchor="ctr"/>
          <a:lstStyle/>
          <a:p>
            <a:pPr marL="0" indent="0">
              <a:buNone/>
            </a:pPr>
            <a:r>
              <a:rPr lang="en-US" sz="1250" b="1" kern="0" spc="200" dirty="0">
                <a:solidFill>
                  <a:srgbClr val="17C3E6"/>
                </a:solidFill>
                <a:latin typeface="Calibri" pitchFamily="34" charset="0"/>
                <a:ea typeface="Calibri" pitchFamily="34" charset="-122"/>
                <a:cs typeface="Calibri" pitchFamily="34" charset="-120"/>
              </a:rPr>
              <a:t>SLIDE 16</a:t>
            </a:r>
            <a:endParaRPr lang="en-US" sz="1250" dirty="0"/>
          </a:p>
        </p:txBody>
      </p:sp>
      <p:sp>
        <p:nvSpPr>
          <p:cNvPr id="4" name="Text 2"/>
          <p:cNvSpPr/>
          <p:nvPr/>
        </p:nvSpPr>
        <p:spPr>
          <a:xfrm>
            <a:off x="548640" y="658368"/>
            <a:ext cx="1005840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Business Insights</a:t>
            </a:r>
            <a:endParaRPr lang="en-US" sz="3000" dirty="0"/>
          </a:p>
        </p:txBody>
      </p:sp>
      <p:sp>
        <p:nvSpPr>
          <p:cNvPr id="5" name="Shape 3"/>
          <p:cNvSpPr/>
          <p:nvPr/>
        </p:nvSpPr>
        <p:spPr>
          <a:xfrm>
            <a:off x="548640" y="1691640"/>
            <a:ext cx="5349240" cy="2103120"/>
          </a:xfrm>
          <a:prstGeom prst="roundRect">
            <a:avLst>
              <a:gd name="adj" fmla="val 4348"/>
            </a:avLst>
          </a:prstGeom>
          <a:solidFill>
            <a:srgbClr val="1E2761"/>
          </a:solidFill>
          <a:ln/>
        </p:spPr>
      </p:sp>
      <p:sp>
        <p:nvSpPr>
          <p:cNvPr id="6" name="Shape 4"/>
          <p:cNvSpPr/>
          <p:nvPr/>
        </p:nvSpPr>
        <p:spPr>
          <a:xfrm>
            <a:off x="822960" y="2286000"/>
            <a:ext cx="822960" cy="822960"/>
          </a:xfrm>
          <a:prstGeom prst="ellipse">
            <a:avLst/>
          </a:prstGeom>
          <a:solidFill>
            <a:srgbClr val="12B5A6"/>
          </a:solidFill>
          <a:ln/>
        </p:spPr>
      </p:sp>
      <p:pic>
        <p:nvPicPr>
          <p:cNvPr id="7" name="Image 0" descr="/home/claude/proj/icons/trophy.png"/>
          <p:cNvPicPr>
            <a:picLocks noChangeAspect="1"/>
          </p:cNvPicPr>
          <p:nvPr/>
        </p:nvPicPr>
        <p:blipFill>
          <a:blip r:embed="rId3"/>
          <a:stretch>
            <a:fillRect/>
          </a:stretch>
        </p:blipFill>
        <p:spPr>
          <a:xfrm>
            <a:off x="938174" y="2401214"/>
            <a:ext cx="592531" cy="592531"/>
          </a:xfrm>
          <a:prstGeom prst="rect">
            <a:avLst/>
          </a:prstGeom>
        </p:spPr>
      </p:pic>
      <p:sp>
        <p:nvSpPr>
          <p:cNvPr id="8" name="Text 5"/>
          <p:cNvSpPr/>
          <p:nvPr/>
        </p:nvSpPr>
        <p:spPr>
          <a:xfrm>
            <a:off x="1874520" y="1965960"/>
            <a:ext cx="3794760" cy="457200"/>
          </a:xfrm>
          <a:prstGeom prst="rect">
            <a:avLst/>
          </a:prstGeom>
          <a:noFill/>
          <a:ln/>
        </p:spPr>
        <p:txBody>
          <a:bodyPr wrap="square"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Zepto = Best Value</a:t>
            </a:r>
            <a:endParaRPr lang="en-US" sz="1550" dirty="0"/>
          </a:p>
        </p:txBody>
      </p:sp>
      <p:sp>
        <p:nvSpPr>
          <p:cNvPr id="9" name="Text 6"/>
          <p:cNvSpPr/>
          <p:nvPr/>
        </p:nvSpPr>
        <p:spPr>
          <a:xfrm>
            <a:off x="1874520" y="2468880"/>
            <a:ext cx="3794760" cy="1143000"/>
          </a:xfrm>
          <a:prstGeom prst="rect">
            <a:avLst/>
          </a:prstGeom>
          <a:noFill/>
          <a:ln/>
        </p:spPr>
        <p:txBody>
          <a:bodyPr wrap="square" rtlCol="0" anchor="ctr"/>
          <a:lstStyle/>
          <a:p>
            <a:pPr marL="0" indent="0">
              <a:lnSpc>
                <a:spcPct val="120000"/>
              </a:lnSpc>
              <a:buNone/>
            </a:pPr>
            <a:r>
              <a:rPr lang="en-US" sz="1150" dirty="0">
                <a:solidFill>
                  <a:srgbClr val="C6CCEA"/>
                </a:solidFill>
                <a:latin typeface="Calibri" pitchFamily="34" charset="0"/>
                <a:ea typeface="Calibri" pitchFamily="34" charset="-122"/>
                <a:cs typeface="Calibri" pitchFamily="34" charset="-120"/>
              </a:rPr>
              <a:t>Lowest average price with the highest customer rating — the strongest value proposition in the dataset.</a:t>
            </a:r>
            <a:endParaRPr lang="en-US" sz="1150" dirty="0"/>
          </a:p>
        </p:txBody>
      </p:sp>
      <p:sp>
        <p:nvSpPr>
          <p:cNvPr id="10" name="Shape 7"/>
          <p:cNvSpPr/>
          <p:nvPr/>
        </p:nvSpPr>
        <p:spPr>
          <a:xfrm>
            <a:off x="6263640" y="1691640"/>
            <a:ext cx="5349240" cy="2103120"/>
          </a:xfrm>
          <a:prstGeom prst="roundRect">
            <a:avLst>
              <a:gd name="adj" fmla="val 4348"/>
            </a:avLst>
          </a:prstGeom>
          <a:solidFill>
            <a:srgbClr val="1E2761"/>
          </a:solidFill>
          <a:ln/>
        </p:spPr>
      </p:sp>
      <p:sp>
        <p:nvSpPr>
          <p:cNvPr id="11" name="Shape 8"/>
          <p:cNvSpPr/>
          <p:nvPr/>
        </p:nvSpPr>
        <p:spPr>
          <a:xfrm>
            <a:off x="6537960" y="2286000"/>
            <a:ext cx="822960" cy="822960"/>
          </a:xfrm>
          <a:prstGeom prst="ellipse">
            <a:avLst/>
          </a:prstGeom>
          <a:solidFill>
            <a:srgbClr val="FF7A33"/>
          </a:solidFill>
          <a:ln/>
        </p:spPr>
      </p:sp>
      <p:pic>
        <p:nvPicPr>
          <p:cNvPr id="12" name="Image 1" descr="/home/claude/proj/icons/gem.png"/>
          <p:cNvPicPr>
            <a:picLocks noChangeAspect="1"/>
          </p:cNvPicPr>
          <p:nvPr/>
        </p:nvPicPr>
        <p:blipFill>
          <a:blip r:embed="rId4"/>
          <a:stretch>
            <a:fillRect/>
          </a:stretch>
        </p:blipFill>
        <p:spPr>
          <a:xfrm>
            <a:off x="6653174" y="2401214"/>
            <a:ext cx="592531" cy="592531"/>
          </a:xfrm>
          <a:prstGeom prst="rect">
            <a:avLst/>
          </a:prstGeom>
        </p:spPr>
      </p:pic>
      <p:sp>
        <p:nvSpPr>
          <p:cNvPr id="13" name="Text 9"/>
          <p:cNvSpPr/>
          <p:nvPr/>
        </p:nvSpPr>
        <p:spPr>
          <a:xfrm>
            <a:off x="7589520" y="1965960"/>
            <a:ext cx="3794760" cy="457200"/>
          </a:xfrm>
          <a:prstGeom prst="rect">
            <a:avLst/>
          </a:prstGeom>
          <a:noFill/>
          <a:ln/>
        </p:spPr>
        <p:txBody>
          <a:bodyPr wrap="square"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Discount ≠ Cheap</a:t>
            </a:r>
            <a:endParaRPr lang="en-US" sz="1550" dirty="0"/>
          </a:p>
        </p:txBody>
      </p:sp>
      <p:sp>
        <p:nvSpPr>
          <p:cNvPr id="14" name="Text 10"/>
          <p:cNvSpPr/>
          <p:nvPr/>
        </p:nvSpPr>
        <p:spPr>
          <a:xfrm>
            <a:off x="7589520" y="2468880"/>
            <a:ext cx="3794760" cy="1143000"/>
          </a:xfrm>
          <a:prstGeom prst="rect">
            <a:avLst/>
          </a:prstGeom>
          <a:noFill/>
          <a:ln/>
        </p:spPr>
        <p:txBody>
          <a:bodyPr wrap="square" rtlCol="0" anchor="ctr"/>
          <a:lstStyle/>
          <a:p>
            <a:pPr marL="0" indent="0">
              <a:lnSpc>
                <a:spcPct val="120000"/>
              </a:lnSpc>
              <a:buNone/>
            </a:pPr>
            <a:r>
              <a:rPr lang="en-US" sz="1150" dirty="0">
                <a:solidFill>
                  <a:srgbClr val="C6CCEA"/>
                </a:solidFill>
                <a:latin typeface="Calibri" pitchFamily="34" charset="0"/>
                <a:ea typeface="Calibri" pitchFamily="34" charset="-122"/>
                <a:cs typeface="Calibri" pitchFamily="34" charset="-120"/>
              </a:rPr>
              <a:t>High discount % is common on premium items too (r = 0.04) — a big markdown badge doesn't guarantee the lowest price.</a:t>
            </a:r>
            <a:endParaRPr lang="en-US" sz="1150" dirty="0"/>
          </a:p>
        </p:txBody>
      </p:sp>
      <p:sp>
        <p:nvSpPr>
          <p:cNvPr id="15" name="Shape 11"/>
          <p:cNvSpPr/>
          <p:nvPr/>
        </p:nvSpPr>
        <p:spPr>
          <a:xfrm>
            <a:off x="548640" y="4114800"/>
            <a:ext cx="5349240" cy="2103120"/>
          </a:xfrm>
          <a:prstGeom prst="roundRect">
            <a:avLst>
              <a:gd name="adj" fmla="val 4348"/>
            </a:avLst>
          </a:prstGeom>
          <a:solidFill>
            <a:srgbClr val="1E2761"/>
          </a:solidFill>
          <a:ln/>
        </p:spPr>
      </p:sp>
      <p:sp>
        <p:nvSpPr>
          <p:cNvPr id="16" name="Shape 12"/>
          <p:cNvSpPr/>
          <p:nvPr/>
        </p:nvSpPr>
        <p:spPr>
          <a:xfrm>
            <a:off x="822960" y="4709160"/>
            <a:ext cx="822960" cy="822960"/>
          </a:xfrm>
          <a:prstGeom prst="ellipse">
            <a:avLst/>
          </a:prstGeom>
          <a:solidFill>
            <a:srgbClr val="7B2FF7"/>
          </a:solidFill>
          <a:ln/>
        </p:spPr>
      </p:sp>
      <p:pic>
        <p:nvPicPr>
          <p:cNvPr id="17" name="Image 2" descr="/home/claude/proj/icons/handshake.png"/>
          <p:cNvPicPr>
            <a:picLocks noChangeAspect="1"/>
          </p:cNvPicPr>
          <p:nvPr/>
        </p:nvPicPr>
        <p:blipFill>
          <a:blip r:embed="rId5"/>
          <a:stretch>
            <a:fillRect/>
          </a:stretch>
        </p:blipFill>
        <p:spPr>
          <a:xfrm>
            <a:off x="938174" y="4824374"/>
            <a:ext cx="592531" cy="592531"/>
          </a:xfrm>
          <a:prstGeom prst="rect">
            <a:avLst/>
          </a:prstGeom>
        </p:spPr>
      </p:pic>
      <p:sp>
        <p:nvSpPr>
          <p:cNvPr id="18" name="Text 13"/>
          <p:cNvSpPr/>
          <p:nvPr/>
        </p:nvSpPr>
        <p:spPr>
          <a:xfrm>
            <a:off x="1874520" y="4389120"/>
            <a:ext cx="3794760" cy="457200"/>
          </a:xfrm>
          <a:prstGeom prst="rect">
            <a:avLst/>
          </a:prstGeom>
          <a:noFill/>
          <a:ln/>
        </p:spPr>
        <p:txBody>
          <a:bodyPr wrap="square"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Rating Is Price-Blind</a:t>
            </a:r>
            <a:endParaRPr lang="en-US" sz="1550" dirty="0"/>
          </a:p>
        </p:txBody>
      </p:sp>
      <p:sp>
        <p:nvSpPr>
          <p:cNvPr id="19" name="Text 14"/>
          <p:cNvSpPr/>
          <p:nvPr/>
        </p:nvSpPr>
        <p:spPr>
          <a:xfrm>
            <a:off x="1874520" y="4892040"/>
            <a:ext cx="3794760" cy="1143000"/>
          </a:xfrm>
          <a:prstGeom prst="rect">
            <a:avLst/>
          </a:prstGeom>
          <a:noFill/>
          <a:ln/>
        </p:spPr>
        <p:txBody>
          <a:bodyPr wrap="square" rtlCol="0" anchor="ctr"/>
          <a:lstStyle/>
          <a:p>
            <a:pPr marL="0" indent="0">
              <a:lnSpc>
                <a:spcPct val="120000"/>
              </a:lnSpc>
              <a:buNone/>
            </a:pPr>
            <a:r>
              <a:rPr lang="en-US" sz="1150" dirty="0">
                <a:solidFill>
                  <a:srgbClr val="C6CCEA"/>
                </a:solidFill>
                <a:latin typeface="Calibri" pitchFamily="34" charset="0"/>
                <a:ea typeface="Calibri" pitchFamily="34" charset="-122"/>
                <a:cs typeface="Calibri" pitchFamily="34" charset="-120"/>
              </a:rPr>
              <a:t>Customer satisfaction barely shifts with price — budget and premium products earn similarly strong reviews.</a:t>
            </a:r>
            <a:endParaRPr lang="en-US" sz="1150" dirty="0"/>
          </a:p>
        </p:txBody>
      </p:sp>
      <p:sp>
        <p:nvSpPr>
          <p:cNvPr id="20" name="Shape 15"/>
          <p:cNvSpPr/>
          <p:nvPr/>
        </p:nvSpPr>
        <p:spPr>
          <a:xfrm>
            <a:off x="6263640" y="4114800"/>
            <a:ext cx="5349240" cy="2103120"/>
          </a:xfrm>
          <a:prstGeom prst="roundRect">
            <a:avLst>
              <a:gd name="adj" fmla="val 4348"/>
            </a:avLst>
          </a:prstGeom>
          <a:solidFill>
            <a:srgbClr val="1E2761"/>
          </a:solidFill>
          <a:ln/>
        </p:spPr>
      </p:sp>
      <p:sp>
        <p:nvSpPr>
          <p:cNvPr id="21" name="Shape 16"/>
          <p:cNvSpPr/>
          <p:nvPr/>
        </p:nvSpPr>
        <p:spPr>
          <a:xfrm>
            <a:off x="6537960" y="4709160"/>
            <a:ext cx="822960" cy="822960"/>
          </a:xfrm>
          <a:prstGeom prst="ellipse">
            <a:avLst/>
          </a:prstGeom>
          <a:solidFill>
            <a:srgbClr val="17C3E6"/>
          </a:solidFill>
          <a:ln/>
        </p:spPr>
      </p:sp>
      <p:pic>
        <p:nvPicPr>
          <p:cNvPr id="22" name="Image 3" descr="/home/claude/proj/icons/award.png"/>
          <p:cNvPicPr>
            <a:picLocks noChangeAspect="1"/>
          </p:cNvPicPr>
          <p:nvPr/>
        </p:nvPicPr>
        <p:blipFill>
          <a:blip r:embed="rId6"/>
          <a:stretch>
            <a:fillRect/>
          </a:stretch>
        </p:blipFill>
        <p:spPr>
          <a:xfrm>
            <a:off x="6653174" y="4824374"/>
            <a:ext cx="592531" cy="592531"/>
          </a:xfrm>
          <a:prstGeom prst="rect">
            <a:avLst/>
          </a:prstGeom>
        </p:spPr>
      </p:pic>
      <p:sp>
        <p:nvSpPr>
          <p:cNvPr id="23" name="Text 17"/>
          <p:cNvSpPr/>
          <p:nvPr/>
        </p:nvSpPr>
        <p:spPr>
          <a:xfrm>
            <a:off x="7589520" y="4389120"/>
            <a:ext cx="3794760" cy="457200"/>
          </a:xfrm>
          <a:prstGeom prst="rect">
            <a:avLst/>
          </a:prstGeom>
          <a:noFill/>
          <a:ln/>
        </p:spPr>
        <p:txBody>
          <a:bodyPr wrap="square"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Beauty &amp; Hygiene Leads</a:t>
            </a:r>
            <a:endParaRPr lang="en-US" sz="1550" dirty="0"/>
          </a:p>
        </p:txBody>
      </p:sp>
      <p:sp>
        <p:nvSpPr>
          <p:cNvPr id="24" name="Text 18"/>
          <p:cNvSpPr/>
          <p:nvPr/>
        </p:nvSpPr>
        <p:spPr>
          <a:xfrm>
            <a:off x="7589520" y="4892040"/>
            <a:ext cx="3794760" cy="1143000"/>
          </a:xfrm>
          <a:prstGeom prst="rect">
            <a:avLst/>
          </a:prstGeom>
          <a:noFill/>
          <a:ln/>
        </p:spPr>
        <p:txBody>
          <a:bodyPr wrap="square" rtlCol="0" anchor="ctr"/>
          <a:lstStyle/>
          <a:p>
            <a:pPr marL="0" indent="0">
              <a:lnSpc>
                <a:spcPct val="120000"/>
              </a:lnSpc>
              <a:buNone/>
            </a:pPr>
            <a:r>
              <a:rPr lang="en-US" sz="1150" dirty="0">
                <a:solidFill>
                  <a:srgbClr val="C6CCEA"/>
                </a:solidFill>
                <a:latin typeface="Calibri" pitchFamily="34" charset="0"/>
                <a:ea typeface="Calibri" pitchFamily="34" charset="-122"/>
                <a:cs typeface="Calibri" pitchFamily="34" charset="-120"/>
              </a:rPr>
              <a:t>This single category generates the highest total sales value (₹32.5L+), ahead of Kitchen &amp; Gourmet segments.</a:t>
            </a:r>
            <a:endParaRPr lang="en-US" sz="1150" dirty="0"/>
          </a:p>
        </p:txBody>
      </p:sp>
      <p:sp>
        <p:nvSpPr>
          <p:cNvPr id="25" name="Text 19"/>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892B0"/>
                </a:solidFill>
                <a:latin typeface="Calibri" pitchFamily="34" charset="0"/>
                <a:ea typeface="Calibri" pitchFamily="34" charset="-122"/>
                <a:cs typeface="Calibri" pitchFamily="34" charset="-120"/>
              </a:rPr>
              <a:t>15</a:t>
            </a:r>
            <a:endParaRPr lang="en-US" sz="900" dirty="0"/>
          </a:p>
        </p:txBody>
      </p:sp>
      <p:sp>
        <p:nvSpPr>
          <p:cNvPr id="26" name="Text 20"/>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SmartBasket Analysis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50" b="1" kern="0" spc="200" dirty="0">
                <a:solidFill>
                  <a:srgbClr val="12B5A6"/>
                </a:solidFill>
                <a:latin typeface="Calibri" pitchFamily="34" charset="0"/>
                <a:ea typeface="Calibri" pitchFamily="34" charset="-122"/>
                <a:cs typeface="Calibri" pitchFamily="34" charset="-120"/>
              </a:rPr>
              <a:t>SLIDE 17</a:t>
            </a:r>
            <a:endParaRPr lang="en-US" sz="125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51A45"/>
                </a:solidFill>
                <a:latin typeface="Cambria" pitchFamily="34" charset="0"/>
                <a:ea typeface="Cambria" pitchFamily="34" charset="-122"/>
                <a:cs typeface="Cambria" pitchFamily="34" charset="-120"/>
              </a:rPr>
              <a:t>Key Findings</a:t>
            </a:r>
            <a:endParaRPr lang="en-US" sz="3000" dirty="0"/>
          </a:p>
        </p:txBody>
      </p:sp>
      <p:sp>
        <p:nvSpPr>
          <p:cNvPr id="4" name="Shape 2"/>
          <p:cNvSpPr/>
          <p:nvPr/>
        </p:nvSpPr>
        <p:spPr>
          <a:xfrm>
            <a:off x="548640" y="1691640"/>
            <a:ext cx="5349240" cy="914400"/>
          </a:xfrm>
          <a:prstGeom prst="roundRect">
            <a:avLst>
              <a:gd name="adj" fmla="val 9000"/>
            </a:avLst>
          </a:prstGeom>
          <a:solidFill>
            <a:srgbClr val="F4F6FB"/>
          </a:solidFill>
          <a:ln/>
        </p:spPr>
      </p:sp>
      <p:sp>
        <p:nvSpPr>
          <p:cNvPr id="5" name="Shape 3"/>
          <p:cNvSpPr/>
          <p:nvPr/>
        </p:nvSpPr>
        <p:spPr>
          <a:xfrm>
            <a:off x="731520" y="1874520"/>
            <a:ext cx="548640" cy="548640"/>
          </a:xfrm>
          <a:prstGeom prst="ellipse">
            <a:avLst/>
          </a:prstGeom>
          <a:solidFill>
            <a:srgbClr val="12B5A6"/>
          </a:solidFill>
          <a:ln/>
        </p:spPr>
      </p:sp>
      <p:pic>
        <p:nvPicPr>
          <p:cNvPr id="6" name="Image 0" descr="/home/claude/proj/icons/boxes.png"/>
          <p:cNvPicPr>
            <a:picLocks noChangeAspect="1"/>
          </p:cNvPicPr>
          <p:nvPr/>
        </p:nvPicPr>
        <p:blipFill>
          <a:blip r:embed="rId3"/>
          <a:stretch>
            <a:fillRect/>
          </a:stretch>
        </p:blipFill>
        <p:spPr>
          <a:xfrm>
            <a:off x="808330" y="1951330"/>
            <a:ext cx="395021" cy="395021"/>
          </a:xfrm>
          <a:prstGeom prst="rect">
            <a:avLst/>
          </a:prstGeom>
        </p:spPr>
      </p:pic>
      <p:sp>
        <p:nvSpPr>
          <p:cNvPr id="7" name="Text 4"/>
          <p:cNvSpPr/>
          <p:nvPr/>
        </p:nvSpPr>
        <p:spPr>
          <a:xfrm>
            <a:off x="1417320" y="1746504"/>
            <a:ext cx="4297680" cy="804672"/>
          </a:xfrm>
          <a:prstGeom prst="rect">
            <a:avLst/>
          </a:prstGeom>
          <a:noFill/>
          <a:ln/>
        </p:spPr>
        <p:txBody>
          <a:bodyPr wrap="square" rtlCol="0" anchor="ctr"/>
          <a:lstStyle/>
          <a:p>
            <a:pPr marL="0" indent="0">
              <a:lnSpc>
                <a:spcPct val="115000"/>
              </a:lnSpc>
              <a:buNone/>
            </a:pPr>
            <a:r>
              <a:rPr lang="en-US" sz="1150" dirty="0">
                <a:solidFill>
                  <a:srgbClr val="2A3358"/>
                </a:solidFill>
                <a:latin typeface="Calibri" pitchFamily="34" charset="0"/>
                <a:ea typeface="Calibri" pitchFamily="34" charset="-122"/>
                <a:cs typeface="Calibri" pitchFamily="34" charset="-120"/>
              </a:rPr>
              <a:t>BigBasket carries 69.7% of the catalogue — the default choice for range and availability.</a:t>
            </a:r>
            <a:endParaRPr lang="en-US" sz="1150" dirty="0"/>
          </a:p>
        </p:txBody>
      </p:sp>
      <p:sp>
        <p:nvSpPr>
          <p:cNvPr id="8" name="Shape 5"/>
          <p:cNvSpPr/>
          <p:nvPr/>
        </p:nvSpPr>
        <p:spPr>
          <a:xfrm>
            <a:off x="6263640" y="1691640"/>
            <a:ext cx="5349240" cy="914400"/>
          </a:xfrm>
          <a:prstGeom prst="roundRect">
            <a:avLst>
              <a:gd name="adj" fmla="val 9000"/>
            </a:avLst>
          </a:prstGeom>
          <a:solidFill>
            <a:srgbClr val="F4F6FB"/>
          </a:solidFill>
          <a:ln/>
        </p:spPr>
      </p:sp>
      <p:sp>
        <p:nvSpPr>
          <p:cNvPr id="9" name="Shape 6"/>
          <p:cNvSpPr/>
          <p:nvPr/>
        </p:nvSpPr>
        <p:spPr>
          <a:xfrm>
            <a:off x="6446520" y="1874520"/>
            <a:ext cx="548640" cy="548640"/>
          </a:xfrm>
          <a:prstGeom prst="ellipse">
            <a:avLst/>
          </a:prstGeom>
          <a:solidFill>
            <a:srgbClr val="FF7A33"/>
          </a:solidFill>
          <a:ln/>
        </p:spPr>
      </p:sp>
      <p:pic>
        <p:nvPicPr>
          <p:cNvPr id="10" name="Image 1" descr="/home/claude/proj/icons/chart.png"/>
          <p:cNvPicPr>
            <a:picLocks noChangeAspect="1"/>
          </p:cNvPicPr>
          <p:nvPr/>
        </p:nvPicPr>
        <p:blipFill>
          <a:blip r:embed="rId4"/>
          <a:stretch>
            <a:fillRect/>
          </a:stretch>
        </p:blipFill>
        <p:spPr>
          <a:xfrm>
            <a:off x="6523330" y="1951330"/>
            <a:ext cx="395021" cy="395021"/>
          </a:xfrm>
          <a:prstGeom prst="rect">
            <a:avLst/>
          </a:prstGeom>
        </p:spPr>
      </p:pic>
      <p:sp>
        <p:nvSpPr>
          <p:cNvPr id="11" name="Text 7"/>
          <p:cNvSpPr/>
          <p:nvPr/>
        </p:nvSpPr>
        <p:spPr>
          <a:xfrm>
            <a:off x="7132320" y="1746504"/>
            <a:ext cx="4297680" cy="804672"/>
          </a:xfrm>
          <a:prstGeom prst="rect">
            <a:avLst/>
          </a:prstGeom>
          <a:noFill/>
          <a:ln/>
        </p:spPr>
        <p:txBody>
          <a:bodyPr wrap="square" rtlCol="0" anchor="ctr"/>
          <a:lstStyle/>
          <a:p>
            <a:pPr marL="0" indent="0">
              <a:lnSpc>
                <a:spcPct val="115000"/>
              </a:lnSpc>
              <a:buNone/>
            </a:pPr>
            <a:r>
              <a:rPr lang="en-US" sz="1150" dirty="0">
                <a:solidFill>
                  <a:srgbClr val="2A3358"/>
                </a:solidFill>
                <a:latin typeface="Calibri" pitchFamily="34" charset="0"/>
                <a:ea typeface="Calibri" pitchFamily="34" charset="-122"/>
                <a:cs typeface="Calibri" pitchFamily="34" charset="-120"/>
              </a:rPr>
              <a:t>MRP and Sale Price move almost in lockstep (r = 0.96) across every platform.</a:t>
            </a:r>
            <a:endParaRPr lang="en-US" sz="1150" dirty="0"/>
          </a:p>
        </p:txBody>
      </p:sp>
      <p:sp>
        <p:nvSpPr>
          <p:cNvPr id="12" name="Shape 8"/>
          <p:cNvSpPr/>
          <p:nvPr/>
        </p:nvSpPr>
        <p:spPr>
          <a:xfrm>
            <a:off x="548640" y="2862072"/>
            <a:ext cx="5349240" cy="914400"/>
          </a:xfrm>
          <a:prstGeom prst="roundRect">
            <a:avLst>
              <a:gd name="adj" fmla="val 9000"/>
            </a:avLst>
          </a:prstGeom>
          <a:solidFill>
            <a:srgbClr val="F4F6FB"/>
          </a:solidFill>
          <a:ln/>
        </p:spPr>
      </p:sp>
      <p:sp>
        <p:nvSpPr>
          <p:cNvPr id="13" name="Shape 9"/>
          <p:cNvSpPr/>
          <p:nvPr/>
        </p:nvSpPr>
        <p:spPr>
          <a:xfrm>
            <a:off x="731520" y="3044952"/>
            <a:ext cx="548640" cy="548640"/>
          </a:xfrm>
          <a:prstGeom prst="ellipse">
            <a:avLst/>
          </a:prstGeom>
          <a:solidFill>
            <a:srgbClr val="7B2FF7"/>
          </a:solidFill>
          <a:ln/>
        </p:spPr>
      </p:sp>
      <p:pic>
        <p:nvPicPr>
          <p:cNvPr id="14" name="Image 2" descr="/home/claude/proj/icons/star.png"/>
          <p:cNvPicPr>
            <a:picLocks noChangeAspect="1"/>
          </p:cNvPicPr>
          <p:nvPr/>
        </p:nvPicPr>
        <p:blipFill>
          <a:blip r:embed="rId5"/>
          <a:stretch>
            <a:fillRect/>
          </a:stretch>
        </p:blipFill>
        <p:spPr>
          <a:xfrm>
            <a:off x="808330" y="3121762"/>
            <a:ext cx="395021" cy="395021"/>
          </a:xfrm>
          <a:prstGeom prst="rect">
            <a:avLst/>
          </a:prstGeom>
        </p:spPr>
      </p:pic>
      <p:sp>
        <p:nvSpPr>
          <p:cNvPr id="15" name="Text 10"/>
          <p:cNvSpPr/>
          <p:nvPr/>
        </p:nvSpPr>
        <p:spPr>
          <a:xfrm>
            <a:off x="1417320" y="2916936"/>
            <a:ext cx="4297680" cy="804672"/>
          </a:xfrm>
          <a:prstGeom prst="rect">
            <a:avLst/>
          </a:prstGeom>
          <a:noFill/>
          <a:ln/>
        </p:spPr>
        <p:txBody>
          <a:bodyPr wrap="square" rtlCol="0" anchor="ctr"/>
          <a:lstStyle/>
          <a:p>
            <a:pPr marL="0" indent="0">
              <a:lnSpc>
                <a:spcPct val="115000"/>
              </a:lnSpc>
              <a:buNone/>
            </a:pPr>
            <a:r>
              <a:rPr lang="en-US" sz="1150" dirty="0">
                <a:solidFill>
                  <a:srgbClr val="2A3358"/>
                </a:solidFill>
                <a:latin typeface="Calibri" pitchFamily="34" charset="0"/>
                <a:ea typeface="Calibri" pitchFamily="34" charset="-122"/>
                <a:cs typeface="Calibri" pitchFamily="34" charset="-120"/>
              </a:rPr>
              <a:t>Zepto posts the highest average rating (4.30) despite the lowest average price.</a:t>
            </a:r>
            <a:endParaRPr lang="en-US" sz="1150" dirty="0"/>
          </a:p>
        </p:txBody>
      </p:sp>
      <p:sp>
        <p:nvSpPr>
          <p:cNvPr id="16" name="Shape 11"/>
          <p:cNvSpPr/>
          <p:nvPr/>
        </p:nvSpPr>
        <p:spPr>
          <a:xfrm>
            <a:off x="6263640" y="2862072"/>
            <a:ext cx="5349240" cy="914400"/>
          </a:xfrm>
          <a:prstGeom prst="roundRect">
            <a:avLst>
              <a:gd name="adj" fmla="val 9000"/>
            </a:avLst>
          </a:prstGeom>
          <a:solidFill>
            <a:srgbClr val="F4F6FB"/>
          </a:solidFill>
          <a:ln/>
        </p:spPr>
      </p:sp>
      <p:sp>
        <p:nvSpPr>
          <p:cNvPr id="17" name="Shape 12"/>
          <p:cNvSpPr/>
          <p:nvPr/>
        </p:nvSpPr>
        <p:spPr>
          <a:xfrm>
            <a:off x="6446520" y="3044952"/>
            <a:ext cx="548640" cy="548640"/>
          </a:xfrm>
          <a:prstGeom prst="ellipse">
            <a:avLst/>
          </a:prstGeom>
          <a:solidFill>
            <a:srgbClr val="17C3E6"/>
          </a:solidFill>
          <a:ln/>
        </p:spPr>
      </p:sp>
      <p:pic>
        <p:nvPicPr>
          <p:cNvPr id="18" name="Image 3" descr="/home/claude/proj/icons/percent.png"/>
          <p:cNvPicPr>
            <a:picLocks noChangeAspect="1"/>
          </p:cNvPicPr>
          <p:nvPr/>
        </p:nvPicPr>
        <p:blipFill>
          <a:blip r:embed="rId6"/>
          <a:stretch>
            <a:fillRect/>
          </a:stretch>
        </p:blipFill>
        <p:spPr>
          <a:xfrm>
            <a:off x="6523330" y="3121762"/>
            <a:ext cx="395021" cy="395021"/>
          </a:xfrm>
          <a:prstGeom prst="rect">
            <a:avLst/>
          </a:prstGeom>
        </p:spPr>
      </p:pic>
      <p:sp>
        <p:nvSpPr>
          <p:cNvPr id="19" name="Text 13"/>
          <p:cNvSpPr/>
          <p:nvPr/>
        </p:nvSpPr>
        <p:spPr>
          <a:xfrm>
            <a:off x="7132320" y="2916936"/>
            <a:ext cx="4297680" cy="804672"/>
          </a:xfrm>
          <a:prstGeom prst="rect">
            <a:avLst/>
          </a:prstGeom>
          <a:noFill/>
          <a:ln/>
        </p:spPr>
        <p:txBody>
          <a:bodyPr wrap="square" rtlCol="0" anchor="ctr"/>
          <a:lstStyle/>
          <a:p>
            <a:pPr marL="0" indent="0">
              <a:lnSpc>
                <a:spcPct val="115000"/>
              </a:lnSpc>
              <a:buNone/>
            </a:pPr>
            <a:r>
              <a:rPr lang="en-US" sz="1150" dirty="0">
                <a:solidFill>
                  <a:srgbClr val="2A3358"/>
                </a:solidFill>
                <a:latin typeface="Calibri" pitchFamily="34" charset="0"/>
                <a:ea typeface="Calibri" pitchFamily="34" charset="-122"/>
                <a:cs typeface="Calibri" pitchFamily="34" charset="-120"/>
              </a:rPr>
              <a:t>Blinkit's average discount (21.0%) is the deepest of all four platforms.</a:t>
            </a:r>
            <a:endParaRPr lang="en-US" sz="1150" dirty="0"/>
          </a:p>
        </p:txBody>
      </p:sp>
      <p:sp>
        <p:nvSpPr>
          <p:cNvPr id="20" name="Shape 14"/>
          <p:cNvSpPr/>
          <p:nvPr/>
        </p:nvSpPr>
        <p:spPr>
          <a:xfrm>
            <a:off x="548640" y="4032504"/>
            <a:ext cx="5349240" cy="914400"/>
          </a:xfrm>
          <a:prstGeom prst="roundRect">
            <a:avLst>
              <a:gd name="adj" fmla="val 9000"/>
            </a:avLst>
          </a:prstGeom>
          <a:solidFill>
            <a:srgbClr val="F4F6FB"/>
          </a:solidFill>
          <a:ln/>
        </p:spPr>
      </p:sp>
      <p:sp>
        <p:nvSpPr>
          <p:cNvPr id="21" name="Shape 15"/>
          <p:cNvSpPr/>
          <p:nvPr/>
        </p:nvSpPr>
        <p:spPr>
          <a:xfrm>
            <a:off x="731520" y="4215384"/>
            <a:ext cx="548640" cy="548640"/>
          </a:xfrm>
          <a:prstGeom prst="ellipse">
            <a:avLst/>
          </a:prstGeom>
          <a:solidFill>
            <a:srgbClr val="12B5A6"/>
          </a:solidFill>
          <a:ln/>
        </p:spPr>
      </p:sp>
      <p:pic>
        <p:nvPicPr>
          <p:cNvPr id="22" name="Image 4" descr="/home/claude/proj/icons/chartBar.png"/>
          <p:cNvPicPr>
            <a:picLocks noChangeAspect="1"/>
          </p:cNvPicPr>
          <p:nvPr/>
        </p:nvPicPr>
        <p:blipFill>
          <a:blip r:embed="rId7"/>
          <a:stretch>
            <a:fillRect/>
          </a:stretch>
        </p:blipFill>
        <p:spPr>
          <a:xfrm>
            <a:off x="808330" y="4292194"/>
            <a:ext cx="395021" cy="395021"/>
          </a:xfrm>
          <a:prstGeom prst="rect">
            <a:avLst/>
          </a:prstGeom>
        </p:spPr>
      </p:pic>
      <p:sp>
        <p:nvSpPr>
          <p:cNvPr id="23" name="Text 16"/>
          <p:cNvSpPr/>
          <p:nvPr/>
        </p:nvSpPr>
        <p:spPr>
          <a:xfrm>
            <a:off x="1417320" y="4087368"/>
            <a:ext cx="4297680" cy="804672"/>
          </a:xfrm>
          <a:prstGeom prst="rect">
            <a:avLst/>
          </a:prstGeom>
          <a:noFill/>
          <a:ln/>
        </p:spPr>
        <p:txBody>
          <a:bodyPr wrap="square" rtlCol="0" anchor="ctr"/>
          <a:lstStyle/>
          <a:p>
            <a:pPr marL="0" indent="0">
              <a:lnSpc>
                <a:spcPct val="115000"/>
              </a:lnSpc>
              <a:buNone/>
            </a:pPr>
            <a:r>
              <a:rPr lang="en-US" sz="1150" dirty="0">
                <a:solidFill>
                  <a:srgbClr val="2A3358"/>
                </a:solidFill>
                <a:latin typeface="Calibri" pitchFamily="34" charset="0"/>
                <a:ea typeface="Calibri" pitchFamily="34" charset="-122"/>
                <a:cs typeface="Calibri" pitchFamily="34" charset="-120"/>
              </a:rPr>
              <a:t>Sale prices are heavily right-skewed — most products sit well under ₹200.</a:t>
            </a:r>
            <a:endParaRPr lang="en-US" sz="1150" dirty="0"/>
          </a:p>
        </p:txBody>
      </p:sp>
      <p:sp>
        <p:nvSpPr>
          <p:cNvPr id="24" name="Shape 17"/>
          <p:cNvSpPr/>
          <p:nvPr/>
        </p:nvSpPr>
        <p:spPr>
          <a:xfrm>
            <a:off x="6263640" y="4032504"/>
            <a:ext cx="5349240" cy="914400"/>
          </a:xfrm>
          <a:prstGeom prst="roundRect">
            <a:avLst>
              <a:gd name="adj" fmla="val 9000"/>
            </a:avLst>
          </a:prstGeom>
          <a:solidFill>
            <a:srgbClr val="F4F6FB"/>
          </a:solidFill>
          <a:ln/>
        </p:spPr>
      </p:sp>
      <p:sp>
        <p:nvSpPr>
          <p:cNvPr id="25" name="Shape 18"/>
          <p:cNvSpPr/>
          <p:nvPr/>
        </p:nvSpPr>
        <p:spPr>
          <a:xfrm>
            <a:off x="6446520" y="4215384"/>
            <a:ext cx="548640" cy="548640"/>
          </a:xfrm>
          <a:prstGeom prst="ellipse">
            <a:avLst/>
          </a:prstGeom>
          <a:solidFill>
            <a:srgbClr val="FF7A33"/>
          </a:solidFill>
          <a:ln/>
        </p:spPr>
      </p:sp>
      <p:pic>
        <p:nvPicPr>
          <p:cNvPr id="26" name="Image 5" descr="/home/claude/proj/icons/checkCircle.png"/>
          <p:cNvPicPr>
            <a:picLocks noChangeAspect="1"/>
          </p:cNvPicPr>
          <p:nvPr/>
        </p:nvPicPr>
        <p:blipFill>
          <a:blip r:embed="rId8"/>
          <a:stretch>
            <a:fillRect/>
          </a:stretch>
        </p:blipFill>
        <p:spPr>
          <a:xfrm>
            <a:off x="6523330" y="4292194"/>
            <a:ext cx="395021" cy="395021"/>
          </a:xfrm>
          <a:prstGeom prst="rect">
            <a:avLst/>
          </a:prstGeom>
        </p:spPr>
      </p:pic>
      <p:sp>
        <p:nvSpPr>
          <p:cNvPr id="27" name="Text 19"/>
          <p:cNvSpPr/>
          <p:nvPr/>
        </p:nvSpPr>
        <p:spPr>
          <a:xfrm>
            <a:off x="7132320" y="4087368"/>
            <a:ext cx="4297680" cy="804672"/>
          </a:xfrm>
          <a:prstGeom prst="rect">
            <a:avLst/>
          </a:prstGeom>
          <a:noFill/>
          <a:ln/>
        </p:spPr>
        <p:txBody>
          <a:bodyPr wrap="square" rtlCol="0" anchor="ctr"/>
          <a:lstStyle/>
          <a:p>
            <a:pPr marL="0" indent="0">
              <a:lnSpc>
                <a:spcPct val="115000"/>
              </a:lnSpc>
              <a:buNone/>
            </a:pPr>
            <a:r>
              <a:rPr lang="en-US" sz="1150" dirty="0">
                <a:solidFill>
                  <a:srgbClr val="2A3358"/>
                </a:solidFill>
                <a:latin typeface="Calibri" pitchFamily="34" charset="0"/>
                <a:ea typeface="Calibri" pitchFamily="34" charset="-122"/>
                <a:cs typeface="Calibri" pitchFamily="34" charset="-120"/>
              </a:rPr>
              <a:t>Ratings cluster tightly between 4.0–5.0, with very few poor reviews recorded.</a:t>
            </a:r>
            <a:endParaRPr lang="en-US" sz="1150" dirty="0"/>
          </a:p>
        </p:txBody>
      </p:sp>
      <p:sp>
        <p:nvSpPr>
          <p:cNvPr id="28" name="Shape 20"/>
          <p:cNvSpPr/>
          <p:nvPr/>
        </p:nvSpPr>
        <p:spPr>
          <a:xfrm>
            <a:off x="548640" y="5202936"/>
            <a:ext cx="5349240" cy="914400"/>
          </a:xfrm>
          <a:prstGeom prst="roundRect">
            <a:avLst>
              <a:gd name="adj" fmla="val 9000"/>
            </a:avLst>
          </a:prstGeom>
          <a:solidFill>
            <a:srgbClr val="F4F6FB"/>
          </a:solidFill>
          <a:ln/>
        </p:spPr>
      </p:sp>
      <p:sp>
        <p:nvSpPr>
          <p:cNvPr id="29" name="Shape 21"/>
          <p:cNvSpPr/>
          <p:nvPr/>
        </p:nvSpPr>
        <p:spPr>
          <a:xfrm>
            <a:off x="731520" y="5385816"/>
            <a:ext cx="548640" cy="548640"/>
          </a:xfrm>
          <a:prstGeom prst="ellipse">
            <a:avLst/>
          </a:prstGeom>
          <a:solidFill>
            <a:srgbClr val="7B2FF7"/>
          </a:solidFill>
          <a:ln/>
        </p:spPr>
      </p:sp>
      <p:pic>
        <p:nvPicPr>
          <p:cNvPr id="30" name="Image 6" descr="/home/claude/proj/icons/ruler.png"/>
          <p:cNvPicPr>
            <a:picLocks noChangeAspect="1"/>
          </p:cNvPicPr>
          <p:nvPr/>
        </p:nvPicPr>
        <p:blipFill>
          <a:blip r:embed="rId9"/>
          <a:stretch>
            <a:fillRect/>
          </a:stretch>
        </p:blipFill>
        <p:spPr>
          <a:xfrm>
            <a:off x="808330" y="5462626"/>
            <a:ext cx="395021" cy="395021"/>
          </a:xfrm>
          <a:prstGeom prst="rect">
            <a:avLst/>
          </a:prstGeom>
        </p:spPr>
      </p:pic>
      <p:sp>
        <p:nvSpPr>
          <p:cNvPr id="31" name="Text 22"/>
          <p:cNvSpPr/>
          <p:nvPr/>
        </p:nvSpPr>
        <p:spPr>
          <a:xfrm>
            <a:off x="1417320" y="5257800"/>
            <a:ext cx="4297680" cy="804672"/>
          </a:xfrm>
          <a:prstGeom prst="rect">
            <a:avLst/>
          </a:prstGeom>
          <a:noFill/>
          <a:ln/>
        </p:spPr>
        <p:txBody>
          <a:bodyPr wrap="square" rtlCol="0" anchor="ctr"/>
          <a:lstStyle/>
          <a:p>
            <a:pPr marL="0" indent="0">
              <a:lnSpc>
                <a:spcPct val="115000"/>
              </a:lnSpc>
              <a:buNone/>
            </a:pPr>
            <a:r>
              <a:rPr lang="en-US" sz="1150" dirty="0">
                <a:solidFill>
                  <a:srgbClr val="2A3358"/>
                </a:solidFill>
                <a:latin typeface="Calibri" pitchFamily="34" charset="0"/>
                <a:ea typeface="Calibri" pitchFamily="34" charset="-122"/>
                <a:cs typeface="Calibri" pitchFamily="34" charset="-120"/>
              </a:rPr>
              <a:t>General Grocery &amp; Kitchen/Garden/Pets show the widest intra-category price spread.</a:t>
            </a:r>
            <a:endParaRPr lang="en-US" sz="1150" dirty="0"/>
          </a:p>
        </p:txBody>
      </p:sp>
      <p:sp>
        <p:nvSpPr>
          <p:cNvPr id="32" name="Shape 23"/>
          <p:cNvSpPr/>
          <p:nvPr/>
        </p:nvSpPr>
        <p:spPr>
          <a:xfrm>
            <a:off x="6263640" y="5202936"/>
            <a:ext cx="5349240" cy="914400"/>
          </a:xfrm>
          <a:prstGeom prst="roundRect">
            <a:avLst>
              <a:gd name="adj" fmla="val 9000"/>
            </a:avLst>
          </a:prstGeom>
          <a:solidFill>
            <a:srgbClr val="F4F6FB"/>
          </a:solidFill>
          <a:ln/>
        </p:spPr>
      </p:sp>
      <p:sp>
        <p:nvSpPr>
          <p:cNvPr id="33" name="Shape 24"/>
          <p:cNvSpPr/>
          <p:nvPr/>
        </p:nvSpPr>
        <p:spPr>
          <a:xfrm>
            <a:off x="6446520" y="5385816"/>
            <a:ext cx="548640" cy="548640"/>
          </a:xfrm>
          <a:prstGeom prst="ellipse">
            <a:avLst/>
          </a:prstGeom>
          <a:solidFill>
            <a:srgbClr val="17C3E6"/>
          </a:solidFill>
          <a:ln/>
        </p:spPr>
      </p:sp>
      <p:pic>
        <p:nvPicPr>
          <p:cNvPr id="34" name="Image 7" descr="/home/claude/proj/icons/balanceScale.png"/>
          <p:cNvPicPr>
            <a:picLocks noChangeAspect="1"/>
          </p:cNvPicPr>
          <p:nvPr/>
        </p:nvPicPr>
        <p:blipFill>
          <a:blip r:embed="rId10"/>
          <a:stretch>
            <a:fillRect/>
          </a:stretch>
        </p:blipFill>
        <p:spPr>
          <a:xfrm>
            <a:off x="6523330" y="5462626"/>
            <a:ext cx="395021" cy="395021"/>
          </a:xfrm>
          <a:prstGeom prst="rect">
            <a:avLst/>
          </a:prstGeom>
        </p:spPr>
      </p:pic>
      <p:sp>
        <p:nvSpPr>
          <p:cNvPr id="35" name="Text 25"/>
          <p:cNvSpPr/>
          <p:nvPr/>
        </p:nvSpPr>
        <p:spPr>
          <a:xfrm>
            <a:off x="7132320" y="5257800"/>
            <a:ext cx="4297680" cy="804672"/>
          </a:xfrm>
          <a:prstGeom prst="rect">
            <a:avLst/>
          </a:prstGeom>
          <a:noFill/>
          <a:ln/>
        </p:spPr>
        <p:txBody>
          <a:bodyPr wrap="square" rtlCol="0" anchor="ctr"/>
          <a:lstStyle/>
          <a:p>
            <a:pPr marL="0" indent="0">
              <a:lnSpc>
                <a:spcPct val="115000"/>
              </a:lnSpc>
              <a:buNone/>
            </a:pPr>
            <a:r>
              <a:rPr lang="en-US" sz="1150" dirty="0">
                <a:solidFill>
                  <a:srgbClr val="2A3358"/>
                </a:solidFill>
                <a:latin typeface="Calibri" pitchFamily="34" charset="0"/>
                <a:ea typeface="Calibri" pitchFamily="34" charset="-122"/>
                <a:cs typeface="Calibri" pitchFamily="34" charset="-120"/>
              </a:rPr>
              <a:t>Discount percentage shows almost no relationship with either price or rating.</a:t>
            </a:r>
            <a:endParaRPr lang="en-US" sz="1150" dirty="0"/>
          </a:p>
        </p:txBody>
      </p:sp>
      <p:sp>
        <p:nvSpPr>
          <p:cNvPr id="36" name="Text 26"/>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892B0"/>
                </a:solidFill>
                <a:latin typeface="Calibri" pitchFamily="34" charset="0"/>
                <a:ea typeface="Calibri" pitchFamily="34" charset="-122"/>
                <a:cs typeface="Calibri" pitchFamily="34" charset="-120"/>
              </a:rPr>
              <a:t>16</a:t>
            </a:r>
            <a:endParaRPr lang="en-US" sz="900" dirty="0"/>
          </a:p>
        </p:txBody>
      </p:sp>
      <p:sp>
        <p:nvSpPr>
          <p:cNvPr id="37" name="Text 27"/>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SmartBasket Analysis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5486400" cy="320040"/>
          </a:xfrm>
          <a:prstGeom prst="rect">
            <a:avLst/>
          </a:prstGeom>
          <a:noFill/>
          <a:ln/>
        </p:spPr>
        <p:txBody>
          <a:bodyPr wrap="square" rtlCol="0" anchor="ctr"/>
          <a:lstStyle/>
          <a:p>
            <a:pPr marL="0" indent="0">
              <a:buNone/>
            </a:pPr>
            <a:r>
              <a:rPr lang="en-US" sz="1250" b="1" kern="0" spc="200" dirty="0">
                <a:solidFill>
                  <a:srgbClr val="7B2FF7"/>
                </a:solidFill>
                <a:latin typeface="Calibri" pitchFamily="34" charset="0"/>
                <a:ea typeface="Calibri" pitchFamily="34" charset="-122"/>
                <a:cs typeface="Calibri" pitchFamily="34" charset="-120"/>
              </a:rPr>
              <a:t>SLIDE 18</a:t>
            </a:r>
            <a:endParaRPr lang="en-US" sz="125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51A45"/>
                </a:solidFill>
                <a:latin typeface="Cambria" pitchFamily="34" charset="0"/>
                <a:ea typeface="Cambria" pitchFamily="34" charset="-122"/>
                <a:cs typeface="Cambria" pitchFamily="34" charset="-120"/>
              </a:rPr>
              <a:t>Business Recommendations</a:t>
            </a:r>
            <a:endParaRPr lang="en-US" sz="3000" dirty="0"/>
          </a:p>
        </p:txBody>
      </p:sp>
      <p:sp>
        <p:nvSpPr>
          <p:cNvPr id="4" name="Shape 2"/>
          <p:cNvSpPr/>
          <p:nvPr/>
        </p:nvSpPr>
        <p:spPr>
          <a:xfrm>
            <a:off x="548640" y="1691640"/>
            <a:ext cx="5349240" cy="1965960"/>
          </a:xfrm>
          <a:prstGeom prst="roundRect">
            <a:avLst>
              <a:gd name="adj" fmla="val 4651"/>
            </a:avLst>
          </a:prstGeom>
          <a:solidFill>
            <a:srgbClr val="F4F6FB"/>
          </a:solidFill>
          <a:ln/>
        </p:spPr>
      </p:sp>
      <p:sp>
        <p:nvSpPr>
          <p:cNvPr id="5" name="Shape 3"/>
          <p:cNvSpPr/>
          <p:nvPr/>
        </p:nvSpPr>
        <p:spPr>
          <a:xfrm>
            <a:off x="822960" y="2258568"/>
            <a:ext cx="777240" cy="777240"/>
          </a:xfrm>
          <a:prstGeom prst="ellipse">
            <a:avLst/>
          </a:prstGeom>
          <a:solidFill>
            <a:srgbClr val="12B5A6"/>
          </a:solidFill>
          <a:ln/>
        </p:spPr>
      </p:sp>
      <p:pic>
        <p:nvPicPr>
          <p:cNvPr id="6" name="Image 0" descr="/home/claude/proj/icons/boxOpen.png"/>
          <p:cNvPicPr>
            <a:picLocks noChangeAspect="1"/>
          </p:cNvPicPr>
          <p:nvPr/>
        </p:nvPicPr>
        <p:blipFill>
          <a:blip r:embed="rId3"/>
          <a:stretch>
            <a:fillRect/>
          </a:stretch>
        </p:blipFill>
        <p:spPr>
          <a:xfrm>
            <a:off x="931774" y="2367382"/>
            <a:ext cx="559613" cy="559613"/>
          </a:xfrm>
          <a:prstGeom prst="rect">
            <a:avLst/>
          </a:prstGeom>
        </p:spPr>
      </p:pic>
      <p:sp>
        <p:nvSpPr>
          <p:cNvPr id="7" name="Text 4"/>
          <p:cNvSpPr/>
          <p:nvPr/>
        </p:nvSpPr>
        <p:spPr>
          <a:xfrm>
            <a:off x="1828800" y="1947672"/>
            <a:ext cx="3840480" cy="457200"/>
          </a:xfrm>
          <a:prstGeom prst="rect">
            <a:avLst/>
          </a:prstGeom>
          <a:noFill/>
          <a:ln/>
        </p:spPr>
        <p:txBody>
          <a:bodyPr wrap="square" rtlCol="0" anchor="ctr"/>
          <a:lstStyle/>
          <a:p>
            <a:pPr marL="0" indent="0">
              <a:buNone/>
            </a:pPr>
            <a:r>
              <a:rPr lang="en-US" sz="1500" b="1" dirty="0">
                <a:solidFill>
                  <a:srgbClr val="151A45"/>
                </a:solidFill>
                <a:latin typeface="Cambria" pitchFamily="34" charset="0"/>
                <a:ea typeface="Cambria" pitchFamily="34" charset="-122"/>
                <a:cs typeface="Cambria" pitchFamily="34" charset="-120"/>
              </a:rPr>
              <a:t>Expand High-Margin Categories</a:t>
            </a:r>
            <a:endParaRPr lang="en-US" sz="1500" dirty="0"/>
          </a:p>
        </p:txBody>
      </p:sp>
      <p:sp>
        <p:nvSpPr>
          <p:cNvPr id="8" name="Text 5"/>
          <p:cNvSpPr/>
          <p:nvPr/>
        </p:nvSpPr>
        <p:spPr>
          <a:xfrm>
            <a:off x="1828800" y="2423160"/>
            <a:ext cx="3840480" cy="1097280"/>
          </a:xfrm>
          <a:prstGeom prst="rect">
            <a:avLst/>
          </a:prstGeom>
          <a:noFill/>
          <a:ln/>
        </p:spPr>
        <p:txBody>
          <a:bodyPr wrap="square" rtlCol="0" anchor="ctr"/>
          <a:lstStyle/>
          <a:p>
            <a:pPr marL="0" indent="0">
              <a:lnSpc>
                <a:spcPct val="120000"/>
              </a:lnSpc>
              <a:buNone/>
            </a:pPr>
            <a:r>
              <a:rPr lang="en-US" sz="1150" dirty="0">
                <a:solidFill>
                  <a:srgbClr val="3A4266"/>
                </a:solidFill>
                <a:latin typeface="Calibri" pitchFamily="34" charset="0"/>
                <a:ea typeface="Calibri" pitchFamily="34" charset="-122"/>
                <a:cs typeface="Calibri" pitchFamily="34" charset="-120"/>
              </a:rPr>
              <a:t>Double down on Beauty &amp; Hygiene and Gourmet &amp; World Food, the top sales-value contributors.</a:t>
            </a:r>
            <a:endParaRPr lang="en-US" sz="1150" dirty="0"/>
          </a:p>
        </p:txBody>
      </p:sp>
      <p:sp>
        <p:nvSpPr>
          <p:cNvPr id="9" name="Shape 6"/>
          <p:cNvSpPr/>
          <p:nvPr/>
        </p:nvSpPr>
        <p:spPr>
          <a:xfrm>
            <a:off x="6263640" y="1691640"/>
            <a:ext cx="5349240" cy="1965960"/>
          </a:xfrm>
          <a:prstGeom prst="roundRect">
            <a:avLst>
              <a:gd name="adj" fmla="val 4651"/>
            </a:avLst>
          </a:prstGeom>
          <a:solidFill>
            <a:srgbClr val="F4F6FB"/>
          </a:solidFill>
          <a:ln/>
        </p:spPr>
      </p:sp>
      <p:sp>
        <p:nvSpPr>
          <p:cNvPr id="10" name="Shape 7"/>
          <p:cNvSpPr/>
          <p:nvPr/>
        </p:nvSpPr>
        <p:spPr>
          <a:xfrm>
            <a:off x="6537960" y="2258568"/>
            <a:ext cx="777240" cy="777240"/>
          </a:xfrm>
          <a:prstGeom prst="ellipse">
            <a:avLst/>
          </a:prstGeom>
          <a:solidFill>
            <a:srgbClr val="FF7A33"/>
          </a:solidFill>
          <a:ln/>
        </p:spPr>
      </p:sp>
      <p:pic>
        <p:nvPicPr>
          <p:cNvPr id="11" name="Image 1" descr="/home/claude/proj/icons/bullhorn.png"/>
          <p:cNvPicPr>
            <a:picLocks noChangeAspect="1"/>
          </p:cNvPicPr>
          <p:nvPr/>
        </p:nvPicPr>
        <p:blipFill>
          <a:blip r:embed="rId4"/>
          <a:stretch>
            <a:fillRect/>
          </a:stretch>
        </p:blipFill>
        <p:spPr>
          <a:xfrm>
            <a:off x="6646774" y="2367382"/>
            <a:ext cx="559613" cy="559613"/>
          </a:xfrm>
          <a:prstGeom prst="rect">
            <a:avLst/>
          </a:prstGeom>
        </p:spPr>
      </p:pic>
      <p:sp>
        <p:nvSpPr>
          <p:cNvPr id="12" name="Text 8"/>
          <p:cNvSpPr/>
          <p:nvPr/>
        </p:nvSpPr>
        <p:spPr>
          <a:xfrm>
            <a:off x="7543800" y="1947672"/>
            <a:ext cx="3840480" cy="457200"/>
          </a:xfrm>
          <a:prstGeom prst="rect">
            <a:avLst/>
          </a:prstGeom>
          <a:noFill/>
          <a:ln/>
        </p:spPr>
        <p:txBody>
          <a:bodyPr wrap="square" rtlCol="0" anchor="ctr"/>
          <a:lstStyle/>
          <a:p>
            <a:pPr marL="0" indent="0">
              <a:buNone/>
            </a:pPr>
            <a:r>
              <a:rPr lang="en-US" sz="1500" b="1" dirty="0">
                <a:solidFill>
                  <a:srgbClr val="151A45"/>
                </a:solidFill>
                <a:latin typeface="Cambria" pitchFamily="34" charset="0"/>
                <a:ea typeface="Cambria" pitchFamily="34" charset="-122"/>
                <a:cs typeface="Cambria" pitchFamily="34" charset="-120"/>
              </a:rPr>
              <a:t>Rethink Discount Messaging</a:t>
            </a:r>
            <a:endParaRPr lang="en-US" sz="1500" dirty="0"/>
          </a:p>
        </p:txBody>
      </p:sp>
      <p:sp>
        <p:nvSpPr>
          <p:cNvPr id="13" name="Text 9"/>
          <p:cNvSpPr/>
          <p:nvPr/>
        </p:nvSpPr>
        <p:spPr>
          <a:xfrm>
            <a:off x="7543800" y="2423160"/>
            <a:ext cx="3840480" cy="1097280"/>
          </a:xfrm>
          <a:prstGeom prst="rect">
            <a:avLst/>
          </a:prstGeom>
          <a:noFill/>
          <a:ln/>
        </p:spPr>
        <p:txBody>
          <a:bodyPr wrap="square" rtlCol="0" anchor="ctr"/>
          <a:lstStyle/>
          <a:p>
            <a:pPr marL="0" indent="0">
              <a:lnSpc>
                <a:spcPct val="120000"/>
              </a:lnSpc>
              <a:buNone/>
            </a:pPr>
            <a:r>
              <a:rPr lang="en-US" sz="1150" dirty="0">
                <a:solidFill>
                  <a:srgbClr val="3A4266"/>
                </a:solidFill>
                <a:latin typeface="Calibri" pitchFamily="34" charset="0"/>
                <a:ea typeface="Calibri" pitchFamily="34" charset="-122"/>
                <a:cs typeface="Calibri" pitchFamily="34" charset="-120"/>
              </a:rPr>
              <a:t>Since discount % barely predicts final price, promote absolute savings (₹) alongside % off for clarity.</a:t>
            </a:r>
            <a:endParaRPr lang="en-US" sz="1150" dirty="0"/>
          </a:p>
        </p:txBody>
      </p:sp>
      <p:sp>
        <p:nvSpPr>
          <p:cNvPr id="14" name="Shape 10"/>
          <p:cNvSpPr/>
          <p:nvPr/>
        </p:nvSpPr>
        <p:spPr>
          <a:xfrm>
            <a:off x="548640" y="3931920"/>
            <a:ext cx="5349240" cy="1965960"/>
          </a:xfrm>
          <a:prstGeom prst="roundRect">
            <a:avLst>
              <a:gd name="adj" fmla="val 4651"/>
            </a:avLst>
          </a:prstGeom>
          <a:solidFill>
            <a:srgbClr val="F4F6FB"/>
          </a:solidFill>
          <a:ln/>
        </p:spPr>
      </p:sp>
      <p:sp>
        <p:nvSpPr>
          <p:cNvPr id="15" name="Shape 11"/>
          <p:cNvSpPr/>
          <p:nvPr/>
        </p:nvSpPr>
        <p:spPr>
          <a:xfrm>
            <a:off x="822960" y="4498848"/>
            <a:ext cx="777240" cy="777240"/>
          </a:xfrm>
          <a:prstGeom prst="ellipse">
            <a:avLst/>
          </a:prstGeom>
          <a:solidFill>
            <a:srgbClr val="7B2FF7"/>
          </a:solidFill>
          <a:ln/>
        </p:spPr>
      </p:sp>
      <p:pic>
        <p:nvPicPr>
          <p:cNvPr id="16" name="Image 2" descr="/home/claude/proj/icons/cogs.png"/>
          <p:cNvPicPr>
            <a:picLocks noChangeAspect="1"/>
          </p:cNvPicPr>
          <p:nvPr/>
        </p:nvPicPr>
        <p:blipFill>
          <a:blip r:embed="rId5"/>
          <a:stretch>
            <a:fillRect/>
          </a:stretch>
        </p:blipFill>
        <p:spPr>
          <a:xfrm>
            <a:off x="931774" y="4607662"/>
            <a:ext cx="559613" cy="559613"/>
          </a:xfrm>
          <a:prstGeom prst="rect">
            <a:avLst/>
          </a:prstGeom>
        </p:spPr>
      </p:pic>
      <p:sp>
        <p:nvSpPr>
          <p:cNvPr id="17" name="Text 12"/>
          <p:cNvSpPr/>
          <p:nvPr/>
        </p:nvSpPr>
        <p:spPr>
          <a:xfrm>
            <a:off x="1828800" y="4187952"/>
            <a:ext cx="3840480" cy="457200"/>
          </a:xfrm>
          <a:prstGeom prst="rect">
            <a:avLst/>
          </a:prstGeom>
          <a:noFill/>
          <a:ln/>
        </p:spPr>
        <p:txBody>
          <a:bodyPr wrap="square" rtlCol="0" anchor="ctr"/>
          <a:lstStyle/>
          <a:p>
            <a:pPr marL="0" indent="0">
              <a:buNone/>
            </a:pPr>
            <a:r>
              <a:rPr lang="en-US" sz="1500" b="1" dirty="0">
                <a:solidFill>
                  <a:srgbClr val="151A45"/>
                </a:solidFill>
                <a:latin typeface="Cambria" pitchFamily="34" charset="0"/>
                <a:ea typeface="Cambria" pitchFamily="34" charset="-122"/>
                <a:cs typeface="Cambria" pitchFamily="34" charset="-120"/>
              </a:rPr>
              <a:t>Benchmark Against Zepto</a:t>
            </a:r>
            <a:endParaRPr lang="en-US" sz="1500" dirty="0"/>
          </a:p>
        </p:txBody>
      </p:sp>
      <p:sp>
        <p:nvSpPr>
          <p:cNvPr id="18" name="Text 13"/>
          <p:cNvSpPr/>
          <p:nvPr/>
        </p:nvSpPr>
        <p:spPr>
          <a:xfrm>
            <a:off x="1828800" y="4663440"/>
            <a:ext cx="3840480" cy="1097280"/>
          </a:xfrm>
          <a:prstGeom prst="rect">
            <a:avLst/>
          </a:prstGeom>
          <a:noFill/>
          <a:ln/>
        </p:spPr>
        <p:txBody>
          <a:bodyPr wrap="square" rtlCol="0" anchor="ctr"/>
          <a:lstStyle/>
          <a:p>
            <a:pPr marL="0" indent="0">
              <a:lnSpc>
                <a:spcPct val="120000"/>
              </a:lnSpc>
              <a:buNone/>
            </a:pPr>
            <a:r>
              <a:rPr lang="en-US" sz="1150" dirty="0">
                <a:solidFill>
                  <a:srgbClr val="3A4266"/>
                </a:solidFill>
                <a:latin typeface="Calibri" pitchFamily="34" charset="0"/>
                <a:ea typeface="Calibri" pitchFamily="34" charset="-122"/>
                <a:cs typeface="Calibri" pitchFamily="34" charset="-120"/>
              </a:rPr>
              <a:t>Use Zepto's price-to-rating ratio as the internal benchmark for competitive positioning.</a:t>
            </a:r>
            <a:endParaRPr lang="en-US" sz="1150" dirty="0"/>
          </a:p>
        </p:txBody>
      </p:sp>
      <p:sp>
        <p:nvSpPr>
          <p:cNvPr id="19" name="Shape 14"/>
          <p:cNvSpPr/>
          <p:nvPr/>
        </p:nvSpPr>
        <p:spPr>
          <a:xfrm>
            <a:off x="6263640" y="3931920"/>
            <a:ext cx="5349240" cy="1965960"/>
          </a:xfrm>
          <a:prstGeom prst="roundRect">
            <a:avLst>
              <a:gd name="adj" fmla="val 4651"/>
            </a:avLst>
          </a:prstGeom>
          <a:solidFill>
            <a:srgbClr val="F4F6FB"/>
          </a:solidFill>
          <a:ln/>
        </p:spPr>
      </p:sp>
      <p:sp>
        <p:nvSpPr>
          <p:cNvPr id="20" name="Shape 15"/>
          <p:cNvSpPr/>
          <p:nvPr/>
        </p:nvSpPr>
        <p:spPr>
          <a:xfrm>
            <a:off x="6537960" y="4498848"/>
            <a:ext cx="777240" cy="777240"/>
          </a:xfrm>
          <a:prstGeom prst="ellipse">
            <a:avLst/>
          </a:prstGeom>
          <a:solidFill>
            <a:srgbClr val="17C3E6"/>
          </a:solidFill>
          <a:ln/>
        </p:spPr>
      </p:sp>
      <p:pic>
        <p:nvPicPr>
          <p:cNvPr id="21" name="Image 3" descr="/home/claude/proj/icons/rocket.png"/>
          <p:cNvPicPr>
            <a:picLocks noChangeAspect="1"/>
          </p:cNvPicPr>
          <p:nvPr/>
        </p:nvPicPr>
        <p:blipFill>
          <a:blip r:embed="rId6"/>
          <a:stretch>
            <a:fillRect/>
          </a:stretch>
        </p:blipFill>
        <p:spPr>
          <a:xfrm>
            <a:off x="6646774" y="4607662"/>
            <a:ext cx="559613" cy="559613"/>
          </a:xfrm>
          <a:prstGeom prst="rect">
            <a:avLst/>
          </a:prstGeom>
        </p:spPr>
      </p:pic>
      <p:sp>
        <p:nvSpPr>
          <p:cNvPr id="22" name="Text 16"/>
          <p:cNvSpPr/>
          <p:nvPr/>
        </p:nvSpPr>
        <p:spPr>
          <a:xfrm>
            <a:off x="7543800" y="4187952"/>
            <a:ext cx="3840480" cy="457200"/>
          </a:xfrm>
          <a:prstGeom prst="rect">
            <a:avLst/>
          </a:prstGeom>
          <a:noFill/>
          <a:ln/>
        </p:spPr>
        <p:txBody>
          <a:bodyPr wrap="square" rtlCol="0" anchor="ctr"/>
          <a:lstStyle/>
          <a:p>
            <a:pPr marL="0" indent="0">
              <a:buNone/>
            </a:pPr>
            <a:r>
              <a:rPr lang="en-US" sz="1500" b="1" dirty="0">
                <a:solidFill>
                  <a:srgbClr val="151A45"/>
                </a:solidFill>
                <a:latin typeface="Cambria" pitchFamily="34" charset="0"/>
                <a:ea typeface="Cambria" pitchFamily="34" charset="-122"/>
                <a:cs typeface="Cambria" pitchFamily="34" charset="-120"/>
              </a:rPr>
              <a:t>Platform-Specific Pricing</a:t>
            </a:r>
            <a:endParaRPr lang="en-US" sz="1500" dirty="0"/>
          </a:p>
        </p:txBody>
      </p:sp>
      <p:sp>
        <p:nvSpPr>
          <p:cNvPr id="23" name="Text 17"/>
          <p:cNvSpPr/>
          <p:nvPr/>
        </p:nvSpPr>
        <p:spPr>
          <a:xfrm>
            <a:off x="7543800" y="4663440"/>
            <a:ext cx="3840480" cy="1097280"/>
          </a:xfrm>
          <a:prstGeom prst="rect">
            <a:avLst/>
          </a:prstGeom>
          <a:noFill/>
          <a:ln/>
        </p:spPr>
        <p:txBody>
          <a:bodyPr wrap="square" rtlCol="0" anchor="ctr"/>
          <a:lstStyle/>
          <a:p>
            <a:pPr marL="0" indent="0">
              <a:lnSpc>
                <a:spcPct val="120000"/>
              </a:lnSpc>
              <a:buNone/>
            </a:pPr>
            <a:r>
              <a:rPr lang="en-US" sz="1150" dirty="0">
                <a:solidFill>
                  <a:srgbClr val="3A4266"/>
                </a:solidFill>
                <a:latin typeface="Calibri" pitchFamily="34" charset="0"/>
                <a:ea typeface="Calibri" pitchFamily="34" charset="-122"/>
                <a:cs typeface="Calibri" pitchFamily="34" charset="-120"/>
              </a:rPr>
              <a:t>Tailor pricing tiers per platform — BigBasket for range, Blinkit/Zepto for speed-driven premiums.</a:t>
            </a:r>
            <a:endParaRPr lang="en-US" sz="1150" dirty="0"/>
          </a:p>
        </p:txBody>
      </p:sp>
      <p:sp>
        <p:nvSpPr>
          <p:cNvPr id="24" name="Text 18"/>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892B0"/>
                </a:solidFill>
                <a:latin typeface="Calibri" pitchFamily="34" charset="0"/>
                <a:ea typeface="Calibri" pitchFamily="34" charset="-122"/>
                <a:cs typeface="Calibri" pitchFamily="34" charset="-120"/>
              </a:rPr>
              <a:t>17</a:t>
            </a:r>
            <a:endParaRPr lang="en-US" sz="900" dirty="0"/>
          </a:p>
        </p:txBody>
      </p:sp>
      <p:sp>
        <p:nvSpPr>
          <p:cNvPr id="25" name="Text 19"/>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SmartBasket Analysis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51A45"/>
        </a:solidFill>
        <a:effectLst/>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1E2761"/>
          </a:solidFill>
          <a:ln/>
        </p:spPr>
      </p:sp>
      <p:sp>
        <p:nvSpPr>
          <p:cNvPr id="3" name="Text 1"/>
          <p:cNvSpPr/>
          <p:nvPr/>
        </p:nvSpPr>
        <p:spPr>
          <a:xfrm>
            <a:off x="548640" y="384048"/>
            <a:ext cx="5486400" cy="320040"/>
          </a:xfrm>
          <a:prstGeom prst="rect">
            <a:avLst/>
          </a:prstGeom>
          <a:noFill/>
          <a:ln/>
        </p:spPr>
        <p:txBody>
          <a:bodyPr wrap="square" rtlCol="0" anchor="ctr"/>
          <a:lstStyle/>
          <a:p>
            <a:pPr marL="0" indent="0">
              <a:buNone/>
            </a:pPr>
            <a:r>
              <a:rPr lang="en-US" sz="1250" b="1" kern="0" spc="200" dirty="0">
                <a:solidFill>
                  <a:srgbClr val="17C3E6"/>
                </a:solidFill>
                <a:latin typeface="Calibri" pitchFamily="34" charset="0"/>
                <a:ea typeface="Calibri" pitchFamily="34" charset="-122"/>
                <a:cs typeface="Calibri" pitchFamily="34" charset="-120"/>
              </a:rPr>
              <a:t>SLIDE 19</a:t>
            </a:r>
            <a:endParaRPr lang="en-US" sz="1250" dirty="0"/>
          </a:p>
        </p:txBody>
      </p:sp>
      <p:sp>
        <p:nvSpPr>
          <p:cNvPr id="4" name="Text 2"/>
          <p:cNvSpPr/>
          <p:nvPr/>
        </p:nvSpPr>
        <p:spPr>
          <a:xfrm>
            <a:off x="548640" y="658368"/>
            <a:ext cx="1005840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Future Scope</a:t>
            </a:r>
            <a:endParaRPr lang="en-US" sz="3000" dirty="0"/>
          </a:p>
        </p:txBody>
      </p:sp>
      <p:sp>
        <p:nvSpPr>
          <p:cNvPr id="5" name="Shape 3"/>
          <p:cNvSpPr/>
          <p:nvPr/>
        </p:nvSpPr>
        <p:spPr>
          <a:xfrm>
            <a:off x="480060" y="2011680"/>
            <a:ext cx="2011680" cy="2743200"/>
          </a:xfrm>
          <a:prstGeom prst="roundRect">
            <a:avLst>
              <a:gd name="adj" fmla="val 5455"/>
            </a:avLst>
          </a:prstGeom>
          <a:solidFill>
            <a:srgbClr val="1E2761"/>
          </a:solidFill>
          <a:ln/>
        </p:spPr>
      </p:sp>
      <p:sp>
        <p:nvSpPr>
          <p:cNvPr id="6" name="Shape 4"/>
          <p:cNvSpPr/>
          <p:nvPr/>
        </p:nvSpPr>
        <p:spPr>
          <a:xfrm>
            <a:off x="1051560" y="2377440"/>
            <a:ext cx="868680" cy="868680"/>
          </a:xfrm>
          <a:prstGeom prst="ellipse">
            <a:avLst/>
          </a:prstGeom>
          <a:solidFill>
            <a:srgbClr val="12B5A6"/>
          </a:solidFill>
          <a:ln/>
        </p:spPr>
      </p:sp>
      <p:pic>
        <p:nvPicPr>
          <p:cNvPr id="7" name="Image 0" descr="/home/claude/proj/icons/robot.png"/>
          <p:cNvPicPr>
            <a:picLocks noChangeAspect="1"/>
          </p:cNvPicPr>
          <p:nvPr/>
        </p:nvPicPr>
        <p:blipFill>
          <a:blip r:embed="rId3"/>
          <a:stretch>
            <a:fillRect/>
          </a:stretch>
        </p:blipFill>
        <p:spPr>
          <a:xfrm>
            <a:off x="1173175" y="2499055"/>
            <a:ext cx="625450" cy="625450"/>
          </a:xfrm>
          <a:prstGeom prst="rect">
            <a:avLst/>
          </a:prstGeom>
        </p:spPr>
      </p:pic>
      <p:sp>
        <p:nvSpPr>
          <p:cNvPr id="8" name="Text 5"/>
          <p:cNvSpPr/>
          <p:nvPr/>
        </p:nvSpPr>
        <p:spPr>
          <a:xfrm>
            <a:off x="617220" y="3474720"/>
            <a:ext cx="1737360" cy="1097280"/>
          </a:xfrm>
          <a:prstGeom prst="rect">
            <a:avLst/>
          </a:prstGeom>
          <a:noFill/>
          <a:ln/>
        </p:spPr>
        <p:txBody>
          <a:bodyPr wrap="square" rtlCol="0" anchor="ctr"/>
          <a:lstStyle/>
          <a:p>
            <a:pPr marL="0" indent="0" algn="ctr">
              <a:lnSpc>
                <a:spcPct val="115000"/>
              </a:lnSpc>
              <a:buNone/>
            </a:pPr>
            <a:r>
              <a:rPr lang="en-US" sz="1250" b="1" dirty="0">
                <a:solidFill>
                  <a:srgbClr val="FFFFFF"/>
                </a:solidFill>
                <a:latin typeface="Calibri" pitchFamily="34" charset="0"/>
                <a:ea typeface="Calibri" pitchFamily="34" charset="-122"/>
                <a:cs typeface="Calibri" pitchFamily="34" charset="-120"/>
              </a:rPr>
              <a:t>AI Recommendation Engine</a:t>
            </a:r>
            <a:endParaRPr lang="en-US" sz="1250" dirty="0"/>
          </a:p>
        </p:txBody>
      </p:sp>
      <p:sp>
        <p:nvSpPr>
          <p:cNvPr id="9" name="Shape 6"/>
          <p:cNvSpPr/>
          <p:nvPr/>
        </p:nvSpPr>
        <p:spPr>
          <a:xfrm>
            <a:off x="2784348" y="2011680"/>
            <a:ext cx="2011680" cy="2743200"/>
          </a:xfrm>
          <a:prstGeom prst="roundRect">
            <a:avLst>
              <a:gd name="adj" fmla="val 5455"/>
            </a:avLst>
          </a:prstGeom>
          <a:solidFill>
            <a:srgbClr val="1E2761"/>
          </a:solidFill>
          <a:ln/>
        </p:spPr>
      </p:sp>
      <p:sp>
        <p:nvSpPr>
          <p:cNvPr id="10" name="Shape 7"/>
          <p:cNvSpPr/>
          <p:nvPr/>
        </p:nvSpPr>
        <p:spPr>
          <a:xfrm>
            <a:off x="3355848" y="2377440"/>
            <a:ext cx="868680" cy="868680"/>
          </a:xfrm>
          <a:prstGeom prst="ellipse">
            <a:avLst/>
          </a:prstGeom>
          <a:solidFill>
            <a:srgbClr val="FF7A33"/>
          </a:solidFill>
          <a:ln/>
        </p:spPr>
      </p:sp>
      <p:pic>
        <p:nvPicPr>
          <p:cNvPr id="11" name="Image 1" descr="/home/claude/proj/icons/brain.png"/>
          <p:cNvPicPr>
            <a:picLocks noChangeAspect="1"/>
          </p:cNvPicPr>
          <p:nvPr/>
        </p:nvPicPr>
        <p:blipFill>
          <a:blip r:embed="rId4"/>
          <a:stretch>
            <a:fillRect/>
          </a:stretch>
        </p:blipFill>
        <p:spPr>
          <a:xfrm>
            <a:off x="3477463" y="2499055"/>
            <a:ext cx="625450" cy="625450"/>
          </a:xfrm>
          <a:prstGeom prst="rect">
            <a:avLst/>
          </a:prstGeom>
        </p:spPr>
      </p:pic>
      <p:sp>
        <p:nvSpPr>
          <p:cNvPr id="12" name="Text 8"/>
          <p:cNvSpPr/>
          <p:nvPr/>
        </p:nvSpPr>
        <p:spPr>
          <a:xfrm>
            <a:off x="2921508" y="3474720"/>
            <a:ext cx="1737360" cy="1097280"/>
          </a:xfrm>
          <a:prstGeom prst="rect">
            <a:avLst/>
          </a:prstGeom>
          <a:noFill/>
          <a:ln/>
        </p:spPr>
        <p:txBody>
          <a:bodyPr wrap="square" rtlCol="0" anchor="ctr"/>
          <a:lstStyle/>
          <a:p>
            <a:pPr marL="0" indent="0" algn="ctr">
              <a:lnSpc>
                <a:spcPct val="115000"/>
              </a:lnSpc>
              <a:buNone/>
            </a:pPr>
            <a:r>
              <a:rPr lang="en-US" sz="1250" b="1" dirty="0">
                <a:solidFill>
                  <a:srgbClr val="FFFFFF"/>
                </a:solidFill>
                <a:latin typeface="Calibri" pitchFamily="34" charset="0"/>
                <a:ea typeface="Calibri" pitchFamily="34" charset="-122"/>
                <a:cs typeface="Calibri" pitchFamily="34" charset="-120"/>
              </a:rPr>
              <a:t>Price Prediction Models</a:t>
            </a:r>
            <a:endParaRPr lang="en-US" sz="1250" dirty="0"/>
          </a:p>
        </p:txBody>
      </p:sp>
      <p:sp>
        <p:nvSpPr>
          <p:cNvPr id="13" name="Shape 9"/>
          <p:cNvSpPr/>
          <p:nvPr/>
        </p:nvSpPr>
        <p:spPr>
          <a:xfrm>
            <a:off x="5088636" y="2011680"/>
            <a:ext cx="2011680" cy="2743200"/>
          </a:xfrm>
          <a:prstGeom prst="roundRect">
            <a:avLst>
              <a:gd name="adj" fmla="val 5455"/>
            </a:avLst>
          </a:prstGeom>
          <a:solidFill>
            <a:srgbClr val="1E2761"/>
          </a:solidFill>
          <a:ln/>
        </p:spPr>
      </p:sp>
      <p:sp>
        <p:nvSpPr>
          <p:cNvPr id="14" name="Shape 10"/>
          <p:cNvSpPr/>
          <p:nvPr/>
        </p:nvSpPr>
        <p:spPr>
          <a:xfrm>
            <a:off x="5660136" y="2377440"/>
            <a:ext cx="868680" cy="868680"/>
          </a:xfrm>
          <a:prstGeom prst="ellipse">
            <a:avLst/>
          </a:prstGeom>
          <a:solidFill>
            <a:srgbClr val="7B2FF7"/>
          </a:solidFill>
          <a:ln/>
        </p:spPr>
      </p:sp>
      <p:pic>
        <p:nvPicPr>
          <p:cNvPr id="15" name="Image 2" descr="/home/claude/proj/icons/userCog.png"/>
          <p:cNvPicPr>
            <a:picLocks noChangeAspect="1"/>
          </p:cNvPicPr>
          <p:nvPr/>
        </p:nvPicPr>
        <p:blipFill>
          <a:blip r:embed="rId5"/>
          <a:stretch>
            <a:fillRect/>
          </a:stretch>
        </p:blipFill>
        <p:spPr>
          <a:xfrm>
            <a:off x="5781751" y="2499055"/>
            <a:ext cx="625450" cy="625450"/>
          </a:xfrm>
          <a:prstGeom prst="rect">
            <a:avLst/>
          </a:prstGeom>
        </p:spPr>
      </p:pic>
      <p:sp>
        <p:nvSpPr>
          <p:cNvPr id="16" name="Text 11"/>
          <p:cNvSpPr/>
          <p:nvPr/>
        </p:nvSpPr>
        <p:spPr>
          <a:xfrm>
            <a:off x="5225796" y="3474720"/>
            <a:ext cx="1737360" cy="1097280"/>
          </a:xfrm>
          <a:prstGeom prst="rect">
            <a:avLst/>
          </a:prstGeom>
          <a:noFill/>
          <a:ln/>
        </p:spPr>
        <p:txBody>
          <a:bodyPr wrap="square" rtlCol="0" anchor="ctr"/>
          <a:lstStyle/>
          <a:p>
            <a:pPr marL="0" indent="0" algn="ctr">
              <a:lnSpc>
                <a:spcPct val="115000"/>
              </a:lnSpc>
              <a:buNone/>
            </a:pPr>
            <a:r>
              <a:rPr lang="en-US" sz="1250" b="1" dirty="0">
                <a:solidFill>
                  <a:srgbClr val="FFFFFF"/>
                </a:solidFill>
                <a:latin typeface="Calibri" pitchFamily="34" charset="0"/>
                <a:ea typeface="Calibri" pitchFamily="34" charset="-122"/>
                <a:cs typeface="Calibri" pitchFamily="34" charset="-120"/>
              </a:rPr>
              <a:t>Customer Personalization</a:t>
            </a:r>
            <a:endParaRPr lang="en-US" sz="1250" dirty="0"/>
          </a:p>
        </p:txBody>
      </p:sp>
      <p:sp>
        <p:nvSpPr>
          <p:cNvPr id="17" name="Shape 12"/>
          <p:cNvSpPr/>
          <p:nvPr/>
        </p:nvSpPr>
        <p:spPr>
          <a:xfrm>
            <a:off x="7392924" y="2011680"/>
            <a:ext cx="2011680" cy="2743200"/>
          </a:xfrm>
          <a:prstGeom prst="roundRect">
            <a:avLst>
              <a:gd name="adj" fmla="val 5455"/>
            </a:avLst>
          </a:prstGeom>
          <a:solidFill>
            <a:srgbClr val="1E2761"/>
          </a:solidFill>
          <a:ln/>
        </p:spPr>
      </p:sp>
      <p:sp>
        <p:nvSpPr>
          <p:cNvPr id="18" name="Shape 13"/>
          <p:cNvSpPr/>
          <p:nvPr/>
        </p:nvSpPr>
        <p:spPr>
          <a:xfrm>
            <a:off x="7964424" y="2377440"/>
            <a:ext cx="868680" cy="868680"/>
          </a:xfrm>
          <a:prstGeom prst="ellipse">
            <a:avLst/>
          </a:prstGeom>
          <a:solidFill>
            <a:srgbClr val="17C3E6"/>
          </a:solidFill>
          <a:ln/>
        </p:spPr>
      </p:sp>
      <p:pic>
        <p:nvPicPr>
          <p:cNvPr id="19" name="Image 3" descr="/home/claude/proj/icons/tachometer.png"/>
          <p:cNvPicPr>
            <a:picLocks noChangeAspect="1"/>
          </p:cNvPicPr>
          <p:nvPr/>
        </p:nvPicPr>
        <p:blipFill>
          <a:blip r:embed="rId6"/>
          <a:stretch>
            <a:fillRect/>
          </a:stretch>
        </p:blipFill>
        <p:spPr>
          <a:xfrm>
            <a:off x="8086039" y="2499055"/>
            <a:ext cx="625450" cy="625450"/>
          </a:xfrm>
          <a:prstGeom prst="rect">
            <a:avLst/>
          </a:prstGeom>
        </p:spPr>
      </p:pic>
      <p:sp>
        <p:nvSpPr>
          <p:cNvPr id="20" name="Text 14"/>
          <p:cNvSpPr/>
          <p:nvPr/>
        </p:nvSpPr>
        <p:spPr>
          <a:xfrm>
            <a:off x="7530084" y="3474720"/>
            <a:ext cx="1737360" cy="1097280"/>
          </a:xfrm>
          <a:prstGeom prst="rect">
            <a:avLst/>
          </a:prstGeom>
          <a:noFill/>
          <a:ln/>
        </p:spPr>
        <p:txBody>
          <a:bodyPr wrap="square" rtlCol="0" anchor="ctr"/>
          <a:lstStyle/>
          <a:p>
            <a:pPr marL="0" indent="0" algn="ctr">
              <a:lnSpc>
                <a:spcPct val="115000"/>
              </a:lnSpc>
              <a:buNone/>
            </a:pPr>
            <a:r>
              <a:rPr lang="en-US" sz="1250" b="1" dirty="0">
                <a:solidFill>
                  <a:srgbClr val="FFFFFF"/>
                </a:solidFill>
                <a:latin typeface="Calibri" pitchFamily="34" charset="0"/>
                <a:ea typeface="Calibri" pitchFamily="34" charset="-122"/>
                <a:cs typeface="Calibri" pitchFamily="34" charset="-120"/>
              </a:rPr>
              <a:t>Real-Time Dashboard</a:t>
            </a:r>
            <a:endParaRPr lang="en-US" sz="1250" dirty="0"/>
          </a:p>
        </p:txBody>
      </p:sp>
      <p:sp>
        <p:nvSpPr>
          <p:cNvPr id="21" name="Shape 15"/>
          <p:cNvSpPr/>
          <p:nvPr/>
        </p:nvSpPr>
        <p:spPr>
          <a:xfrm>
            <a:off x="9697212" y="2011680"/>
            <a:ext cx="2011680" cy="2743200"/>
          </a:xfrm>
          <a:prstGeom prst="roundRect">
            <a:avLst>
              <a:gd name="adj" fmla="val 5455"/>
            </a:avLst>
          </a:prstGeom>
          <a:solidFill>
            <a:srgbClr val="1E2761"/>
          </a:solidFill>
          <a:ln/>
        </p:spPr>
      </p:sp>
      <p:sp>
        <p:nvSpPr>
          <p:cNvPr id="22" name="Shape 16"/>
          <p:cNvSpPr/>
          <p:nvPr/>
        </p:nvSpPr>
        <p:spPr>
          <a:xfrm>
            <a:off x="10268712" y="2377440"/>
            <a:ext cx="868680" cy="868680"/>
          </a:xfrm>
          <a:prstGeom prst="ellipse">
            <a:avLst/>
          </a:prstGeom>
          <a:solidFill>
            <a:srgbClr val="12B5A6"/>
          </a:solidFill>
          <a:ln/>
        </p:spPr>
      </p:sp>
      <p:pic>
        <p:nvPicPr>
          <p:cNvPr id="23" name="Image 4" descr="/home/claude/proj/icons/calendarAlt.png"/>
          <p:cNvPicPr>
            <a:picLocks noChangeAspect="1"/>
          </p:cNvPicPr>
          <p:nvPr/>
        </p:nvPicPr>
        <p:blipFill>
          <a:blip r:embed="rId7"/>
          <a:stretch>
            <a:fillRect/>
          </a:stretch>
        </p:blipFill>
        <p:spPr>
          <a:xfrm>
            <a:off x="10390327" y="2499055"/>
            <a:ext cx="625450" cy="625450"/>
          </a:xfrm>
          <a:prstGeom prst="rect">
            <a:avLst/>
          </a:prstGeom>
        </p:spPr>
      </p:pic>
      <p:sp>
        <p:nvSpPr>
          <p:cNvPr id="24" name="Text 17"/>
          <p:cNvSpPr/>
          <p:nvPr/>
        </p:nvSpPr>
        <p:spPr>
          <a:xfrm>
            <a:off x="9834372" y="3474720"/>
            <a:ext cx="1737360" cy="1097280"/>
          </a:xfrm>
          <a:prstGeom prst="rect">
            <a:avLst/>
          </a:prstGeom>
          <a:noFill/>
          <a:ln/>
        </p:spPr>
        <p:txBody>
          <a:bodyPr wrap="square" rtlCol="0" anchor="ctr"/>
          <a:lstStyle/>
          <a:p>
            <a:pPr marL="0" indent="0" algn="ctr">
              <a:lnSpc>
                <a:spcPct val="115000"/>
              </a:lnSpc>
              <a:buNone/>
            </a:pPr>
            <a:r>
              <a:rPr lang="en-US" sz="1250" b="1" dirty="0">
                <a:solidFill>
                  <a:srgbClr val="FFFFFF"/>
                </a:solidFill>
                <a:latin typeface="Calibri" pitchFamily="34" charset="0"/>
                <a:ea typeface="Calibri" pitchFamily="34" charset="-122"/>
                <a:cs typeface="Calibri" pitchFamily="34" charset="-120"/>
              </a:rPr>
              <a:t>Demand Forecasting</a:t>
            </a:r>
            <a:endParaRPr lang="en-US" sz="1250" dirty="0"/>
          </a:p>
        </p:txBody>
      </p:sp>
      <p:sp>
        <p:nvSpPr>
          <p:cNvPr id="25" name="Text 18"/>
          <p:cNvSpPr/>
          <p:nvPr/>
        </p:nvSpPr>
        <p:spPr>
          <a:xfrm>
            <a:off x="914400" y="5212080"/>
            <a:ext cx="10332720" cy="548640"/>
          </a:xfrm>
          <a:prstGeom prst="rect">
            <a:avLst/>
          </a:prstGeom>
          <a:noFill/>
          <a:ln/>
        </p:spPr>
        <p:txBody>
          <a:bodyPr wrap="square" rtlCol="0" anchor="ctr"/>
          <a:lstStyle/>
          <a:p>
            <a:pPr marL="0" indent="0" algn="ctr">
              <a:buNone/>
            </a:pPr>
            <a:r>
              <a:rPr lang="en-US" sz="1250" i="1" dirty="0">
                <a:solidFill>
                  <a:srgbClr val="C6CCEA"/>
                </a:solidFill>
                <a:latin typeface="Calibri" pitchFamily="34" charset="0"/>
                <a:ea typeface="Calibri" pitchFamily="34" charset="-122"/>
                <a:cs typeface="Calibri" pitchFamily="34" charset="-120"/>
              </a:rPr>
              <a:t>These extensions would turn a descriptive analysis into a predictive, personalized shopping-intelligence platform.</a:t>
            </a:r>
            <a:endParaRPr lang="en-US" sz="1250" dirty="0"/>
          </a:p>
        </p:txBody>
      </p:sp>
      <p:sp>
        <p:nvSpPr>
          <p:cNvPr id="26" name="Text 19"/>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892B0"/>
                </a:solidFill>
                <a:latin typeface="Calibri" pitchFamily="34" charset="0"/>
                <a:ea typeface="Calibri" pitchFamily="34" charset="-122"/>
                <a:cs typeface="Calibri" pitchFamily="34" charset="-120"/>
              </a:rPr>
              <a:t>18</a:t>
            </a:r>
            <a:endParaRPr lang="en-US" sz="900" dirty="0"/>
          </a:p>
        </p:txBody>
      </p:sp>
      <p:sp>
        <p:nvSpPr>
          <p:cNvPr id="27" name="Text 20"/>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SmartBasket Analysis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51A45"/>
        </a:solidFill>
        <a:effectLst/>
      </p:bgPr>
    </p:bg>
    <p:spTree>
      <p:nvGrpSpPr>
        <p:cNvPr id="1" name=""/>
        <p:cNvGrpSpPr/>
        <p:nvPr/>
      </p:nvGrpSpPr>
      <p:grpSpPr>
        <a:xfrm>
          <a:off x="0" y="0"/>
          <a:ext cx="0" cy="0"/>
          <a:chOff x="0" y="0"/>
          <a:chExt cx="0" cy="0"/>
        </a:xfrm>
      </p:grpSpPr>
      <p:sp>
        <p:nvSpPr>
          <p:cNvPr id="2" name="Shape 0"/>
          <p:cNvSpPr/>
          <p:nvPr/>
        </p:nvSpPr>
        <p:spPr>
          <a:xfrm>
            <a:off x="8686800" y="-2011680"/>
            <a:ext cx="5486400" cy="5486400"/>
          </a:xfrm>
          <a:prstGeom prst="ellipse">
            <a:avLst/>
          </a:prstGeom>
          <a:solidFill>
            <a:srgbClr val="1E2761"/>
          </a:solidFill>
          <a:ln/>
        </p:spPr>
      </p:sp>
      <p:sp>
        <p:nvSpPr>
          <p:cNvPr id="3" name="Shape 1"/>
          <p:cNvSpPr/>
          <p:nvPr/>
        </p:nvSpPr>
        <p:spPr>
          <a:xfrm>
            <a:off x="-1828800" y="4206240"/>
            <a:ext cx="4572000" cy="4572000"/>
          </a:xfrm>
          <a:prstGeom prst="ellipse">
            <a:avLst/>
          </a:prstGeom>
          <a:solidFill>
            <a:srgbClr val="1E2761"/>
          </a:solidFill>
          <a:ln/>
        </p:spPr>
      </p:sp>
      <p:sp>
        <p:nvSpPr>
          <p:cNvPr id="4" name="Shape 2"/>
          <p:cNvSpPr/>
          <p:nvPr/>
        </p:nvSpPr>
        <p:spPr>
          <a:xfrm>
            <a:off x="822960" y="640080"/>
            <a:ext cx="777240" cy="777240"/>
          </a:xfrm>
          <a:prstGeom prst="ellipse">
            <a:avLst/>
          </a:prstGeom>
          <a:solidFill>
            <a:srgbClr val="12B5A6"/>
          </a:solidFill>
          <a:ln/>
        </p:spPr>
      </p:sp>
      <p:pic>
        <p:nvPicPr>
          <p:cNvPr id="5" name="Image 0" descr="/home/claude/proj/icons/checkDouble.png"/>
          <p:cNvPicPr>
            <a:picLocks noChangeAspect="1"/>
          </p:cNvPicPr>
          <p:nvPr/>
        </p:nvPicPr>
        <p:blipFill>
          <a:blip r:embed="rId3"/>
          <a:stretch>
            <a:fillRect/>
          </a:stretch>
        </p:blipFill>
        <p:spPr>
          <a:xfrm>
            <a:off x="939546" y="756666"/>
            <a:ext cx="544068" cy="544068"/>
          </a:xfrm>
          <a:prstGeom prst="rect">
            <a:avLst/>
          </a:prstGeom>
        </p:spPr>
      </p:pic>
      <p:sp>
        <p:nvSpPr>
          <p:cNvPr id="6" name="Text 3"/>
          <p:cNvSpPr/>
          <p:nvPr/>
        </p:nvSpPr>
        <p:spPr>
          <a:xfrm>
            <a:off x="822960" y="1600200"/>
            <a:ext cx="7315200" cy="365760"/>
          </a:xfrm>
          <a:prstGeom prst="rect">
            <a:avLst/>
          </a:prstGeom>
          <a:noFill/>
          <a:ln/>
        </p:spPr>
        <p:txBody>
          <a:bodyPr wrap="square" rtlCol="0" anchor="ctr"/>
          <a:lstStyle/>
          <a:p>
            <a:pPr marL="0" indent="0">
              <a:buNone/>
            </a:pPr>
            <a:r>
              <a:rPr lang="en-US" sz="1300" b="1" kern="0" spc="300" dirty="0">
                <a:solidFill>
                  <a:srgbClr val="17C3E6"/>
                </a:solidFill>
                <a:latin typeface="Calibri" pitchFamily="34" charset="0"/>
                <a:ea typeface="Calibri" pitchFamily="34" charset="-122"/>
                <a:cs typeface="Calibri" pitchFamily="34" charset="-120"/>
              </a:rPr>
              <a:t>CONCLUSION</a:t>
            </a:r>
            <a:endParaRPr lang="en-US" sz="1300" dirty="0"/>
          </a:p>
        </p:txBody>
      </p:sp>
      <p:sp>
        <p:nvSpPr>
          <p:cNvPr id="7" name="Text 4"/>
          <p:cNvSpPr/>
          <p:nvPr/>
        </p:nvSpPr>
        <p:spPr>
          <a:xfrm>
            <a:off x="777240" y="1920240"/>
            <a:ext cx="10058400" cy="82296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From Raw Data to Real Value</a:t>
            </a:r>
            <a:endParaRPr lang="en-US" sz="3400" dirty="0"/>
          </a:p>
        </p:txBody>
      </p:sp>
      <p:sp>
        <p:nvSpPr>
          <p:cNvPr id="8" name="Text 5"/>
          <p:cNvSpPr/>
          <p:nvPr/>
        </p:nvSpPr>
        <p:spPr>
          <a:xfrm>
            <a:off x="822960" y="2880360"/>
            <a:ext cx="9692640" cy="1188720"/>
          </a:xfrm>
          <a:prstGeom prst="rect">
            <a:avLst/>
          </a:prstGeom>
          <a:noFill/>
          <a:ln/>
        </p:spPr>
        <p:txBody>
          <a:bodyPr wrap="square" rtlCol="0" anchor="ctr"/>
          <a:lstStyle/>
          <a:p>
            <a:pPr marL="0" indent="0">
              <a:lnSpc>
                <a:spcPct val="130000"/>
              </a:lnSpc>
              <a:buNone/>
            </a:pPr>
            <a:r>
              <a:rPr lang="en-US" sz="1400" dirty="0">
                <a:solidFill>
                  <a:srgbClr val="D6DCF5"/>
                </a:solidFill>
                <a:latin typeface="Calibri" pitchFamily="34" charset="0"/>
                <a:ea typeface="Calibri" pitchFamily="34" charset="-122"/>
                <a:cs typeface="Calibri" pitchFamily="34" charset="-120"/>
              </a:rPr>
              <a:t>SmartBasket Analysis cleaned and explored 39,000+ grocery listings to reveal that sales concentrate in a few high-performing categories, MRP and sale price track tightly across platforms, and customer satisfaction stays strong regardless of price — insights that can guide smarter inventory, pricing and marketing decisions.</a:t>
            </a:r>
            <a:endParaRPr lang="en-US" sz="1400" dirty="0"/>
          </a:p>
        </p:txBody>
      </p:sp>
      <p:sp>
        <p:nvSpPr>
          <p:cNvPr id="9" name="Shape 6"/>
          <p:cNvSpPr/>
          <p:nvPr/>
        </p:nvSpPr>
        <p:spPr>
          <a:xfrm>
            <a:off x="822960" y="4343400"/>
            <a:ext cx="10424160" cy="0"/>
          </a:xfrm>
          <a:prstGeom prst="line">
            <a:avLst/>
          </a:prstGeom>
          <a:noFill/>
          <a:ln w="12700">
            <a:solidFill>
              <a:srgbClr val="2E3878"/>
            </a:solidFill>
            <a:prstDash val="solid"/>
          </a:ln>
        </p:spPr>
      </p:sp>
      <p:sp>
        <p:nvSpPr>
          <p:cNvPr id="10" name="Shape 7"/>
          <p:cNvSpPr/>
          <p:nvPr/>
        </p:nvSpPr>
        <p:spPr>
          <a:xfrm>
            <a:off x="822960" y="4709160"/>
            <a:ext cx="640080" cy="640080"/>
          </a:xfrm>
          <a:prstGeom prst="ellipse">
            <a:avLst/>
          </a:prstGeom>
          <a:solidFill>
            <a:srgbClr val="7B2FF7"/>
          </a:solidFill>
          <a:ln/>
        </p:spPr>
      </p:sp>
      <p:pic>
        <p:nvPicPr>
          <p:cNvPr id="11" name="Image 1" descr="/home/claude/proj/icons/graduationCap.png"/>
          <p:cNvPicPr>
            <a:picLocks noChangeAspect="1"/>
          </p:cNvPicPr>
          <p:nvPr/>
        </p:nvPicPr>
        <p:blipFill>
          <a:blip r:embed="rId4"/>
          <a:stretch>
            <a:fillRect/>
          </a:stretch>
        </p:blipFill>
        <p:spPr>
          <a:xfrm>
            <a:off x="912571" y="4798771"/>
            <a:ext cx="460858" cy="460858"/>
          </a:xfrm>
          <a:prstGeom prst="rect">
            <a:avLst/>
          </a:prstGeom>
        </p:spPr>
      </p:pic>
      <p:sp>
        <p:nvSpPr>
          <p:cNvPr id="12" name="Text 8"/>
          <p:cNvSpPr/>
          <p:nvPr/>
        </p:nvSpPr>
        <p:spPr>
          <a:xfrm>
            <a:off x="1645920" y="4754880"/>
            <a:ext cx="3657600" cy="54864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Thank You</a:t>
            </a:r>
            <a:endParaRPr lang="en-US" sz="2200" dirty="0"/>
          </a:p>
        </p:txBody>
      </p:sp>
      <p:sp>
        <p:nvSpPr>
          <p:cNvPr id="13" name="Shape 9"/>
          <p:cNvSpPr/>
          <p:nvPr/>
        </p:nvSpPr>
        <p:spPr>
          <a:xfrm>
            <a:off x="6400800" y="4709160"/>
            <a:ext cx="640080" cy="640080"/>
          </a:xfrm>
          <a:prstGeom prst="ellipse">
            <a:avLst/>
          </a:prstGeom>
          <a:solidFill>
            <a:srgbClr val="FF7A33"/>
          </a:solidFill>
          <a:ln/>
        </p:spPr>
      </p:sp>
      <p:pic>
        <p:nvPicPr>
          <p:cNvPr id="14" name="Image 2" descr="/home/claude/proj/icons/question2.png"/>
          <p:cNvPicPr>
            <a:picLocks noChangeAspect="1"/>
          </p:cNvPicPr>
          <p:nvPr/>
        </p:nvPicPr>
        <p:blipFill>
          <a:blip r:embed="rId5"/>
          <a:stretch>
            <a:fillRect/>
          </a:stretch>
        </p:blipFill>
        <p:spPr>
          <a:xfrm>
            <a:off x="6490411" y="4798771"/>
            <a:ext cx="460858" cy="460858"/>
          </a:xfrm>
          <a:prstGeom prst="rect">
            <a:avLst/>
          </a:prstGeom>
        </p:spPr>
      </p:pic>
      <p:sp>
        <p:nvSpPr>
          <p:cNvPr id="15" name="Text 10"/>
          <p:cNvSpPr/>
          <p:nvPr/>
        </p:nvSpPr>
        <p:spPr>
          <a:xfrm>
            <a:off x="7223760" y="4754880"/>
            <a:ext cx="3657600" cy="54864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Questions?</a:t>
            </a:r>
            <a:endParaRPr lang="en-US" sz="2200" dirty="0"/>
          </a:p>
        </p:txBody>
      </p:sp>
      <p:sp>
        <p:nvSpPr>
          <p:cNvPr id="16" name="Text 11"/>
          <p:cNvSpPr/>
          <p:nvPr/>
        </p:nvSpPr>
        <p:spPr>
          <a:xfrm>
            <a:off x="11475720" y="6510528"/>
            <a:ext cx="548640" cy="274320"/>
          </a:xfrm>
          <a:prstGeom prst="rect">
            <a:avLst/>
          </a:prstGeom>
          <a:noFill/>
          <a:ln/>
        </p:spPr>
        <p:txBody>
          <a:bodyPr wrap="square" rtlCol="0" anchor="ctr"/>
          <a:lstStyle/>
          <a:p>
            <a:pPr marL="0" indent="0" algn="r">
              <a:buNone/>
            </a:pPr>
            <a:r>
              <a:rPr lang="en-US" sz="900" dirty="0">
                <a:solidFill>
                  <a:srgbClr val="8892B0"/>
                </a:solidFill>
                <a:latin typeface="Calibri" pitchFamily="34" charset="0"/>
                <a:ea typeface="Calibri" pitchFamily="34" charset="-122"/>
                <a:cs typeface="Calibri" pitchFamily="34" charset="-120"/>
              </a:rPr>
              <a:t>19</a:t>
            </a:r>
            <a:endParaRPr lang="en-US" sz="900" dirty="0"/>
          </a:p>
        </p:txBody>
      </p:sp>
      <p:sp>
        <p:nvSpPr>
          <p:cNvPr id="17" name="Text 12"/>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8892B0"/>
                </a:solidFill>
                <a:latin typeface="Calibri" pitchFamily="34" charset="0"/>
                <a:ea typeface="Calibri" pitchFamily="34" charset="-122"/>
                <a:cs typeface="Calibri" pitchFamily="34" charset="-120"/>
              </a:rPr>
              <a:t>SmartBasket Analysis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2261</Words>
  <Application>Microsoft Office PowerPoint</Application>
  <PresentationFormat>Widescreen</PresentationFormat>
  <Paragraphs>324</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omesh paliwal</cp:lastModifiedBy>
  <cp:revision>7</cp:revision>
  <dcterms:created xsi:type="dcterms:W3CDTF">2026-07-25T11:59:27Z</dcterms:created>
  <dcterms:modified xsi:type="dcterms:W3CDTF">2026-07-30T05:34:32Z</dcterms:modified>
</cp:coreProperties>
</file>